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1" r:id="rId10"/>
    <p:sldId id="264" r:id="rId11"/>
    <p:sldId id="282" r:id="rId12"/>
    <p:sldId id="283" r:id="rId13"/>
    <p:sldId id="266" r:id="rId14"/>
    <p:sldId id="285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2192000" cy="6858000"/>
  <p:notesSz cx="6858000" cy="9144000"/>
  <p:embeddedFontLst>
    <p:embeddedFont>
      <p:font typeface="Lato" panose="020F0502020204030203" pitchFamily="34" charset="0"/>
      <p:regular r:id="rId28"/>
      <p:bold r:id="rId29"/>
      <p:italic r:id="rId30"/>
      <p:boldItalic r:id="rId31"/>
    </p:embeddedFont>
    <p:embeddedFont>
      <p:font typeface="Poppins" panose="000005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4155"/>
    <a:srgbClr val="697482"/>
    <a:srgbClr val="11CAA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537C14-F02F-4141-81CE-6AD4972F6CDA}" v="80" dt="2026-06-02T20:10:15.558"/>
  </p1510:revLst>
</p1510:revInfo>
</file>

<file path=ppt/tableStyles.xml><?xml version="1.0" encoding="utf-8"?>
<a:tblStyleLst xmlns:a="http://schemas.openxmlformats.org/drawingml/2006/main" def="{7750ADC5-A5CE-4C80-ABC2-3EE877CF0B8F}">
  <a:tblStyle styleId="{7750ADC5-A5CE-4C80-ABC2-3EE877CF0B8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>
          <a:extLst>
            <a:ext uri="{FF2B5EF4-FFF2-40B4-BE49-F238E27FC236}">
              <a16:creationId xmlns:a16="http://schemas.microsoft.com/office/drawing/2014/main" id="{3734C183-FBB8-AC7E-A32F-305B5570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>
            <a:extLst>
              <a:ext uri="{FF2B5EF4-FFF2-40B4-BE49-F238E27FC236}">
                <a16:creationId xmlns:a16="http://schemas.microsoft.com/office/drawing/2014/main" id="{ECCBFA45-E718-0EE5-369C-743BF0B99E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:notes">
            <a:extLst>
              <a:ext uri="{FF2B5EF4-FFF2-40B4-BE49-F238E27FC236}">
                <a16:creationId xmlns:a16="http://schemas.microsoft.com/office/drawing/2014/main" id="{581F6A19-B289-8659-FCC0-F2FF85B96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6408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5F9D13DF-AEE9-DAAC-3CED-00D21C24E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82E6F1A6-0CC5-43D1-31E0-008CFEF8E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94697D25-4154-F073-9A8A-D687CC3CB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274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C750DDF-B4A8-6AA2-3217-38E045E53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D215EC67-BEB6-9181-71D1-829461A7D3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EA81FC34-FADF-59CA-EA34-A340F6A1A7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5603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>
          <a:extLst>
            <a:ext uri="{FF2B5EF4-FFF2-40B4-BE49-F238E27FC236}">
              <a16:creationId xmlns:a16="http://schemas.microsoft.com/office/drawing/2014/main" id="{51E295EF-3F17-DE30-FB76-832CC0B0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1:notes">
            <a:extLst>
              <a:ext uri="{FF2B5EF4-FFF2-40B4-BE49-F238E27FC236}">
                <a16:creationId xmlns:a16="http://schemas.microsoft.com/office/drawing/2014/main" id="{E8C40821-4698-C3E6-CACE-6CAA968BF2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>
            <a:extLst>
              <a:ext uri="{FF2B5EF4-FFF2-40B4-BE49-F238E27FC236}">
                <a16:creationId xmlns:a16="http://schemas.microsoft.com/office/drawing/2014/main" id="{DA862F51-3AA1-9B5C-FD5F-E631BB0B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4403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4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5275" y="1395412"/>
            <a:ext cx="11601450" cy="2285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Συνθετικά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Δεδομέν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 για Ισορροπία Κλάσεων σε Περιβάλλοντα Ομοσ</a:t>
            </a:r>
            <a:r>
              <a:rPr lang="el-GR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</a:t>
            </a:r>
            <a:r>
              <a:rPr lang="en-US" sz="45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ονδι</a:t>
            </a:r>
            <a:r>
              <a:rPr lang="en-US" sz="45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ακής Μάθησης</a:t>
            </a:r>
            <a:endParaRPr dirty="0">
              <a:latin typeface="+mj-lt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3863146"/>
            <a:ext cx="1104900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πλωματική Εργασία</a:t>
            </a:r>
            <a:r>
              <a:rPr lang="el-GR" sz="2100" b="0" i="0" u="none" strike="noStrike" cap="none" dirty="0">
                <a:solidFill>
                  <a:srgbClr val="64748B"/>
                </a:solidFill>
                <a:latin typeface="+mn-lt"/>
                <a:ea typeface="Lato"/>
                <a:cs typeface="Lato"/>
                <a:sym typeface="Lato"/>
              </a:rPr>
              <a:t> του Ραφαήλ-Ανέστη Κωνσταντίνου</a:t>
            </a:r>
            <a:endParaRPr dirty="0">
              <a:latin typeface="+mn-lt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4614862"/>
            <a:ext cx="11049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Επιβ</a:t>
            </a:r>
            <a:r>
              <a:rPr lang="en-US" sz="1800" b="1" i="0" u="none" strike="noStrike" cap="none" dirty="0" err="1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λέ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l-GR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ο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ν</a:t>
            </a:r>
            <a:r>
              <a:rPr lang="el-GR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τες</a:t>
            </a:r>
            <a:r>
              <a:rPr lang="en-US" sz="1800" b="1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 Παύλος Εφραιμίδης, Καθηγητής Δ.Π.Θ.</a:t>
            </a:r>
            <a:endParaRPr lang="el-GR" sz="1800" b="0" i="0" u="none" strike="noStrike" cap="none" dirty="0">
              <a:solidFill>
                <a:srgbClr val="1E293B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rgbClr val="1E293B"/>
                </a:solidFill>
                <a:latin typeface="+mn-lt"/>
                <a:ea typeface="Lato"/>
                <a:cs typeface="Lato"/>
                <a:sym typeface="Lato"/>
              </a:rPr>
              <a:t>            Νικόλαος Παυλίδης, Διδάκτωρ </a:t>
            </a:r>
            <a:endParaRPr lang="el-GR" sz="1800" b="0" i="0" u="none" strike="noStrike" cap="none" dirty="0">
              <a:solidFill>
                <a:srgbClr val="1E293B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556736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Μάϊος</a:t>
            </a:r>
            <a:r>
              <a:rPr lang="en-US" sz="1800" b="0" i="0" u="none" strike="noStrike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 2026 | </a:t>
            </a:r>
            <a:r>
              <a:rPr lang="en-US" sz="1800" b="0" i="0" u="none" strike="noStrike" cap="none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Lato"/>
                <a:cs typeface="Lato"/>
                <a:sym typeface="Lato"/>
              </a:rPr>
              <a:t>Ξάνθη</a:t>
            </a:r>
            <a:endParaRPr sz="1800" dirty="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0A5CC429-FDBC-27B5-0766-761897357A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3457" y="173806"/>
            <a:ext cx="2205085" cy="11025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37E5E8F2-9361-F03B-130B-88077D1CC0A8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 / 25</a:t>
            </a:r>
            <a:endParaRPr lang="el-G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72225" y="1470937"/>
            <a:ext cx="5334000" cy="4074538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Σύνοψη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&amp;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Στόχος</a:t>
            </a:r>
            <a:endParaRPr dirty="0">
              <a:latin typeface="+mj-lt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1099" y="1729662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6538911" y="233624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Κύριος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Στόχος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 και Προτεινόμενη Λύση</a:t>
            </a:r>
            <a:endParaRPr sz="1800" dirty="0">
              <a:latin typeface="+mn-lt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700837" y="2864977"/>
            <a:ext cx="47625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Βελτίωση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της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όδοσης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χωρίς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παραβία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ση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της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Ι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διωτικότητ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ας των </a:t>
            </a:r>
            <a:r>
              <a:rPr lang="el-GR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Π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ρωτογενών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Δ</a:t>
            </a:r>
            <a:r>
              <a:rPr lang="en-US" sz="1800" b="0" i="0" u="none" strike="noStrike" cap="none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εδομένων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lang="el-GR" sz="1800" b="0" i="0" u="none" strike="noStrike" cap="none" dirty="0">
              <a:solidFill>
                <a:schemeClr val="tx1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Πλαίσιο </a:t>
            </a:r>
            <a:r>
              <a:rPr lang="en-US" sz="1800" dirty="0" err="1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FedSMOTE</a:t>
            </a:r>
            <a:r>
              <a:rPr lang="el-GR" sz="1800" dirty="0">
                <a:solidFill>
                  <a:schemeClr val="tx1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endParaRPr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1" name="Ορθογώνιο: Στρογγύλεμα γωνιών 10">
            <a:extLst>
              <a:ext uri="{FF2B5EF4-FFF2-40B4-BE49-F238E27FC236}">
                <a16:creationId xmlns:a16="http://schemas.microsoft.com/office/drawing/2014/main" id="{DB88037D-A17C-365C-2EA6-1361CD9ABD04}"/>
              </a:ext>
            </a:extLst>
          </p:cNvPr>
          <p:cNvSpPr/>
          <p:nvPr/>
        </p:nvSpPr>
        <p:spPr>
          <a:xfrm>
            <a:off x="319188" y="1464172"/>
            <a:ext cx="5334000" cy="2649735"/>
          </a:xfrm>
          <a:prstGeom prst="roundRect">
            <a:avLst>
              <a:gd name="adj" fmla="val 6143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12" name="Ορθογώνιο: Στρογγύλεμα γωνιών 11">
            <a:extLst>
              <a:ext uri="{FF2B5EF4-FFF2-40B4-BE49-F238E27FC236}">
                <a16:creationId xmlns:a16="http://schemas.microsoft.com/office/drawing/2014/main" id="{2AA46525-6F8D-C8E9-4BA6-D36B21F194F9}"/>
              </a:ext>
            </a:extLst>
          </p:cNvPr>
          <p:cNvSpPr/>
          <p:nvPr/>
        </p:nvSpPr>
        <p:spPr>
          <a:xfrm>
            <a:off x="310169" y="1532066"/>
            <a:ext cx="5352037" cy="3953888"/>
          </a:xfrm>
          <a:prstGeom prst="roundRect">
            <a:avLst>
              <a:gd name="adj" fmla="val 6218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504000" rtlCol="0" anchor="ctr" anchorCtr="0"/>
          <a:lstStyle/>
          <a:p>
            <a:pPr algn="ctr"/>
            <a:endParaRPr lang="el-GR" dirty="0"/>
          </a:p>
        </p:txBody>
      </p:sp>
      <p:pic>
        <p:nvPicPr>
          <p:cNvPr id="14" name="Γραφικό 13" descr="Προειδοποίηση με συμπαγές γέμισμα">
            <a:extLst>
              <a:ext uri="{FF2B5EF4-FFF2-40B4-BE49-F238E27FC236}">
                <a16:creationId xmlns:a16="http://schemas.microsoft.com/office/drawing/2014/main" id="{3E075A27-858E-4B29-3A61-CD664DB2D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07225" y="1647989"/>
            <a:ext cx="557923" cy="55792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FBEDAC9-C6B3-0CC6-D720-97FA7B7DAD63}"/>
              </a:ext>
            </a:extLst>
          </p:cNvPr>
          <p:cNvSpPr txBox="1"/>
          <p:nvPr/>
        </p:nvSpPr>
        <p:spPr>
          <a:xfrm>
            <a:off x="319188" y="2884438"/>
            <a:ext cx="53520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Η Στατιστική Ετερογένεια και η Ανισορροπία Κλάσεων υποβαθμίζουν τα Ομοσπονδιακά Μοντέλα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Η Μειοψηφική Κλάση αποτελεί την Κλάση Ενδιαφέροντος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Οι κλασικές Τεχνικές </a:t>
            </a:r>
            <a:r>
              <a:rPr lang="el-GR" sz="1800" dirty="0" err="1"/>
              <a:t>Υπερδειγματοληψίας</a:t>
            </a:r>
            <a:r>
              <a:rPr lang="el-GR" sz="1800" dirty="0"/>
              <a:t> δεν μπορούν να μεταφερθούν αυτούσιες σε Ομοσπονδιακό Περιβάλλον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C04C11-D817-ED38-ED5E-427FD532B39E}"/>
              </a:ext>
            </a:extLst>
          </p:cNvPr>
          <p:cNvSpPr txBox="1"/>
          <p:nvPr/>
        </p:nvSpPr>
        <p:spPr>
          <a:xfrm>
            <a:off x="1941611" y="2243908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800" b="1" dirty="0"/>
              <a:t>Κύριο Πρόβλημα</a:t>
            </a:r>
          </a:p>
        </p:txBody>
      </p:sp>
      <p:sp>
        <p:nvSpPr>
          <p:cNvPr id="17" name="Ορθογώνιο: Στρογγύλεμα γωνιών 16">
            <a:extLst>
              <a:ext uri="{FF2B5EF4-FFF2-40B4-BE49-F238E27FC236}">
                <a16:creationId xmlns:a16="http://schemas.microsoft.com/office/drawing/2014/main" id="{8C37B28E-7D07-2024-1613-F56C9DA64ED2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 / 25</a:t>
            </a:r>
            <a:endParaRPr lang="el-G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Ομοσ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πονδιακή Μάθηση (FL)</a:t>
            </a:r>
            <a:endParaRPr dirty="0">
              <a:latin typeface="+mj-lt"/>
            </a:endParaRPr>
          </a:p>
        </p:txBody>
      </p:sp>
      <p:sp>
        <p:nvSpPr>
          <p:cNvPr id="117" name="Google Shape;117;p15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1000125" y="251861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Απ</a:t>
            </a: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οκεντρωμένη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Εκ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παίδευση: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Τα δεδομένα παραμένουν στις συσκευές.</a:t>
            </a:r>
            <a:endParaRPr dirty="0">
              <a:latin typeface="+mn-lt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1000125" y="334907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Αντ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αλλαγή Μοντέλων: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Μόνο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ενημερώσεις του μοντέλου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ακινούνται στο δίκτυο.</a:t>
            </a:r>
            <a:endParaRPr dirty="0">
              <a:latin typeface="+mn-lt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1000125" y="4179540"/>
            <a:ext cx="4905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FedAvg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Ο βα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σικός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λγόριθμος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συνάθροισης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1000125" y="469002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Πλεονέκτημ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Privacy-by-design &amp; Συμμόρφωση με GDPR.</a:t>
            </a:r>
            <a:endParaRPr dirty="0">
              <a:latin typeface="+mn-lt"/>
            </a:endParaRPr>
          </a:p>
        </p:txBody>
      </p:sp>
      <p:pic>
        <p:nvPicPr>
          <p:cNvPr id="123" name="Google Shape;12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4559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59509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73426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3889" y="482323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42EAF6E8-2E7C-EF0B-797B-7CB9555EA4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31859"/>
            <a:ext cx="5791192" cy="3237276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E650E754-C46E-7E1D-8C93-D5BE180A2C36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 / 25</a:t>
            </a:r>
            <a:endParaRPr lang="el-G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Ανισορρο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πία Κλάσεων (Class Imbalance)</a:t>
            </a:r>
            <a:endParaRPr dirty="0">
              <a:latin typeface="+mj-lt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6715125" y="251861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Αριθμός Δειγμάτων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Η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λειοψηφική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κλάση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κυρι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αρχεί αριθμητικά.</a:t>
            </a:r>
            <a:endParaRPr dirty="0">
              <a:latin typeface="+mn-lt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6715125" y="334907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Παράδοξο της Ακρίβειας 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Υψηλή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βεια αλλά πλήρης αποτυχία στη μειονοτική κλάση.</a:t>
            </a:r>
            <a:endParaRPr dirty="0">
              <a:latin typeface="+mn-lt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6715125" y="417954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Ομοσπονδιακό Περιβ</a:t>
            </a:r>
            <a:r>
              <a:rPr lang="el-GR" sz="1800" b="1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άλλον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Εμφ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ανίζεται ως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ενδο-κομβική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ανισορροπία.</a:t>
            </a:r>
            <a:endParaRPr dirty="0">
              <a:latin typeface="+mn-lt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6715125" y="5010001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Οδηγεί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σ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 φαινόμενο της 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Απόκλισης των Πελατών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63083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457277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499" y="4283719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1735" y="5110161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41A12280-E780-762C-8109-5B9042F58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858606"/>
            <a:ext cx="4434133" cy="4121262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B7717DD9-B24D-E2DF-F89C-441222FBC911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 / 25</a:t>
            </a:r>
            <a:endParaRPr lang="el-G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7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Αλγόριθμος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SMOTE</a:t>
            </a:r>
            <a:endParaRPr dirty="0">
              <a:latin typeface="+mj-lt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1000125" y="1727895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Παρα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γωγή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συνθετικών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δειγμάτων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μέσω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γρ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αμμικής παρεμβολής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1000124" y="370743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εκτείνει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τα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όρι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απόφασης της μειονοτικής κλάσης.</a:t>
            </a:r>
            <a:endParaRPr dirty="0">
              <a:latin typeface="+mn-lt"/>
            </a:endParaRPr>
          </a:p>
        </p:txBody>
      </p:sp>
      <p:pic>
        <p:nvPicPr>
          <p:cNvPr id="160" name="Google Shape;16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4785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3791" y="293060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4" y="2888078"/>
            <a:ext cx="2468940" cy="291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82738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C2CEA8CE-8C20-171E-8EB6-502AD8D28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8572" y="1920180"/>
            <a:ext cx="5729246" cy="3449326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5F6561B5-E774-1E7D-5BF8-8D1758AB58E4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 / 25</a:t>
            </a:r>
            <a:endParaRPr lang="el-G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Πλήρως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Ομομορφική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Κρυ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πτογράφηση (FHE)</a:t>
            </a:r>
            <a:endParaRPr dirty="0">
              <a:latin typeface="+mj-lt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6715125" y="2358628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Ιδιότητ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Εκτέλεση πράξεων απευθείας σε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κρυπτογραφημένα δεδομένα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6715125" y="3189089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Σχήμ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 CKKS: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Υποστηρίζει προσεγγιστική αριθμητική κινητής υποδιαστολής.</a:t>
            </a:r>
            <a:endParaRPr dirty="0">
              <a:latin typeface="+mn-lt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6715125" y="401955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Απαρα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ίτητο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τον πολλαπλασιασμό με το συντελεστή παρεμβολής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6715125" y="4850010"/>
            <a:ext cx="4905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Μηδενική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αρροή πληροφορίας στον διακομιστή.</a:t>
            </a:r>
            <a:endParaRPr dirty="0">
              <a:latin typeface="+mn-lt"/>
            </a:endParaRPr>
          </a:p>
        </p:txBody>
      </p:sp>
      <p:pic>
        <p:nvPicPr>
          <p:cNvPr id="178" name="Google Shape;17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47769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330904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140398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497175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8587CAFC-514E-FCFC-E52D-C1758BB1D2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39" y="2331974"/>
            <a:ext cx="5911561" cy="3413251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56AA95A4-B31A-C66B-4F96-53F4115A3AF4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 / 25</a:t>
            </a:r>
            <a:endParaRPr lang="el-G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458491"/>
            <a:ext cx="3555950" cy="296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458491"/>
            <a:ext cx="3555950" cy="296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399" y="2469058"/>
            <a:ext cx="3556099" cy="296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Το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Πλ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αίσιο FedSMOTE</a:t>
            </a:r>
            <a:endParaRPr dirty="0">
              <a:latin typeface="+mj-lt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49363" y="27823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9"/>
          <p:cNvSpPr txBox="1"/>
          <p:nvPr/>
        </p:nvSpPr>
        <p:spPr>
          <a:xfrm>
            <a:off x="782638" y="3449091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endParaRPr sz="1800" dirty="0">
              <a:latin typeface="+mj-lt"/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857250" y="3953916"/>
            <a:ext cx="298445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πική υπερδειγματοληψία σε κάθε κόμβο πριν την εκπαίδευση</a:t>
            </a:r>
            <a:endParaRPr dirty="0">
              <a:latin typeface="+mn-lt"/>
            </a:endParaRPr>
          </a:p>
        </p:txBody>
      </p:sp>
      <p:pic>
        <p:nvPicPr>
          <p:cNvPr id="197" name="Google Shape;197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95813" y="27823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/>
          <p:nvPr/>
        </p:nvSpPr>
        <p:spPr>
          <a:xfrm>
            <a:off x="4529089" y="3449091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endParaRPr sz="1800" dirty="0">
              <a:latin typeface="+mj-lt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4603700" y="3953916"/>
            <a:ext cx="298445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Δια-κομβική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παραγωγή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δειγμάτων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στον Κρυπτογραφικό Χώρο</a:t>
            </a:r>
            <a:endParaRPr dirty="0">
              <a:latin typeface="+mn-lt"/>
            </a:endParaRPr>
          </a:p>
        </p:txBody>
      </p:sp>
      <p:pic>
        <p:nvPicPr>
          <p:cNvPr id="200" name="Google Shape;200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4325" y="2782341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275535" y="3449091"/>
            <a:ext cx="313382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Privacy Shield</a:t>
            </a:r>
            <a:endParaRPr sz="1800" dirty="0">
              <a:latin typeface="+mj-lt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8350150" y="3953916"/>
            <a:ext cx="2984599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Χρήση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σχήματος 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CKKS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παρεμβολή στον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ρυπτογραφικό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Χ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ώρο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C33084D2-B385-1A4B-19B5-09FDDB520F10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 / 25</a:t>
            </a:r>
            <a:endParaRPr lang="el-G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(1/2)</a:t>
            </a:r>
            <a:endParaRPr dirty="0">
              <a:latin typeface="+mj-lt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 txBox="1"/>
          <p:nvPr/>
        </p:nvSpPr>
        <p:spPr>
          <a:xfrm>
            <a:off x="1000125" y="276239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Λειτουργί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Κάθε πελάτης εξισορροπεί το τοπικό του σύνολο αυτόνομα.</a:t>
            </a:r>
            <a:endParaRPr dirty="0">
              <a:latin typeface="+mn-lt"/>
            </a:endParaRPr>
          </a:p>
        </p:txBody>
      </p:sp>
      <p:sp>
        <p:nvSpPr>
          <p:cNvPr id="212" name="Google Shape;212;p20"/>
          <p:cNvSpPr txBox="1"/>
          <p:nvPr/>
        </p:nvSpPr>
        <p:spPr>
          <a:xfrm>
            <a:off x="1000125" y="327287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Πλεονέκτημ</a:t>
            </a:r>
            <a:r>
              <a:rPr lang="en-US" sz="1800" b="1" i="0" u="none" strike="noStrike" cap="none" dirty="0">
                <a:solidFill>
                  <a:srgbClr val="005088"/>
                </a:solidFill>
                <a:latin typeface="+mn-lt"/>
                <a:ea typeface="Lato"/>
                <a:cs typeface="Lato"/>
                <a:sym typeface="Lato"/>
              </a:rPr>
              <a:t>α: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Μηδενικό επικοινωνιακό κόστος, απλή υλοποίηση.</a:t>
            </a:r>
            <a:endParaRPr dirty="0">
              <a:latin typeface="+mn-lt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1000125" y="378335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Περιορισμός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οτυγχάνει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n-US" sz="18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αία ετερογένεια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1000124" y="4228853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+mn-lt"/>
                <a:ea typeface="Lato"/>
                <a:cs typeface="Lato"/>
                <a:sym typeface="Lato"/>
              </a:rPr>
              <a:t>Κίνδυνος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πικής υπερπροσαρμογής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1002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2050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3098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4146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86D1ABB0-8914-AD05-E0F0-2CF1C13BAB2D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>
          <a:extLst>
            <a:ext uri="{FF2B5EF4-FFF2-40B4-BE49-F238E27FC236}">
              <a16:creationId xmlns:a16="http://schemas.microsoft.com/office/drawing/2014/main" id="{4921A4E6-F2FB-69AE-C5AC-8E8F319F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05DA4BEB-66B8-18FD-6978-7EDB48EBDF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>
            <a:extLst>
              <a:ext uri="{FF2B5EF4-FFF2-40B4-BE49-F238E27FC236}">
                <a16:creationId xmlns:a16="http://schemas.microsoft.com/office/drawing/2014/main" id="{56479D45-E4E1-6566-F6A4-79B86A4CC4EE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Client-Side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(2/2)</a:t>
            </a:r>
            <a:endParaRPr dirty="0">
              <a:latin typeface="+mj-lt"/>
            </a:endParaRPr>
          </a:p>
        </p:txBody>
      </p:sp>
      <p:sp>
        <p:nvSpPr>
          <p:cNvPr id="210" name="Google Shape;210;p20">
            <a:extLst>
              <a:ext uri="{FF2B5EF4-FFF2-40B4-BE49-F238E27FC236}">
                <a16:creationId xmlns:a16="http://schemas.microsoft.com/office/drawing/2014/main" id="{7AD54BFD-5452-39A5-27ED-CCF90ED4C11E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A6847812-DC21-7169-6785-30A160978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815" y="1297612"/>
            <a:ext cx="8707243" cy="5122238"/>
          </a:xfrm>
          <a:prstGeom prst="rect">
            <a:avLst/>
          </a:prstGeom>
        </p:spPr>
      </p:pic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0F327C6B-5CCE-3D29-B166-04987297556D}"/>
              </a:ext>
            </a:extLst>
          </p:cNvPr>
          <p:cNvSpPr/>
          <p:nvPr/>
        </p:nvSpPr>
        <p:spPr>
          <a:xfrm>
            <a:off x="11223625" y="6353662"/>
            <a:ext cx="793750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 / 25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67292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(1/3)</a:t>
            </a:r>
            <a:endParaRPr dirty="0">
              <a:latin typeface="+mj-lt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 txBox="1"/>
          <p:nvPr/>
        </p:nvSpPr>
        <p:spPr>
          <a:xfrm>
            <a:off x="571500" y="2369046"/>
            <a:ext cx="11049000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64748B"/>
                </a:solidFill>
                <a:latin typeface="+mj-lt"/>
                <a:ea typeface="Lato"/>
                <a:cs typeface="Lato"/>
                <a:sym typeface="Lato"/>
              </a:rPr>
              <a:t>Συνεργ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+mj-lt"/>
                <a:ea typeface="Lato"/>
                <a:cs typeface="Lato"/>
                <a:sym typeface="Lato"/>
              </a:rPr>
              <a:t>ατική Υπερδειγματοληψία με Ασφάλεια</a:t>
            </a:r>
            <a:endParaRPr dirty="0">
              <a:latin typeface="+mj-lt"/>
            </a:endParaRPr>
          </a:p>
        </p:txBody>
      </p:sp>
      <p:sp>
        <p:nvSpPr>
          <p:cNvPr id="229" name="Google Shape;229;p21"/>
          <p:cNvSpPr txBox="1"/>
          <p:nvPr/>
        </p:nvSpPr>
        <p:spPr>
          <a:xfrm>
            <a:off x="1000125" y="318045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κόμ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βοι μοιράζονται την "κρυπτογραφημένη γνώση" της μειονοτικής κλάσης.</a:t>
            </a:r>
            <a:endParaRPr dirty="0">
              <a:latin typeface="+mn-lt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1000125" y="369093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ακομιστής δημιουργεί συνθετικά δείγματα παρεμβάλλοντας σημεία από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διαφορετικούς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πελάτες.</a:t>
            </a:r>
            <a:endParaRPr dirty="0">
              <a:latin typeface="+mn-lt"/>
            </a:endParaRPr>
          </a:p>
        </p:txBody>
      </p:sp>
      <p:sp>
        <p:nvSpPr>
          <p:cNvPr id="231" name="Google Shape;231;p21"/>
          <p:cNvSpPr txBox="1"/>
          <p:nvPr/>
        </p:nvSpPr>
        <p:spPr>
          <a:xfrm>
            <a:off x="1000124" y="420141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ασφαλίζεται η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παγκόσμια ποικιλομορφί</a:t>
            </a:r>
            <a:r>
              <a:rPr lang="el-GR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α.</a:t>
            </a:r>
            <a:endParaRPr dirty="0">
              <a:latin typeface="+mn-lt"/>
            </a:endParaRPr>
          </a:p>
        </p:txBody>
      </p:sp>
      <p:pic>
        <p:nvPicPr>
          <p:cNvPr id="233" name="Google Shape;23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300412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813870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3889" y="429530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537565B9-1FC1-124F-7105-AE764FA6B26A}"/>
              </a:ext>
            </a:extLst>
          </p:cNvPr>
          <p:cNvSpPr/>
          <p:nvPr/>
        </p:nvSpPr>
        <p:spPr>
          <a:xfrm>
            <a:off x="11163300" y="6353662"/>
            <a:ext cx="854075" cy="285750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 / 25</a:t>
            </a:r>
            <a:endParaRPr lang="el-G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B013DFD4-2D71-7476-12A0-06104FE2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>
            <a:extLst>
              <a:ext uri="{FF2B5EF4-FFF2-40B4-BE49-F238E27FC236}">
                <a16:creationId xmlns:a16="http://schemas.microsoft.com/office/drawing/2014/main" id="{6DB4CAD2-B70E-C8FA-9546-7F56978F5C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F7CF4A15-1F0F-F3AA-5492-9066ACBB1568}"/>
              </a:ext>
            </a:extLst>
          </p:cNvPr>
          <p:cNvSpPr txBox="1"/>
          <p:nvPr/>
        </p:nvSpPr>
        <p:spPr>
          <a:xfrm>
            <a:off x="571500" y="476250"/>
            <a:ext cx="11601450" cy="723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(2/3)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+mj-lt"/>
            </a:endParaRPr>
          </a:p>
        </p:txBody>
      </p:sp>
      <p:sp>
        <p:nvSpPr>
          <p:cNvPr id="227" name="Google Shape;227;p21">
            <a:extLst>
              <a:ext uri="{FF2B5EF4-FFF2-40B4-BE49-F238E27FC236}">
                <a16:creationId xmlns:a16="http://schemas.microsoft.com/office/drawing/2014/main" id="{D8933C57-5FCD-D177-6D70-883A7F9B0F1C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985D3241-BBD3-9E66-8918-CA48794018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104" y="1241163"/>
            <a:ext cx="8723791" cy="5178687"/>
          </a:xfrm>
          <a:prstGeom prst="rect">
            <a:avLst/>
          </a:prstGeom>
        </p:spPr>
      </p:pic>
      <p:sp>
        <p:nvSpPr>
          <p:cNvPr id="4" name="Ορθογώνιο: Στρογγύλεμα γωνιών 3">
            <a:extLst>
              <a:ext uri="{FF2B5EF4-FFF2-40B4-BE49-F238E27FC236}">
                <a16:creationId xmlns:a16="http://schemas.microsoft.com/office/drawing/2014/main" id="{C322CCF6-3CA1-2822-490C-E0BDC7D156D2}"/>
              </a:ext>
            </a:extLst>
          </p:cNvPr>
          <p:cNvSpPr/>
          <p:nvPr/>
        </p:nvSpPr>
        <p:spPr>
          <a:xfrm>
            <a:off x="11183937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11 / 25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420702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8151308C-0128-172B-7305-811DE7F80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1" descr="image.png">
            <a:extLst>
              <a:ext uri="{FF2B5EF4-FFF2-40B4-BE49-F238E27FC236}">
                <a16:creationId xmlns:a16="http://schemas.microsoft.com/office/drawing/2014/main" id="{42F5BDC6-D470-C50C-60AC-5B1690C01F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545B0646-0517-895D-2F7F-12EC4D334539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Trans-Client SMOTE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(3/3)</a:t>
            </a:r>
            <a:endParaRPr dirty="0">
              <a:latin typeface="+mj-lt"/>
            </a:endParaRPr>
          </a:p>
        </p:txBody>
      </p:sp>
      <p:sp>
        <p:nvSpPr>
          <p:cNvPr id="227" name="Google Shape;227;p21">
            <a:extLst>
              <a:ext uri="{FF2B5EF4-FFF2-40B4-BE49-F238E27FC236}">
                <a16:creationId xmlns:a16="http://schemas.microsoft.com/office/drawing/2014/main" id="{F868C24E-DA96-E669-91BE-5DCBEC1558B4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C1745838-A4BD-0C76-822E-8DCDC676F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776" y="1335997"/>
            <a:ext cx="9858772" cy="4846276"/>
          </a:xfrm>
          <a:prstGeom prst="rect">
            <a:avLst/>
          </a:prstGeom>
        </p:spPr>
      </p:pic>
      <p:sp>
        <p:nvSpPr>
          <p:cNvPr id="7" name="Ορθογώνιο: Στρογγύλεμα γωνιών 6">
            <a:extLst>
              <a:ext uri="{FF2B5EF4-FFF2-40B4-BE49-F238E27FC236}">
                <a16:creationId xmlns:a16="http://schemas.microsoft.com/office/drawing/2014/main" id="{1DD0938A-88AE-3E6B-3115-CFEA6D751EF3}"/>
              </a:ext>
            </a:extLst>
          </p:cNvPr>
          <p:cNvSpPr/>
          <p:nvPr/>
        </p:nvSpPr>
        <p:spPr>
          <a:xfrm>
            <a:off x="11183937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12 / 25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732931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Σύνολα Δεδομένων</a:t>
            </a:r>
            <a:endParaRPr dirty="0">
              <a:latin typeface="+mj-lt"/>
            </a:endParaRPr>
          </a:p>
        </p:txBody>
      </p:sp>
      <p:sp>
        <p:nvSpPr>
          <p:cNvPr id="261" name="Google Shape;261;p23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971800" y="2553741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738187" y="322049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Credit Card Fraud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Detection</a:t>
            </a:r>
            <a:endParaRPr sz="1800" dirty="0">
              <a:latin typeface="+mj-lt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857250" y="3565326"/>
            <a:ext cx="47625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284,807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Νόμιμες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αλλαγές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492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Απάτες </a:t>
            </a:r>
            <a:endParaRPr lang="en-US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65" name="Google Shape;265;p23"/>
          <p:cNvSpPr txBox="1"/>
          <p:nvPr/>
        </p:nvSpPr>
        <p:spPr>
          <a:xfrm>
            <a:off x="857249" y="4488090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Ποσοστό Μειοψηφικής Κλάσης 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 0.17%</a:t>
            </a:r>
            <a:endParaRPr dirty="0">
              <a:latin typeface="+mn-lt"/>
            </a:endParaRPr>
          </a:p>
        </p:txBody>
      </p:sp>
      <p:sp>
        <p:nvSpPr>
          <p:cNvPr id="266" name="Google Shape;266;p23"/>
          <p:cNvSpPr txBox="1"/>
          <p:nvPr/>
        </p:nvSpPr>
        <p:spPr>
          <a:xfrm>
            <a:off x="857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IR ≈ 578:1</a:t>
            </a:r>
            <a:endParaRPr dirty="0">
              <a:latin typeface="+mn-lt"/>
            </a:endParaRPr>
          </a:p>
        </p:txBody>
      </p:sp>
      <p:pic>
        <p:nvPicPr>
          <p:cNvPr id="267" name="Google Shape;26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62" y="2553741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3"/>
          <p:cNvSpPr txBox="1"/>
          <p:nvPr/>
        </p:nvSpPr>
        <p:spPr>
          <a:xfrm>
            <a:off x="6453187" y="3220491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NSL-KDD (U2R)</a:t>
            </a:r>
            <a:endParaRPr sz="1800" dirty="0">
              <a:latin typeface="+mj-lt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6653212" y="3555551"/>
            <a:ext cx="47625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67,3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43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Δείγμ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ατα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Κανονικής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Κίνησης</a:t>
            </a:r>
            <a:endParaRPr lang="el-GR" sz="1800" b="0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 52 Δείγματα Επιθέσεων</a:t>
            </a:r>
            <a:endParaRPr sz="18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70" name="Google Shape;270;p23"/>
          <p:cNvSpPr txBox="1"/>
          <p:nvPr/>
        </p:nvSpPr>
        <p:spPr>
          <a:xfrm>
            <a:off x="6572250" y="4467718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Ποσοστό Μειοψηφικής Κλάσης </a:t>
            </a:r>
            <a:r>
              <a:rPr lang="en-US" sz="1800" b="1" i="0" u="none" strike="noStrike" cap="none" dirty="0">
                <a:solidFill>
                  <a:srgbClr val="11CAA0"/>
                </a:solidFill>
                <a:latin typeface="+mn-lt"/>
                <a:ea typeface="Lato"/>
                <a:cs typeface="Lato"/>
                <a:sym typeface="Lato"/>
              </a:rPr>
              <a:t>: 0.08%</a:t>
            </a:r>
            <a:endParaRPr dirty="0">
              <a:latin typeface="+mn-lt"/>
            </a:endParaRPr>
          </a:p>
        </p:txBody>
      </p:sp>
      <p:sp>
        <p:nvSpPr>
          <p:cNvPr id="271" name="Google Shape;271;p23"/>
          <p:cNvSpPr txBox="1"/>
          <p:nvPr/>
        </p:nvSpPr>
        <p:spPr>
          <a:xfrm>
            <a:off x="6572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IR ≈ 1295:1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04A59007-F710-567D-44CF-24F3D32211F7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 / 25</a:t>
            </a:r>
            <a:endParaRPr lang="el-G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A5DE0809-D195-25BC-88E5-7FE71FFFB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3" descr="image.png">
            <a:extLst>
              <a:ext uri="{FF2B5EF4-FFF2-40B4-BE49-F238E27FC236}">
                <a16:creationId xmlns:a16="http://schemas.microsoft.com/office/drawing/2014/main" id="{3408D1B3-DB4A-FC1C-A275-0547564B9FE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>
            <a:extLst>
              <a:ext uri="{FF2B5EF4-FFF2-40B4-BE49-F238E27FC236}">
                <a16:creationId xmlns:a16="http://schemas.microsoft.com/office/drawing/2014/main" id="{69361765-4DFE-225D-7D97-2D5E7B21D4D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3" descr="image.png">
            <a:extLst>
              <a:ext uri="{FF2B5EF4-FFF2-40B4-BE49-F238E27FC236}">
                <a16:creationId xmlns:a16="http://schemas.microsoft.com/office/drawing/2014/main" id="{4A10C47F-9C49-0E24-CB5D-7022C1CB6A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2229891"/>
            <a:ext cx="5334000" cy="342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3">
            <a:extLst>
              <a:ext uri="{FF2B5EF4-FFF2-40B4-BE49-F238E27FC236}">
                <a16:creationId xmlns:a16="http://schemas.microsoft.com/office/drawing/2014/main" id="{844CA1BA-548D-542F-4EC9-5A43BE79230A}"/>
              </a:ext>
            </a:extLst>
          </p:cNvPr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Πειραματική Διαδικασία (1/2)</a:t>
            </a:r>
            <a:endParaRPr dirty="0">
              <a:latin typeface="+mj-lt"/>
            </a:endParaRPr>
          </a:p>
        </p:txBody>
      </p:sp>
      <p:sp>
        <p:nvSpPr>
          <p:cNvPr id="261" name="Google Shape;261;p23">
            <a:extLst>
              <a:ext uri="{FF2B5EF4-FFF2-40B4-BE49-F238E27FC236}">
                <a16:creationId xmlns:a16="http://schemas.microsoft.com/office/drawing/2014/main" id="{F7D9BFCB-54E0-F56E-33AD-F4C545911088}"/>
              </a:ext>
            </a:extLst>
          </p:cNvPr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3">
            <a:extLst>
              <a:ext uri="{FF2B5EF4-FFF2-40B4-BE49-F238E27FC236}">
                <a16:creationId xmlns:a16="http://schemas.microsoft.com/office/drawing/2014/main" id="{73A79A37-DE78-241A-2970-26D13EE8E54C}"/>
              </a:ext>
            </a:extLst>
          </p:cNvPr>
          <p:cNvSpPr txBox="1"/>
          <p:nvPr/>
        </p:nvSpPr>
        <p:spPr>
          <a:xfrm>
            <a:off x="738186" y="2482110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Πειράματα σε </a:t>
            </a:r>
            <a:r>
              <a:rPr lang="el-GR" sz="1800" b="1" i="0" u="none" strike="noStrike" cap="none" dirty="0" err="1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Κεντρικοποιημένο</a:t>
            </a: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 Περιβάλλον</a:t>
            </a:r>
            <a:endParaRPr sz="1800" dirty="0">
              <a:latin typeface="+mj-lt"/>
            </a:endParaRPr>
          </a:p>
        </p:txBody>
      </p:sp>
      <p:sp>
        <p:nvSpPr>
          <p:cNvPr id="264" name="Google Shape;264;p23">
            <a:extLst>
              <a:ext uri="{FF2B5EF4-FFF2-40B4-BE49-F238E27FC236}">
                <a16:creationId xmlns:a16="http://schemas.microsoft.com/office/drawing/2014/main" id="{7E6F85A9-D86F-1551-44F3-63BBD2048EDB}"/>
              </a:ext>
            </a:extLst>
          </p:cNvPr>
          <p:cNvSpPr txBox="1"/>
          <p:nvPr/>
        </p:nvSpPr>
        <p:spPr>
          <a:xfrm>
            <a:off x="857250" y="3361651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Logistic Regression, </a:t>
            </a:r>
            <a:r>
              <a:rPr lang="en-US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XGBoost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,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MLP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συνδυασμοί με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SMOTE, ADASYN, Borderline-SMOTE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GAN</a:t>
            </a:r>
            <a:endParaRPr lang="en-US" sz="1800" b="0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66" name="Google Shape;266;p23">
            <a:extLst>
              <a:ext uri="{FF2B5EF4-FFF2-40B4-BE49-F238E27FC236}">
                <a16:creationId xmlns:a16="http://schemas.microsoft.com/office/drawing/2014/main" id="{98CE9E5D-BF82-E4B2-503A-BFAF90B0A881}"/>
              </a:ext>
            </a:extLst>
          </p:cNvPr>
          <p:cNvSpPr txBox="1"/>
          <p:nvPr/>
        </p:nvSpPr>
        <p:spPr>
          <a:xfrm>
            <a:off x="857250" y="4822477"/>
            <a:ext cx="47625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Ισχυρά Σημεία Αναφοράς</a:t>
            </a:r>
            <a:endParaRPr dirty="0">
              <a:latin typeface="+mn-lt"/>
            </a:endParaRPr>
          </a:p>
        </p:txBody>
      </p:sp>
      <p:sp>
        <p:nvSpPr>
          <p:cNvPr id="268" name="Google Shape;268;p23">
            <a:extLst>
              <a:ext uri="{FF2B5EF4-FFF2-40B4-BE49-F238E27FC236}">
                <a16:creationId xmlns:a16="http://schemas.microsoft.com/office/drawing/2014/main" id="{F7E082DD-BAD5-D913-505B-3991E5F757BB}"/>
              </a:ext>
            </a:extLst>
          </p:cNvPr>
          <p:cNvSpPr txBox="1"/>
          <p:nvPr/>
        </p:nvSpPr>
        <p:spPr>
          <a:xfrm>
            <a:off x="6453189" y="2482110"/>
            <a:ext cx="50006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j-lt"/>
                <a:ea typeface="Poppins"/>
                <a:cs typeface="Poppins"/>
                <a:sym typeface="Poppins"/>
              </a:rPr>
              <a:t>Πειράματα σε Ομοσπονδιακό Περιβάλλον</a:t>
            </a:r>
            <a:endParaRPr sz="1800" dirty="0">
              <a:latin typeface="+mj-lt"/>
            </a:endParaRPr>
          </a:p>
        </p:txBody>
      </p:sp>
      <p:sp>
        <p:nvSpPr>
          <p:cNvPr id="269" name="Google Shape;269;p23">
            <a:extLst>
              <a:ext uri="{FF2B5EF4-FFF2-40B4-BE49-F238E27FC236}">
                <a16:creationId xmlns:a16="http://schemas.microsoft.com/office/drawing/2014/main" id="{BB9515DB-5220-73D0-DF30-994C1703D0F8}"/>
              </a:ext>
            </a:extLst>
          </p:cNvPr>
          <p:cNvSpPr txBox="1"/>
          <p:nvPr/>
        </p:nvSpPr>
        <p:spPr>
          <a:xfrm>
            <a:off x="6572250" y="3048439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Εκπαίδευση 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MLP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 Ομοσπονδιακό Περιβάλλον </a:t>
            </a:r>
            <a:r>
              <a:rPr lang="el-GR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υπο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Συνθήκες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IID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Κατανομής και Κλιμακούμενων </a:t>
            </a:r>
            <a:r>
              <a:rPr lang="el-GR" sz="1800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Σενάριων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Non-IID 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Κατανομής</a:t>
            </a:r>
            <a:endParaRPr sz="1800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</a:endParaRPr>
          </a:p>
        </p:txBody>
      </p:sp>
      <p:sp>
        <p:nvSpPr>
          <p:cNvPr id="271" name="Google Shape;271;p23">
            <a:extLst>
              <a:ext uri="{FF2B5EF4-FFF2-40B4-BE49-F238E27FC236}">
                <a16:creationId xmlns:a16="http://schemas.microsoft.com/office/drawing/2014/main" id="{B338AE71-A42B-462D-8119-6FF1746BA78D}"/>
              </a:ext>
            </a:extLst>
          </p:cNvPr>
          <p:cNvSpPr txBox="1"/>
          <p:nvPr/>
        </p:nvSpPr>
        <p:spPr>
          <a:xfrm>
            <a:off x="6477000" y="4434678"/>
            <a:ext cx="47625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Εφαρμογή Πλαισίου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FedSMOTE</a:t>
            </a:r>
            <a:endParaRPr lang="el-GR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l-GR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Ανάλυση Κόστους</a:t>
            </a:r>
            <a:endParaRPr lang="en-US" sz="1800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C635EBB1-C30A-55DE-536A-2E6E32AF9131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14 / 25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61464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4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Πειραματική Διαδικασία (2/2)</a:t>
            </a:r>
            <a:endParaRPr dirty="0">
              <a:latin typeface="+mj-lt"/>
            </a:endParaRPr>
          </a:p>
        </p:txBody>
      </p:sp>
      <p:sp>
        <p:nvSpPr>
          <p:cNvPr id="280" name="Google Shape;280;p24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Google Shape;258;p23" descr="image.png">
            <a:extLst>
              <a:ext uri="{FF2B5EF4-FFF2-40B4-BE49-F238E27FC236}">
                <a16:creationId xmlns:a16="http://schemas.microsoft.com/office/drawing/2014/main" id="{4E95BFC9-681F-7B71-917D-AE5D704CD5A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1592818"/>
            <a:ext cx="4062523" cy="2090673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50EEF48-367F-DD72-CA35-12ACDF16C123}"/>
              </a:ext>
            </a:extLst>
          </p:cNvPr>
          <p:cNvSpPr txBox="1"/>
          <p:nvPr/>
        </p:nvSpPr>
        <p:spPr>
          <a:xfrm>
            <a:off x="1331811" y="1727407"/>
            <a:ext cx="272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Μετρικές Αξιολόγησης</a:t>
            </a:r>
            <a:endParaRPr lang="el-GR" sz="1800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A4F973-9643-EDF3-1DDF-EF5BFB74F3CF}"/>
              </a:ext>
            </a:extLst>
          </p:cNvPr>
          <p:cNvSpPr txBox="1"/>
          <p:nvPr/>
        </p:nvSpPr>
        <p:spPr>
          <a:xfrm>
            <a:off x="571499" y="2330953"/>
            <a:ext cx="2960205" cy="1211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ROC-AUC</a:t>
            </a:r>
            <a:endParaRPr lang="el-GR" sz="1800" b="1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Average Precision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F1-Score</a:t>
            </a:r>
            <a:endParaRPr lang="en-US" sz="1800" dirty="0">
              <a:latin typeface="+mn-lt"/>
            </a:endParaRPr>
          </a:p>
        </p:txBody>
      </p:sp>
      <p:pic>
        <p:nvPicPr>
          <p:cNvPr id="18" name="Google Shape;258;p23" descr="image.png">
            <a:extLst>
              <a:ext uri="{FF2B5EF4-FFF2-40B4-BE49-F238E27FC236}">
                <a16:creationId xmlns:a16="http://schemas.microsoft.com/office/drawing/2014/main" id="{32BAD0D1-34F1-CA34-81E1-584AE74BF0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5857" y="4106158"/>
            <a:ext cx="4062525" cy="238078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A976A0F-DD49-1588-8D05-494C889D3BE4}"/>
              </a:ext>
            </a:extLst>
          </p:cNvPr>
          <p:cNvSpPr txBox="1"/>
          <p:nvPr/>
        </p:nvSpPr>
        <p:spPr>
          <a:xfrm>
            <a:off x="1217016" y="4214668"/>
            <a:ext cx="2740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l-GR" sz="1800" b="1" dirty="0">
                <a:solidFill>
                  <a:srgbClr val="0F172A"/>
                </a:solidFill>
                <a:ea typeface="Poppins"/>
                <a:cs typeface="Poppins"/>
                <a:sym typeface="Poppins"/>
              </a:rPr>
              <a:t>Στατιστική Ετερογένεια</a:t>
            </a:r>
            <a:endParaRPr lang="el-GR" sz="1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6C11C6-0205-166C-4C50-52D0E39E5A6E}"/>
              </a:ext>
            </a:extLst>
          </p:cNvPr>
          <p:cNvSpPr txBox="1"/>
          <p:nvPr/>
        </p:nvSpPr>
        <p:spPr>
          <a:xfrm>
            <a:off x="662893" y="4584000"/>
            <a:ext cx="4062523" cy="43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Κατανομή 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Dirichlet (</a:t>
            </a: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Συντελεστής α):</a:t>
            </a:r>
            <a:endParaRPr lang="el-GR" sz="1800" dirty="0">
              <a:latin typeface="+mn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FA0FFA-172F-CF15-550E-E939E0140D4D}"/>
              </a:ext>
            </a:extLst>
          </p:cNvPr>
          <p:cNvSpPr txBox="1"/>
          <p:nvPr/>
        </p:nvSpPr>
        <p:spPr>
          <a:xfrm>
            <a:off x="653576" y="5002880"/>
            <a:ext cx="3126850" cy="1211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Ήπια (α = 1.0)</a:t>
            </a:r>
            <a:endParaRPr lang="en-US" sz="1800" b="1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Υψηλή (α = 0.5)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Ακραία (α = 0.1)</a:t>
            </a:r>
            <a:endParaRPr lang="el-GR" sz="1800" dirty="0">
              <a:latin typeface="+mn-lt"/>
            </a:endParaRPr>
          </a:p>
        </p:txBody>
      </p:sp>
      <p:pic>
        <p:nvPicPr>
          <p:cNvPr id="26" name="Google Shape;258;p23" descr="image.png">
            <a:extLst>
              <a:ext uri="{FF2B5EF4-FFF2-40B4-BE49-F238E27FC236}">
                <a16:creationId xmlns:a16="http://schemas.microsoft.com/office/drawing/2014/main" id="{D72E2B99-3870-8EAB-D235-77DDE3AC4B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95806" y="1592818"/>
            <a:ext cx="4320941" cy="221881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906CBCB-6EA5-9E52-2483-371CAFA2ACED}"/>
              </a:ext>
            </a:extLst>
          </p:cNvPr>
          <p:cNvSpPr txBox="1"/>
          <p:nvPr/>
        </p:nvSpPr>
        <p:spPr>
          <a:xfrm>
            <a:off x="7356172" y="1718429"/>
            <a:ext cx="32037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Ομοσπονδιακό Περιβάλλον</a:t>
            </a:r>
            <a:endParaRPr lang="el-GR" sz="1800" dirty="0"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01CDDC-E1E4-AF46-E3E6-496EC04F2A85}"/>
              </a:ext>
            </a:extLst>
          </p:cNvPr>
          <p:cNvSpPr txBox="1"/>
          <p:nvPr/>
        </p:nvSpPr>
        <p:spPr>
          <a:xfrm>
            <a:off x="7095807" y="2075859"/>
            <a:ext cx="6096000" cy="159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Cross-Silo </a:t>
            </a: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Σενάριο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5 Κόμβοι-Πελάτες 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20 Γύροι Επικοινωνίας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FedAvg</a:t>
            </a:r>
            <a:endParaRPr lang="el-GR" sz="1800" b="1" dirty="0">
              <a:solidFill>
                <a:srgbClr val="334155"/>
              </a:solidFill>
              <a:ea typeface="Lato"/>
              <a:cs typeface="Lato"/>
              <a:sym typeface="Lato"/>
            </a:endParaRPr>
          </a:p>
        </p:txBody>
      </p:sp>
      <p:pic>
        <p:nvPicPr>
          <p:cNvPr id="32" name="Google Shape;258;p23" descr="image.png">
            <a:extLst>
              <a:ext uri="{FF2B5EF4-FFF2-40B4-BE49-F238E27FC236}">
                <a16:creationId xmlns:a16="http://schemas.microsoft.com/office/drawing/2014/main" id="{C127DB1F-691C-3F6C-DD46-91577688B7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95806" y="4106158"/>
            <a:ext cx="4320941" cy="238078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FDEDA73-A8D4-D6C4-9BC5-AD5A72AD5FFA}"/>
              </a:ext>
            </a:extLst>
          </p:cNvPr>
          <p:cNvSpPr txBox="1"/>
          <p:nvPr/>
        </p:nvSpPr>
        <p:spPr>
          <a:xfrm>
            <a:off x="7225014" y="4214668"/>
            <a:ext cx="40625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dirty="0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Αρχιτεκτονική </a:t>
            </a:r>
            <a:r>
              <a:rPr lang="el-GR" sz="1800" b="1" dirty="0" err="1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Νευρωνικού</a:t>
            </a:r>
            <a:r>
              <a:rPr lang="el-GR" sz="1800" b="1" dirty="0">
                <a:solidFill>
                  <a:srgbClr val="0F172A"/>
                </a:solidFill>
                <a:latin typeface="+mn-lt"/>
                <a:cs typeface="Poppins"/>
                <a:sym typeface="Poppins"/>
              </a:rPr>
              <a:t> Δικτύου</a:t>
            </a:r>
            <a:endParaRPr lang="el-GR" sz="1800" dirty="0">
              <a:latin typeface="+mn-lt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E929F6-3F6A-BD65-948F-88EE51A8F6A9}"/>
              </a:ext>
            </a:extLst>
          </p:cNvPr>
          <p:cNvSpPr txBox="1"/>
          <p:nvPr/>
        </p:nvSpPr>
        <p:spPr>
          <a:xfrm>
            <a:off x="7095806" y="4607980"/>
            <a:ext cx="4267933" cy="159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ReLU</a:t>
            </a: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, Batch Normalization, Dropout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334155"/>
                </a:solidFill>
                <a:ea typeface="Lato"/>
                <a:cs typeface="Lato"/>
                <a:sym typeface="Lato"/>
              </a:rPr>
              <a:t>BCEWithLogitsLoss</a:t>
            </a:r>
            <a:r>
              <a:rPr lang="en-US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, Adam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l-GR" sz="1800" b="1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Αποθήκευση Βέλτιστου Μοντέλου</a:t>
            </a:r>
          </a:p>
        </p:txBody>
      </p:sp>
      <p:sp>
        <p:nvSpPr>
          <p:cNvPr id="37" name="Ορθογώνιο: Στρογγύλεμα γωνιών 36">
            <a:extLst>
              <a:ext uri="{FF2B5EF4-FFF2-40B4-BE49-F238E27FC236}">
                <a16:creationId xmlns:a16="http://schemas.microsoft.com/office/drawing/2014/main" id="{DD5E665C-539E-D0B7-EB7F-A47C5C3D1902}"/>
              </a:ext>
            </a:extLst>
          </p:cNvPr>
          <p:cNvSpPr/>
          <p:nvPr/>
        </p:nvSpPr>
        <p:spPr>
          <a:xfrm>
            <a:off x="11183937" y="6483497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/ 25</a:t>
            </a:r>
            <a:endParaRPr lang="el-GR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5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Credit Card Fraud</a:t>
            </a:r>
            <a:r>
              <a:rPr lang="el-GR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Detection (1/2)</a:t>
            </a:r>
            <a:endParaRPr dirty="0">
              <a:latin typeface="+mj-lt"/>
            </a:endParaRPr>
          </a:p>
        </p:txBody>
      </p:sp>
      <p:sp>
        <p:nvSpPr>
          <p:cNvPr id="303" name="Google Shape;303;p25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D2420229-8E2F-29EC-A280-87663E3E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9" y="2036742"/>
            <a:ext cx="6842971" cy="35643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E9DE10-EFD3-7C21-1E00-BE844B516D76}"/>
              </a:ext>
            </a:extLst>
          </p:cNvPr>
          <p:cNvSpPr txBox="1"/>
          <p:nvPr/>
        </p:nvSpPr>
        <p:spPr>
          <a:xfrm>
            <a:off x="7706139" y="2036742"/>
            <a:ext cx="405516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Ποικίλλει η συνεισφορά των Συνθετικών Δεδομένων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Την καλύτερη επίδοση σημειώνει ο συνδυασμός </a:t>
            </a:r>
            <a:r>
              <a:rPr lang="en-US" sz="1800" dirty="0" err="1"/>
              <a:t>XGBoost</a:t>
            </a:r>
            <a:r>
              <a:rPr lang="en-US" sz="1800" dirty="0"/>
              <a:t> </a:t>
            </a:r>
            <a:r>
              <a:rPr lang="el-GR" sz="1800" dirty="0"/>
              <a:t>με Συνθετικά Δεδομένα παραγόμενα από </a:t>
            </a:r>
            <a:r>
              <a:rPr lang="en-US" sz="1800" dirty="0"/>
              <a:t>GAN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Μέση Τιμή </a:t>
            </a:r>
            <a:r>
              <a:rPr lang="en-US" sz="1800" dirty="0"/>
              <a:t>F1-Score </a:t>
            </a:r>
            <a:r>
              <a:rPr lang="el-GR" sz="1800" dirty="0"/>
              <a:t>0,8662</a:t>
            </a:r>
          </a:p>
        </p:txBody>
      </p:sp>
      <p:sp>
        <p:nvSpPr>
          <p:cNvPr id="6" name="Ορθογώνιο: Στρογγύλεμα γωνιών 5">
            <a:extLst>
              <a:ext uri="{FF2B5EF4-FFF2-40B4-BE49-F238E27FC236}">
                <a16:creationId xmlns:a16="http://schemas.microsoft.com/office/drawing/2014/main" id="{7CD35731-C1E8-02AB-86D1-BDD87EDB924F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16 / 25</a:t>
            </a:r>
            <a:endParaRPr lang="el-GR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6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Credit Card Fraud Detection (2/2)</a:t>
            </a:r>
            <a:endParaRPr dirty="0">
              <a:latin typeface="+mj-lt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F57B1519-BF02-F3C7-FCAA-7FCF60A1C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77" y="1625755"/>
            <a:ext cx="7356757" cy="42351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F49360-BBE5-3C0B-0922-3F9854DE84E3}"/>
              </a:ext>
            </a:extLst>
          </p:cNvPr>
          <p:cNvSpPr txBox="1"/>
          <p:nvPr/>
        </p:nvSpPr>
        <p:spPr>
          <a:xfrm>
            <a:off x="8030817" y="1875183"/>
            <a:ext cx="349857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/>
              <a:t>Η Στατιστική Ετερογένεια ρίχνει την επίδοση του μοντέλου και παρουσιάζει υψηλά επίπεδα αστάθειας.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Client-Side SMOTE </a:t>
            </a:r>
            <a:r>
              <a:rPr lang="el-GR" sz="1800" dirty="0"/>
              <a:t>βοηθά, χωρίς να </a:t>
            </a:r>
            <a:r>
              <a:rPr lang="el-GR" sz="1800" dirty="0" err="1"/>
              <a:t>εξαλείφθει</a:t>
            </a:r>
            <a:r>
              <a:rPr lang="el-GR" sz="1800" dirty="0"/>
              <a:t> την αστάθεια σε υψηλή ετερογένεια.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Trans-Client SMOTE </a:t>
            </a:r>
            <a:r>
              <a:rPr lang="el-GR" sz="1800" dirty="0"/>
              <a:t>βέλτιστη μέθοδος, ακόμα και σε δύσκολα σενάρια.</a:t>
            </a:r>
          </a:p>
        </p:txBody>
      </p:sp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45F30A41-31CC-7B45-7F70-4E9BEA53B9F4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17 / 25</a:t>
            </a:r>
            <a:endParaRPr lang="el-GR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7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οτελέσμ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ατα: NSL-KDD (1/2)</a:t>
            </a:r>
            <a:endParaRPr dirty="0">
              <a:latin typeface="+mj-lt"/>
            </a:endParaRPr>
          </a:p>
        </p:txBody>
      </p:sp>
      <p:sp>
        <p:nvSpPr>
          <p:cNvPr id="341" name="Google Shape;341;p27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295C26C6-4A79-0446-0E76-D4CC3086B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165" y="1849040"/>
            <a:ext cx="7288696" cy="37885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598357-A9DC-13DE-4A68-5BD8B92BA08E}"/>
              </a:ext>
            </a:extLst>
          </p:cNvPr>
          <p:cNvSpPr txBox="1"/>
          <p:nvPr/>
        </p:nvSpPr>
        <p:spPr>
          <a:xfrm>
            <a:off x="8150087" y="2206487"/>
            <a:ext cx="34704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Μεγαλύτερη σπανιότητα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Μεγαλύτερη αστάθεια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8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800" dirty="0">
                <a:latin typeface="+mn-lt"/>
              </a:rPr>
              <a:t>Συνθετικά Δεδομένα δεν συνεισφέρουν στην επίδοση</a:t>
            </a:r>
          </a:p>
        </p:txBody>
      </p:sp>
      <p:sp>
        <p:nvSpPr>
          <p:cNvPr id="5" name="Ορθογώνιο: Στρογγύλεμα γωνιών 4">
            <a:extLst>
              <a:ext uri="{FF2B5EF4-FFF2-40B4-BE49-F238E27FC236}">
                <a16:creationId xmlns:a16="http://schemas.microsoft.com/office/drawing/2014/main" id="{5395BB3B-EDDC-ABCD-99FD-D298B0A7A3FB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 / 25</a:t>
            </a:r>
            <a:endParaRPr lang="el-GR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Google Shape;352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28"/>
          <p:cNvSpPr txBox="1"/>
          <p:nvPr/>
        </p:nvSpPr>
        <p:spPr>
          <a:xfrm>
            <a:off x="571500" y="47625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Poppins"/>
                <a:ea typeface="Poppins"/>
                <a:cs typeface="Poppins"/>
                <a:sym typeface="Poppins"/>
              </a:rPr>
              <a:t>Αποτελέσματα: NSL-KDD (2/2)</a:t>
            </a:r>
            <a:endParaRPr/>
          </a:p>
        </p:txBody>
      </p:sp>
      <p:sp>
        <p:nvSpPr>
          <p:cNvPr id="356" name="Google Shape;356;p28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6D10A7E9-DF4D-2CB3-A251-D05C1A1EB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485" y="1717637"/>
            <a:ext cx="6766176" cy="3889401"/>
          </a:xfrm>
          <a:prstGeom prst="rect">
            <a:avLst/>
          </a:prstGeom>
        </p:spPr>
      </p:pic>
      <p:pic>
        <p:nvPicPr>
          <p:cNvPr id="5" name="Google Shape;97;p14" descr="image.png">
            <a:extLst>
              <a:ext uri="{FF2B5EF4-FFF2-40B4-BE49-F238E27FC236}">
                <a16:creationId xmlns:a16="http://schemas.microsoft.com/office/drawing/2014/main" id="{EFFE80F2-2A7A-14F2-5676-2CA779F6423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01144" y="2372565"/>
            <a:ext cx="4019964" cy="236508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9F01D8-D94E-A772-DE7F-001BD1741EF1}"/>
              </a:ext>
            </a:extLst>
          </p:cNvPr>
          <p:cNvSpPr txBox="1"/>
          <p:nvPr/>
        </p:nvSpPr>
        <p:spPr>
          <a:xfrm>
            <a:off x="7673214" y="3398143"/>
            <a:ext cx="36758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b="1" dirty="0"/>
              <a:t>Υπεροχή της Αρχιτεκτονικής </a:t>
            </a:r>
            <a:r>
              <a:rPr lang="en-US" sz="2000" b="1" dirty="0"/>
              <a:t>Trans-Client SMOTE</a:t>
            </a:r>
            <a:endParaRPr lang="el-GR" sz="2000" b="1" dirty="0"/>
          </a:p>
        </p:txBody>
      </p:sp>
      <p:pic>
        <p:nvPicPr>
          <p:cNvPr id="7" name="Γραφικό 6" descr="Αναμμένα φώτα με συμπαγές γέμισμα">
            <a:extLst>
              <a:ext uri="{FF2B5EF4-FFF2-40B4-BE49-F238E27FC236}">
                <a16:creationId xmlns:a16="http://schemas.microsoft.com/office/drawing/2014/main" id="{B7745047-A917-1B5A-0136-A09A3A9CCE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92861" y="2469386"/>
            <a:ext cx="636529" cy="636529"/>
          </a:xfrm>
          <a:prstGeom prst="rect">
            <a:avLst/>
          </a:prstGeom>
        </p:spPr>
      </p:pic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7E149C3F-DD99-576A-3C21-90D4B9F6985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19 / 25</a:t>
            </a:r>
            <a:endParaRPr lang="el-GR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61307"/>
            <a:ext cx="3555950" cy="2329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361307"/>
            <a:ext cx="3555950" cy="2329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361307"/>
            <a:ext cx="3556099" cy="232975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9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Υπ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ολογιστικό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&amp; Επ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ικοινωνι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ακό Κόστος</a:t>
            </a:r>
            <a:endParaRPr dirty="0">
              <a:latin typeface="+mn-lt"/>
            </a:endParaRPr>
          </a:p>
        </p:txBody>
      </p:sp>
      <p:sp>
        <p:nvSpPr>
          <p:cNvPr id="378" name="Google Shape;378;p29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571500" y="497681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Η επιβ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άρυνση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κρίνετ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αι </a:t>
            </a:r>
            <a:r>
              <a:rPr lang="en-US" sz="18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αμελητέα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για Cross-Silo εφαρμογές.</a:t>
            </a:r>
            <a:endParaRPr dirty="0">
              <a:latin typeface="+mn-lt"/>
            </a:endParaRPr>
          </a:p>
        </p:txBody>
      </p:sp>
      <p:pic>
        <p:nvPicPr>
          <p:cNvPr id="380" name="Google Shape;380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1275" y="268515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9"/>
          <p:cNvSpPr txBox="1"/>
          <p:nvPr/>
        </p:nvSpPr>
        <p:spPr>
          <a:xfrm>
            <a:off x="782638" y="3351907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Μέγεθος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Μοντέλου</a:t>
            </a:r>
            <a:endParaRPr sz="1800" dirty="0">
              <a:latin typeface="+mn-lt"/>
            </a:endParaRPr>
          </a:p>
        </p:txBody>
      </p:sp>
      <p:sp>
        <p:nvSpPr>
          <p:cNvPr id="382" name="Google Shape;382;p29"/>
          <p:cNvSpPr txBox="1"/>
          <p:nvPr/>
        </p:nvSpPr>
        <p:spPr>
          <a:xfrm>
            <a:off x="857250" y="3856732"/>
            <a:ext cx="298445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0.02 - 0.03 MB</a:t>
            </a:r>
            <a:endParaRPr dirty="0">
              <a:latin typeface="+mn-lt"/>
            </a:endParaRPr>
          </a:p>
        </p:txBody>
      </p:sp>
      <p:pic>
        <p:nvPicPr>
          <p:cNvPr id="383" name="Google Shape;383;p2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29151" y="2685157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29"/>
          <p:cNvSpPr txBox="1"/>
          <p:nvPr/>
        </p:nvSpPr>
        <p:spPr>
          <a:xfrm>
            <a:off x="4529089" y="3351907"/>
            <a:ext cx="313367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Δικτυ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+mn-lt"/>
                <a:ea typeface="Poppins"/>
                <a:cs typeface="Poppins"/>
                <a:sym typeface="Poppins"/>
              </a:rPr>
              <a:t>ακή Κίνηση</a:t>
            </a:r>
            <a:endParaRPr sz="1800" dirty="0">
              <a:latin typeface="+mn-lt"/>
            </a:endParaRPr>
          </a:p>
        </p:txBody>
      </p:sp>
      <p:sp>
        <p:nvSpPr>
          <p:cNvPr id="385" name="Google Shape;385;p29"/>
          <p:cNvSpPr txBox="1"/>
          <p:nvPr/>
        </p:nvSpPr>
        <p:spPr>
          <a:xfrm>
            <a:off x="4603700" y="3856732"/>
            <a:ext cx="298445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3.81 - 5.96 MB (20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γύροι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)</a:t>
            </a:r>
            <a:endParaRPr dirty="0">
              <a:latin typeface="+mn-lt"/>
            </a:endParaRPr>
          </a:p>
        </p:txBody>
      </p:sp>
      <p:pic>
        <p:nvPicPr>
          <p:cNvPr id="386" name="Google Shape;386;p2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04325" y="268515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9"/>
          <p:cNvSpPr txBox="1"/>
          <p:nvPr/>
        </p:nvSpPr>
        <p:spPr>
          <a:xfrm>
            <a:off x="8275535" y="3351907"/>
            <a:ext cx="313382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1" dirty="0">
                <a:latin typeface="+mn-lt"/>
              </a:rPr>
              <a:t>Χρονικό Κόστος</a:t>
            </a:r>
            <a:endParaRPr sz="1800" b="1" dirty="0">
              <a:latin typeface="+mn-lt"/>
            </a:endParaRPr>
          </a:p>
        </p:txBody>
      </p:sp>
      <p:sp>
        <p:nvSpPr>
          <p:cNvPr id="388" name="Google Shape;388;p29"/>
          <p:cNvSpPr txBox="1"/>
          <p:nvPr/>
        </p:nvSpPr>
        <p:spPr>
          <a:xfrm>
            <a:off x="8238228" y="3856732"/>
            <a:ext cx="3208442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00"/>
              </a:lnSpc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~2.2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δευτερόλε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πτα (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Μέγιστο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)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endParaRPr lang="el-GR" sz="1800" b="1" i="0" u="none" strike="noStrike" cap="none" dirty="0">
              <a:solidFill>
                <a:srgbClr val="334155"/>
              </a:solidFill>
              <a:latin typeface="+mn-lt"/>
              <a:ea typeface="Lato"/>
              <a:cs typeface="Lato"/>
              <a:sym typeface="Lato"/>
            </a:endParaRPr>
          </a:p>
          <a:p>
            <a:pPr lvl="0" algn="ctr">
              <a:lnSpc>
                <a:spcPct val="140000"/>
              </a:lnSpc>
            </a:pP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0.24 δευτερόλεπτα (Ελάχιστο)</a:t>
            </a:r>
            <a:endParaRPr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8F3A5BEE-96F2-7897-8F4C-8191ACFD1B7A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 / 25</a:t>
            </a:r>
            <a:endParaRPr lang="el-G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30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Συμ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περάσματα</a:t>
            </a:r>
            <a:endParaRPr dirty="0">
              <a:latin typeface="+mn-lt"/>
            </a:endParaRPr>
          </a:p>
        </p:txBody>
      </p:sp>
      <p:sp>
        <p:nvSpPr>
          <p:cNvPr id="396" name="Google Shape;396;p30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30"/>
          <p:cNvSpPr txBox="1"/>
          <p:nvPr/>
        </p:nvSpPr>
        <p:spPr>
          <a:xfrm>
            <a:off x="1000124" y="2870073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dirty="0"/>
              <a:t>Ανισορροπία Κλάσεων + Στατιστική Ετερογένεια = Κατάρρευση Ομοσπονδιακών Συστημάτων</a:t>
            </a:r>
          </a:p>
        </p:txBody>
      </p:sp>
      <p:sp>
        <p:nvSpPr>
          <p:cNvPr id="398" name="Google Shape;398;p30"/>
          <p:cNvSpPr txBox="1"/>
          <p:nvPr/>
        </p:nvSpPr>
        <p:spPr>
          <a:xfrm>
            <a:off x="1000123" y="3386607"/>
            <a:ext cx="10620375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/>
              <a:t>FedSMOTE</a:t>
            </a:r>
            <a:r>
              <a:rPr lang="en-US" sz="1800" dirty="0"/>
              <a:t> = </a:t>
            </a:r>
            <a:r>
              <a:rPr lang="el-GR" sz="1800" dirty="0"/>
              <a:t>Ενσωμάτωση Συνθετικών Δεδομένων σε Ομοσπονδιακά Περιβάλλοντα με ουσιαστικό τρόπο</a:t>
            </a:r>
          </a:p>
        </p:txBody>
      </p:sp>
      <p:sp>
        <p:nvSpPr>
          <p:cNvPr id="399" name="Google Shape;399;p30"/>
          <p:cNvSpPr txBox="1"/>
          <p:nvPr/>
        </p:nvSpPr>
        <p:spPr>
          <a:xfrm>
            <a:off x="1000121" y="4282529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Trans-Client SMOTE </a:t>
            </a:r>
            <a:r>
              <a:rPr lang="el-GR" sz="1800" dirty="0"/>
              <a:t>εγγυάται τα Καλύτερα Αποτελέσματα, ακόμα και σε δύσκολα σενάρια</a:t>
            </a:r>
          </a:p>
        </p:txBody>
      </p:sp>
      <p:sp>
        <p:nvSpPr>
          <p:cNvPr id="400" name="Google Shape;400;p30"/>
          <p:cNvSpPr txBox="1"/>
          <p:nvPr/>
        </p:nvSpPr>
        <p:spPr>
          <a:xfrm>
            <a:off x="1000120" y="480089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/>
              <a:t>FHE + CKKS </a:t>
            </a:r>
            <a:r>
              <a:rPr lang="el-GR" sz="1800" dirty="0"/>
              <a:t>επιτρέπουν συνεργατική παραγωγή Συνθετικών Δεδομένων, χωρίς διαρροή πληροφορίας</a:t>
            </a:r>
          </a:p>
        </p:txBody>
      </p:sp>
      <p:pic>
        <p:nvPicPr>
          <p:cNvPr id="401" name="Google Shape;401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7001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049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9" y="440248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498" y="492085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5F580AE5-749D-B6D2-D2EE-248A14ADFDB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 / 25</a:t>
            </a:r>
            <a:endParaRPr lang="el-GR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1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Ανοιχτά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Ζητήμ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ατα</a:t>
            </a:r>
            <a:endParaRPr dirty="0">
              <a:latin typeface="+mn-lt"/>
            </a:endParaRPr>
          </a:p>
        </p:txBody>
      </p:sp>
      <p:sp>
        <p:nvSpPr>
          <p:cNvPr id="412" name="Google Shape;412;p31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1"/>
          <p:cNvSpPr txBox="1"/>
          <p:nvPr/>
        </p:nvSpPr>
        <p:spPr>
          <a:xfrm>
            <a:off x="1000125" y="313136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Τηλε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πικοινωνιακή επιβάρυνση σε 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μεγαλύτερα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μοντέλ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sp>
        <p:nvSpPr>
          <p:cNvPr id="414" name="Google Shape;414;p31"/>
          <p:cNvSpPr txBox="1"/>
          <p:nvPr/>
        </p:nvSpPr>
        <p:spPr>
          <a:xfrm>
            <a:off x="1000124" y="364184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Περιορισμοί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του CKKS στη συνεχή τυχαία παρεμβολή.</a:t>
            </a:r>
            <a:endParaRPr dirty="0">
              <a:latin typeface="+mn-lt"/>
            </a:endParaRPr>
          </a:p>
        </p:txBody>
      </p:sp>
      <p:sp>
        <p:nvSpPr>
          <p:cNvPr id="415" name="Google Shape;415;p31"/>
          <p:cNvSpPr txBox="1"/>
          <p:nvPr/>
        </p:nvSpPr>
        <p:spPr>
          <a:xfrm>
            <a:off x="1000124" y="415232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Προκλήσεις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συσκευές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με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εριορισμένους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όρους</a:t>
            </a: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416" name="Google Shape;416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2525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73573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24621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29E37F0D-E439-88B5-CBF2-560923F3F2E0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22 / 25</a:t>
            </a:r>
            <a:endParaRPr lang="el-GR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Google Shape;423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32"/>
          <p:cNvSpPr txBox="1"/>
          <p:nvPr/>
        </p:nvSpPr>
        <p:spPr>
          <a:xfrm>
            <a:off x="571500" y="476250"/>
            <a:ext cx="1160145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Μελλοντικές</a:t>
            </a:r>
            <a:r>
              <a:rPr lang="en-US" sz="3300" b="1" i="0" u="none" strike="noStrike" cap="none" dirty="0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 Επ</a:t>
            </a:r>
            <a:r>
              <a:rPr lang="en-US" sz="3300" b="1" i="0" u="none" strike="noStrike" cap="none" dirty="0" err="1">
                <a:solidFill>
                  <a:srgbClr val="005088"/>
                </a:solidFill>
                <a:latin typeface="+mn-lt"/>
                <a:ea typeface="Poppins"/>
                <a:cs typeface="Poppins"/>
                <a:sym typeface="Poppins"/>
              </a:rPr>
              <a:t>εκτάσεις</a:t>
            </a:r>
            <a:endParaRPr dirty="0">
              <a:latin typeface="+mn-lt"/>
            </a:endParaRPr>
          </a:p>
        </p:txBody>
      </p:sp>
      <p:sp>
        <p:nvSpPr>
          <p:cNvPr id="426" name="Google Shape;426;p32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2"/>
          <p:cNvSpPr txBox="1"/>
          <p:nvPr/>
        </p:nvSpPr>
        <p:spPr>
          <a:xfrm>
            <a:off x="1000125" y="2876127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-GR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Ενσωμάτωση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Borderline-SMOTE</a:t>
            </a:r>
            <a:r>
              <a:rPr lang="el-GR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και </a:t>
            </a:r>
            <a:r>
              <a:rPr lang="en-US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ADASYN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εξολοκλήρου σε κρυπτογραφημένο χώρο.</a:t>
            </a:r>
            <a:endParaRPr dirty="0">
              <a:latin typeface="+mn-lt"/>
            </a:endParaRPr>
          </a:p>
        </p:txBody>
      </p:sp>
      <p:sp>
        <p:nvSpPr>
          <p:cNvPr id="428" name="Google Shape;428;p32"/>
          <p:cNvSpPr txBox="1"/>
          <p:nvPr/>
        </p:nvSpPr>
        <p:spPr>
          <a:xfrm>
            <a:off x="1000124" y="3420516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Υβ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ριδικά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μοντέλ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ασφαλείας (FHE + Differential Privacy).</a:t>
            </a:r>
            <a:endParaRPr dirty="0">
              <a:latin typeface="+mn-lt"/>
            </a:endParaRPr>
          </a:p>
        </p:txBody>
      </p:sp>
      <p:sp>
        <p:nvSpPr>
          <p:cNvPr id="429" name="Google Shape;429;p32"/>
          <p:cNvSpPr txBox="1"/>
          <p:nvPr/>
        </p:nvSpPr>
        <p:spPr>
          <a:xfrm>
            <a:off x="1000124" y="389708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Ασύγχρονη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Ομοσ</a:t>
            </a:r>
            <a:r>
              <a:rPr lang="en-US" sz="180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πονδιακή Μάθηση.</a:t>
            </a:r>
            <a:endParaRPr dirty="0">
              <a:latin typeface="+mn-lt"/>
            </a:endParaRPr>
          </a:p>
        </p:txBody>
      </p:sp>
      <p:sp>
        <p:nvSpPr>
          <p:cNvPr id="430" name="Google Shape;430;p32"/>
          <p:cNvSpPr txBox="1"/>
          <p:nvPr/>
        </p:nvSpPr>
        <p:spPr>
          <a:xfrm>
            <a:off x="1000124" y="4407568"/>
            <a:ext cx="10620375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Επ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ιτάχυνση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υλικο</a:t>
            </a:r>
            <a:r>
              <a:rPr lang="el-GR" sz="1800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ύ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.</a:t>
            </a:r>
            <a:endParaRPr dirty="0">
              <a:latin typeface="+mn-lt"/>
            </a:endParaRPr>
          </a:p>
        </p:txBody>
      </p:sp>
      <p:pic>
        <p:nvPicPr>
          <p:cNvPr id="431" name="Google Shape;431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7001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48049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501455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4D0B9DEC-6D4C-C17D-B983-F07B316607F0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23 / 25</a:t>
            </a:r>
            <a:endParaRPr lang="el-GR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439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33"/>
          <p:cNvSpPr txBox="1"/>
          <p:nvPr/>
        </p:nvSpPr>
        <p:spPr>
          <a:xfrm>
            <a:off x="571500" y="476250"/>
            <a:ext cx="116014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5088"/>
                </a:solidFill>
                <a:latin typeface="Poppins"/>
                <a:ea typeface="Poppins"/>
                <a:cs typeface="Poppins"/>
                <a:sym typeface="Poppins"/>
              </a:rPr>
              <a:t>Βιβλιογραφία</a:t>
            </a:r>
            <a:endParaRPr/>
          </a:p>
        </p:txBody>
      </p:sp>
      <p:sp>
        <p:nvSpPr>
          <p:cNvPr id="442" name="Google Shape;442;p33"/>
          <p:cNvSpPr/>
          <p:nvPr/>
        </p:nvSpPr>
        <p:spPr>
          <a:xfrm>
            <a:off x="571500" y="1190625"/>
            <a:ext cx="11049000" cy="2857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3"/>
          <p:cNvSpPr txBox="1"/>
          <p:nvPr/>
        </p:nvSpPr>
        <p:spPr>
          <a:xfrm>
            <a:off x="1000125" y="3079724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[18] McMahan et al., "Communication-Efficient Learning of Deep Networks from Decentralized Data", PMLR, 2017.</a:t>
            </a:r>
            <a:endParaRPr dirty="0">
              <a:latin typeface="+mn-lt"/>
            </a:endParaRPr>
          </a:p>
        </p:txBody>
      </p:sp>
      <p:sp>
        <p:nvSpPr>
          <p:cNvPr id="444" name="Google Shape;444;p33"/>
          <p:cNvSpPr txBox="1"/>
          <p:nvPr/>
        </p:nvSpPr>
        <p:spPr>
          <a:xfrm>
            <a:off x="1000125" y="3510899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[22] Chawla et al., "SMOTE: Synthetic Minority Over-sampling Technique", JAIR, 2002.</a:t>
            </a:r>
            <a:endParaRPr dirty="0">
              <a:latin typeface="+mn-lt"/>
            </a:endParaRPr>
          </a:p>
        </p:txBody>
      </p:sp>
      <p:sp>
        <p:nvSpPr>
          <p:cNvPr id="445" name="Google Shape;445;p33"/>
          <p:cNvSpPr txBox="1"/>
          <p:nvPr/>
        </p:nvSpPr>
        <p:spPr>
          <a:xfrm>
            <a:off x="1000125" y="3939271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[54] Gentry, "Fully Homomorphic Encryption using Ideal Lattices", STOC, 2009.</a:t>
            </a:r>
            <a:endParaRPr dirty="0">
              <a:latin typeface="+mn-lt"/>
            </a:endParaRPr>
          </a:p>
        </p:txBody>
      </p:sp>
      <p:sp>
        <p:nvSpPr>
          <p:cNvPr id="446" name="Google Shape;446;p33"/>
          <p:cNvSpPr txBox="1"/>
          <p:nvPr/>
        </p:nvSpPr>
        <p:spPr>
          <a:xfrm>
            <a:off x="1000125" y="4370446"/>
            <a:ext cx="10620375" cy="290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[56] Cheon et al., "Homomorphic Encryption for Arithmetic of Approximate Numbers", ASIACRYPT, 2017.</a:t>
            </a:r>
            <a:endParaRPr dirty="0">
              <a:latin typeface="+mn-lt"/>
            </a:endParaRPr>
          </a:p>
        </p:txBody>
      </p:sp>
      <p:pic>
        <p:nvPicPr>
          <p:cNvPr id="447" name="Google Shape;447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130153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56056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9097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3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1385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450;p33" descr="image.png">
            <a:extLst>
              <a:ext uri="{FF2B5EF4-FFF2-40B4-BE49-F238E27FC236}">
                <a16:creationId xmlns:a16="http://schemas.microsoft.com/office/drawing/2014/main" id="{09D7200A-18DA-DDE6-B33C-CBC11889329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836454"/>
            <a:ext cx="1238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450;p33" descr="image.png">
            <a:extLst>
              <a:ext uri="{FF2B5EF4-FFF2-40B4-BE49-F238E27FC236}">
                <a16:creationId xmlns:a16="http://schemas.microsoft.com/office/drawing/2014/main" id="{047BB88E-9688-8E00-2833-0FF61E7E34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251523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122BC7-CE7B-CA0D-6CF1-1E9D407692DC}"/>
              </a:ext>
            </a:extLst>
          </p:cNvPr>
          <p:cNvSpPr txBox="1"/>
          <p:nvPr/>
        </p:nvSpPr>
        <p:spPr>
          <a:xfrm>
            <a:off x="914400" y="4782066"/>
            <a:ext cx="7715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350" dirty="0">
                <a:solidFill>
                  <a:srgbClr val="334155"/>
                </a:solidFill>
              </a:rPr>
              <a:t>[21]</a:t>
            </a:r>
            <a:r>
              <a:rPr lang="en-US" sz="1350" dirty="0">
                <a:solidFill>
                  <a:srgbClr val="334155"/>
                </a:solidFill>
              </a:rPr>
              <a:t> Wang et al., </a:t>
            </a:r>
            <a:r>
              <a:rPr lang="en-US" sz="1350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“Addressing class imbalance in federated learning", AAAI, 2021.</a:t>
            </a:r>
            <a:r>
              <a:rPr lang="en-US" sz="1350" dirty="0">
                <a:solidFill>
                  <a:srgbClr val="334155"/>
                </a:solidFill>
              </a:rPr>
              <a:t> </a:t>
            </a:r>
            <a:endParaRPr lang="el-GR" sz="1350" dirty="0">
              <a:solidFill>
                <a:srgbClr val="3341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54A594-8EF8-207D-0862-163523AE0369}"/>
              </a:ext>
            </a:extLst>
          </p:cNvPr>
          <p:cNvSpPr txBox="1"/>
          <p:nvPr/>
        </p:nvSpPr>
        <p:spPr>
          <a:xfrm>
            <a:off x="914400" y="5197646"/>
            <a:ext cx="808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solidFill>
                  <a:srgbClr val="334155"/>
                </a:solidFill>
              </a:rPr>
              <a:t>[46] </a:t>
            </a:r>
            <a:r>
              <a:rPr lang="en-US" sz="1350" dirty="0" err="1">
                <a:solidFill>
                  <a:srgbClr val="334155"/>
                </a:solidFill>
              </a:rPr>
              <a:t>Japkowicz</a:t>
            </a:r>
            <a:r>
              <a:rPr lang="en-US" sz="1350" dirty="0">
                <a:solidFill>
                  <a:srgbClr val="334155"/>
                </a:solidFill>
              </a:rPr>
              <a:t>, Stephen, </a:t>
            </a:r>
            <a:r>
              <a:rPr lang="en-US" sz="1350" dirty="0">
                <a:solidFill>
                  <a:srgbClr val="334155"/>
                </a:solidFill>
                <a:ea typeface="Lato"/>
                <a:cs typeface="Lato"/>
                <a:sym typeface="Lato"/>
              </a:rPr>
              <a:t>“The class imbalance problem: A systematic study", IDA, 2002. </a:t>
            </a:r>
            <a:endParaRPr lang="el-GR" sz="1350" dirty="0"/>
          </a:p>
        </p:txBody>
      </p:sp>
      <p:sp>
        <p:nvSpPr>
          <p:cNvPr id="8" name="Ορθογώνιο: Στρογγύλεμα γωνιών 7">
            <a:extLst>
              <a:ext uri="{FF2B5EF4-FFF2-40B4-BE49-F238E27FC236}">
                <a16:creationId xmlns:a16="http://schemas.microsoft.com/office/drawing/2014/main" id="{B0A94880-52AE-E698-4476-F065EF881196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24 / 25</a:t>
            </a:r>
            <a:endParaRPr lang="el-G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34"/>
          <p:cNvSpPr txBox="1"/>
          <p:nvPr/>
        </p:nvSpPr>
        <p:spPr>
          <a:xfrm>
            <a:off x="295275" y="1095375"/>
            <a:ext cx="11601450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 dirty="0" err="1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Ευχ</a:t>
            </a:r>
            <a:r>
              <a:rPr lang="en-US" sz="5250" b="1" i="0" u="none" strike="noStrike" cap="none" dirty="0">
                <a:solidFill>
                  <a:srgbClr val="005088"/>
                </a:solidFill>
                <a:latin typeface="+mj-lt"/>
                <a:ea typeface="Poppins"/>
                <a:cs typeface="Poppins"/>
                <a:sym typeface="Poppins"/>
              </a:rPr>
              <a:t>αριστώ πολύ για την προσοχή σας!</a:t>
            </a:r>
            <a:endParaRPr dirty="0">
              <a:latin typeface="+mj-lt"/>
            </a:endParaRPr>
          </a:p>
        </p:txBody>
      </p:sp>
      <p:sp>
        <p:nvSpPr>
          <p:cNvPr id="458" name="Google Shape;458;p34"/>
          <p:cNvSpPr txBox="1"/>
          <p:nvPr/>
        </p:nvSpPr>
        <p:spPr>
          <a:xfrm>
            <a:off x="571500" y="349567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Ερωτήσεις</a:t>
            </a:r>
            <a:r>
              <a:rPr lang="en-US" sz="24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;</a:t>
            </a:r>
            <a:endParaRPr dirty="0">
              <a:latin typeface="+mn-lt"/>
            </a:endParaRPr>
          </a:p>
        </p:txBody>
      </p:sp>
      <p:sp>
        <p:nvSpPr>
          <p:cNvPr id="459" name="Google Shape;459;p34"/>
          <p:cNvSpPr txBox="1"/>
          <p:nvPr/>
        </p:nvSpPr>
        <p:spPr>
          <a:xfrm>
            <a:off x="571500" y="4893915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Ραφα</a:t>
            </a:r>
            <a:r>
              <a:rPr lang="en-US" sz="24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ήλ-Ανέστης</a:t>
            </a: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 </a:t>
            </a:r>
            <a:r>
              <a:rPr lang="en-US" sz="2400" b="1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Κωνστ</a:t>
            </a:r>
            <a:r>
              <a:rPr lang="en-US" sz="2400" b="1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αντίνου</a:t>
            </a:r>
            <a:endParaRPr sz="2400" dirty="0">
              <a:latin typeface="+mn-lt"/>
            </a:endParaRPr>
          </a:p>
        </p:txBody>
      </p:sp>
      <p:sp>
        <p:nvSpPr>
          <p:cNvPr id="460" name="Google Shape;460;p34"/>
          <p:cNvSpPr txBox="1"/>
          <p:nvPr/>
        </p:nvSpPr>
        <p:spPr>
          <a:xfrm>
            <a:off x="571500" y="5593902"/>
            <a:ext cx="11049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Τμήμ</a:t>
            </a:r>
            <a:r>
              <a:rPr lang="en-US" sz="1800" b="0" i="0" u="none" strike="noStrike" cap="none" dirty="0">
                <a:solidFill>
                  <a:srgbClr val="334155"/>
                </a:solidFill>
                <a:latin typeface="+mn-lt"/>
                <a:ea typeface="Lato"/>
                <a:cs typeface="Lato"/>
                <a:sym typeface="Lato"/>
              </a:rPr>
              <a:t>α Ηλεκτρολόγων Μηχανικών &amp; Μηχανικών Υπολογιστών Δ.Π.Θ.</a:t>
            </a:r>
            <a:endParaRPr sz="2000" dirty="0">
              <a:latin typeface="+mn-lt"/>
            </a:endParaRPr>
          </a:p>
        </p:txBody>
      </p:sp>
      <p:sp>
        <p:nvSpPr>
          <p:cNvPr id="2" name="Ορθογώνιο: Στρογγύλεμα γωνιών 1">
            <a:extLst>
              <a:ext uri="{FF2B5EF4-FFF2-40B4-BE49-F238E27FC236}">
                <a16:creationId xmlns:a16="http://schemas.microsoft.com/office/drawing/2014/main" id="{281D63FE-5B11-F25D-2678-5929EF7C399C}"/>
              </a:ext>
            </a:extLst>
          </p:cNvPr>
          <p:cNvSpPr/>
          <p:nvPr/>
        </p:nvSpPr>
        <p:spPr>
          <a:xfrm>
            <a:off x="11144250" y="6381750"/>
            <a:ext cx="873125" cy="257662"/>
          </a:xfrm>
          <a:prstGeom prst="roundRect">
            <a:avLst>
              <a:gd name="adj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25 </a:t>
            </a:r>
            <a:r>
              <a:rPr lang="en-US" dirty="0"/>
              <a:t>/ 25</a:t>
            </a:r>
            <a:endParaRPr lang="el-G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975</Words>
  <Application>Microsoft Office PowerPoint</Application>
  <PresentationFormat>Ευρεία οθόνη</PresentationFormat>
  <Paragraphs>169</Paragraphs>
  <Slides>25</Slides>
  <Notes>25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25</vt:i4>
      </vt:variant>
    </vt:vector>
  </HeadingPairs>
  <TitlesOfParts>
    <vt:vector size="30" baseType="lpstr">
      <vt:lpstr>Arial</vt:lpstr>
      <vt:lpstr>Calibri</vt:lpstr>
      <vt:lpstr>Poppins</vt:lpstr>
      <vt:lpstr>Lato</vt:lpstr>
      <vt:lpstr>Office Theme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raf</dc:creator>
  <cp:lastModifiedBy>ΗΛΙΑΣ ΚΩΝΣΤΑΝΤΙΝΟΥ</cp:lastModifiedBy>
  <cp:revision>2</cp:revision>
  <dcterms:modified xsi:type="dcterms:W3CDTF">2026-06-02T20:10:15Z</dcterms:modified>
</cp:coreProperties>
</file>