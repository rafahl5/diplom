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81" r:id="rId10"/>
    <p:sldId id="264" r:id="rId11"/>
    <p:sldId id="282" r:id="rId12"/>
    <p:sldId id="283" r:id="rId13"/>
    <p:sldId id="266" r:id="rId14"/>
    <p:sldId id="285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86" r:id="rId26"/>
    <p:sldId id="277" r:id="rId27"/>
  </p:sldIdLst>
  <p:sldSz cx="12192000" cy="6858000"/>
  <p:notesSz cx="6858000" cy="9144000"/>
  <p:embeddedFontLst>
    <p:embeddedFont>
      <p:font typeface="Lato" panose="020F0502020204030203" pitchFamily="34" charset="0"/>
      <p:regular r:id="rId29"/>
      <p:bold r:id="rId30"/>
      <p:italic r:id="rId31"/>
      <p:boldItalic r:id="rId32"/>
    </p:embeddedFont>
    <p:embeddedFont>
      <p:font typeface="Poppins" panose="00000500000000000000" pitchFamily="2" charset="0"/>
      <p:regular r:id="rId33"/>
      <p:bold r:id="rId34"/>
      <p:italic r:id="rId35"/>
      <p:boldItalic r:id="rId3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11CAA0"/>
    <a:srgbClr val="FEF6F0"/>
    <a:srgbClr val="334155"/>
    <a:srgbClr val="697482"/>
    <a:srgbClr val="CC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A537C14-F02F-4141-81CE-6AD4972F6CDA}" v="80" dt="2026-06-02T20:10:15.558"/>
  </p1510:revLst>
</p1510:revInfo>
</file>

<file path=ppt/tableStyles.xml><?xml version="1.0" encoding="utf-8"?>
<a:tblStyleLst xmlns:a="http://schemas.openxmlformats.org/drawingml/2006/main" def="{7750ADC5-A5CE-4C80-ABC2-3EE877CF0B8F}">
  <a:tblStyle styleId="{7750ADC5-A5CE-4C80-ABC2-3EE877CF0B8F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2" d="100"/>
          <a:sy n="102" d="100"/>
        </p:scale>
        <p:origin x="876" y="11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font" Target="fonts/font6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1.fntdata"/><Relationship Id="rId4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4.fntdata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36" Type="http://schemas.openxmlformats.org/officeDocument/2006/relationships/font" Target="fonts/font8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2.fntdata"/><Relationship Id="rId35" Type="http://schemas.openxmlformats.org/officeDocument/2006/relationships/font" Target="fonts/font7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5.fntdata"/><Relationship Id="rId38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>
          <a:extLst>
            <a:ext uri="{FF2B5EF4-FFF2-40B4-BE49-F238E27FC236}">
              <a16:creationId xmlns:a16="http://schemas.microsoft.com/office/drawing/2014/main" id="{3734C183-FBB8-AC7E-A32F-305B5570A9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8:notes">
            <a:extLst>
              <a:ext uri="{FF2B5EF4-FFF2-40B4-BE49-F238E27FC236}">
                <a16:creationId xmlns:a16="http://schemas.microsoft.com/office/drawing/2014/main" id="{ECCBFA45-E718-0EE5-369C-743BF0B99E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8:notes">
            <a:extLst>
              <a:ext uri="{FF2B5EF4-FFF2-40B4-BE49-F238E27FC236}">
                <a16:creationId xmlns:a16="http://schemas.microsoft.com/office/drawing/2014/main" id="{581F6A19-B289-8659-FCC0-F2FF85B962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976408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Google Shape;22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>
          <a:extLst>
            <a:ext uri="{FF2B5EF4-FFF2-40B4-BE49-F238E27FC236}">
              <a16:creationId xmlns:a16="http://schemas.microsoft.com/office/drawing/2014/main" id="{5F9D13DF-AEE9-DAAC-3CED-00D21C24E3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9:notes">
            <a:extLst>
              <a:ext uri="{FF2B5EF4-FFF2-40B4-BE49-F238E27FC236}">
                <a16:creationId xmlns:a16="http://schemas.microsoft.com/office/drawing/2014/main" id="{82E6F1A6-0CC5-43D1-31E0-008CFEF8ED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Google Shape;222;p9:notes">
            <a:extLst>
              <a:ext uri="{FF2B5EF4-FFF2-40B4-BE49-F238E27FC236}">
                <a16:creationId xmlns:a16="http://schemas.microsoft.com/office/drawing/2014/main" id="{94697D25-4154-F073-9A8A-D687CC3CB5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4627439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>
          <a:extLst>
            <a:ext uri="{FF2B5EF4-FFF2-40B4-BE49-F238E27FC236}">
              <a16:creationId xmlns:a16="http://schemas.microsoft.com/office/drawing/2014/main" id="{6C750DDF-B4A8-6AA2-3217-38E045E53C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9:notes">
            <a:extLst>
              <a:ext uri="{FF2B5EF4-FFF2-40B4-BE49-F238E27FC236}">
                <a16:creationId xmlns:a16="http://schemas.microsoft.com/office/drawing/2014/main" id="{D215EC67-BEB6-9181-71D1-829461A7D3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Google Shape;222;p9:notes">
            <a:extLst>
              <a:ext uri="{FF2B5EF4-FFF2-40B4-BE49-F238E27FC236}">
                <a16:creationId xmlns:a16="http://schemas.microsoft.com/office/drawing/2014/main" id="{EA81FC34-FADF-59CA-EA34-A340F6A1A7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4560352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4" name="Google Shape;254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>
          <a:extLst>
            <a:ext uri="{FF2B5EF4-FFF2-40B4-BE49-F238E27FC236}">
              <a16:creationId xmlns:a16="http://schemas.microsoft.com/office/drawing/2014/main" id="{51E295EF-3F17-DE30-FB76-832CC0B01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11:notes">
            <a:extLst>
              <a:ext uri="{FF2B5EF4-FFF2-40B4-BE49-F238E27FC236}">
                <a16:creationId xmlns:a16="http://schemas.microsoft.com/office/drawing/2014/main" id="{E8C40821-4698-C3E6-CACE-6CAA968BF2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4" name="Google Shape;254;p11:notes">
            <a:extLst>
              <a:ext uri="{FF2B5EF4-FFF2-40B4-BE49-F238E27FC236}">
                <a16:creationId xmlns:a16="http://schemas.microsoft.com/office/drawing/2014/main" id="{DA862F51-3AA1-9B5C-FD5F-E631BB0B3F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844030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4" name="Google Shape;274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8" name="Google Shape;298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7" name="Google Shape;317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5" name="Google Shape;335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0" name="Google Shape;350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0" name="Google Shape;370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1" name="Google Shape;391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7" name="Google Shape;407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1" name="Google Shape;421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7" name="Google Shape;437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5">
          <a:extLst>
            <a:ext uri="{FF2B5EF4-FFF2-40B4-BE49-F238E27FC236}">
              <a16:creationId xmlns:a16="http://schemas.microsoft.com/office/drawing/2014/main" id="{2BDF6F6A-02D2-D807-9312-A712DCF32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21:notes">
            <a:extLst>
              <a:ext uri="{FF2B5EF4-FFF2-40B4-BE49-F238E27FC236}">
                <a16:creationId xmlns:a16="http://schemas.microsoft.com/office/drawing/2014/main" id="{491D5CA7-79DF-3C1A-AF6B-19227D48A0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7" name="Google Shape;437;p21:notes">
            <a:extLst>
              <a:ext uri="{FF2B5EF4-FFF2-40B4-BE49-F238E27FC236}">
                <a16:creationId xmlns:a16="http://schemas.microsoft.com/office/drawing/2014/main" id="{3B270B5F-E6AD-15D7-FB16-EFE5AF3087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681563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p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3" name="Google Shape;453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svg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jp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3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svg"/><Relationship Id="rId5" Type="http://schemas.openxmlformats.org/officeDocument/2006/relationships/image" Target="../media/image4.png"/><Relationship Id="rId4" Type="http://schemas.openxmlformats.org/officeDocument/2006/relationships/image" Target="../media/image28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3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Relationship Id="rId9" Type="http://schemas.openxmlformats.org/officeDocument/2006/relationships/image" Target="../media/image3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3"/>
          <p:cNvSpPr txBox="1"/>
          <p:nvPr/>
        </p:nvSpPr>
        <p:spPr>
          <a:xfrm>
            <a:off x="295275" y="1395412"/>
            <a:ext cx="11601450" cy="22852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1" i="0" u="none" strike="noStrike" cap="none" dirty="0" err="1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Συνθετικά</a:t>
            </a:r>
            <a:r>
              <a:rPr lang="en-US" sz="45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 </a:t>
            </a:r>
            <a:r>
              <a:rPr lang="en-US" sz="4500" b="1" i="0" u="none" strike="noStrike" cap="none" dirty="0" err="1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Δεδομέν</a:t>
            </a:r>
            <a:r>
              <a:rPr lang="en-US" sz="45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α για Ισορροπία Κλάσεων σε Περιβάλλοντα Ομοσ</a:t>
            </a:r>
            <a:r>
              <a:rPr lang="el-GR" sz="45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π</a:t>
            </a:r>
            <a:r>
              <a:rPr lang="en-US" sz="4500" b="1" i="0" u="none" strike="noStrike" cap="none" dirty="0" err="1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ονδι</a:t>
            </a:r>
            <a:r>
              <a:rPr lang="en-US" sz="45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ακής Μάθησης</a:t>
            </a:r>
            <a:endParaRPr dirty="0">
              <a:latin typeface="+mj-lt"/>
            </a:endParaRPr>
          </a:p>
        </p:txBody>
      </p:sp>
      <p:sp>
        <p:nvSpPr>
          <p:cNvPr id="87" name="Google Shape;87;p13"/>
          <p:cNvSpPr txBox="1"/>
          <p:nvPr/>
        </p:nvSpPr>
        <p:spPr>
          <a:xfrm>
            <a:off x="571500" y="3863146"/>
            <a:ext cx="11049000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 err="1">
                <a:solidFill>
                  <a:srgbClr val="64748B"/>
                </a:solidFill>
                <a:latin typeface="+mn-lt"/>
                <a:ea typeface="Lato"/>
                <a:cs typeface="Lato"/>
                <a:sym typeface="Lato"/>
              </a:rPr>
              <a:t>Δι</a:t>
            </a:r>
            <a:r>
              <a:rPr lang="en-US" sz="2100" b="0" i="0" u="none" strike="noStrike" cap="none" dirty="0">
                <a:solidFill>
                  <a:srgbClr val="64748B"/>
                </a:solidFill>
                <a:latin typeface="+mn-lt"/>
                <a:ea typeface="Lato"/>
                <a:cs typeface="Lato"/>
                <a:sym typeface="Lato"/>
              </a:rPr>
              <a:t>πλωματική Εργασία</a:t>
            </a:r>
            <a:r>
              <a:rPr lang="el-GR" sz="2100" b="0" i="0" u="none" strike="noStrike" cap="none" dirty="0">
                <a:solidFill>
                  <a:srgbClr val="64748B"/>
                </a:solidFill>
                <a:latin typeface="+mn-lt"/>
                <a:ea typeface="Lato"/>
                <a:cs typeface="Lato"/>
                <a:sym typeface="Lato"/>
              </a:rPr>
              <a:t> του Ραφαήλ-Ανέστη Κωνσταντίνου</a:t>
            </a:r>
            <a:endParaRPr dirty="0">
              <a:latin typeface="+mn-lt"/>
            </a:endParaRPr>
          </a:p>
        </p:txBody>
      </p:sp>
      <p:sp>
        <p:nvSpPr>
          <p:cNvPr id="88" name="Google Shape;88;p13"/>
          <p:cNvSpPr txBox="1"/>
          <p:nvPr/>
        </p:nvSpPr>
        <p:spPr>
          <a:xfrm>
            <a:off x="571500" y="4614862"/>
            <a:ext cx="1104900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1E293B"/>
                </a:solidFill>
                <a:latin typeface="+mn-lt"/>
                <a:ea typeface="Lato"/>
                <a:cs typeface="Lato"/>
                <a:sym typeface="Lato"/>
              </a:rPr>
              <a:t>Επιβ</a:t>
            </a:r>
            <a:r>
              <a:rPr lang="en-US" sz="1800" b="1" i="0" u="none" strike="noStrike" cap="none" dirty="0" err="1">
                <a:solidFill>
                  <a:srgbClr val="1E293B"/>
                </a:solidFill>
                <a:latin typeface="+mn-lt"/>
                <a:ea typeface="Lato"/>
                <a:cs typeface="Lato"/>
                <a:sym typeface="Lato"/>
              </a:rPr>
              <a:t>λέ</a:t>
            </a:r>
            <a:r>
              <a:rPr lang="en-US" sz="1800" b="1" i="0" u="none" strike="noStrike" cap="none" dirty="0">
                <a:solidFill>
                  <a:srgbClr val="1E293B"/>
                </a:solidFill>
                <a:latin typeface="+mn-lt"/>
                <a:ea typeface="Lato"/>
                <a:cs typeface="Lato"/>
                <a:sym typeface="Lato"/>
              </a:rPr>
              <a:t>π</a:t>
            </a:r>
            <a:r>
              <a:rPr lang="el-GR" sz="1800" b="1" i="0" u="none" strike="noStrike" cap="none" dirty="0">
                <a:solidFill>
                  <a:srgbClr val="1E293B"/>
                </a:solidFill>
                <a:latin typeface="+mn-lt"/>
                <a:ea typeface="Lato"/>
                <a:cs typeface="Lato"/>
                <a:sym typeface="Lato"/>
              </a:rPr>
              <a:t>ο</a:t>
            </a:r>
            <a:r>
              <a:rPr lang="en-US" sz="1800" b="1" i="0" u="none" strike="noStrike" cap="none" dirty="0">
                <a:solidFill>
                  <a:srgbClr val="1E293B"/>
                </a:solidFill>
                <a:latin typeface="+mn-lt"/>
                <a:ea typeface="Lato"/>
                <a:cs typeface="Lato"/>
                <a:sym typeface="Lato"/>
              </a:rPr>
              <a:t>ν</a:t>
            </a:r>
            <a:r>
              <a:rPr lang="el-GR" sz="1800" b="1" i="0" u="none" strike="noStrike" cap="none" dirty="0">
                <a:solidFill>
                  <a:srgbClr val="1E293B"/>
                </a:solidFill>
                <a:latin typeface="+mn-lt"/>
                <a:ea typeface="Lato"/>
                <a:cs typeface="Lato"/>
                <a:sym typeface="Lato"/>
              </a:rPr>
              <a:t>τες</a:t>
            </a:r>
            <a:r>
              <a:rPr lang="en-US" sz="1800" b="1" i="0" u="none" strike="noStrike" cap="none" dirty="0">
                <a:solidFill>
                  <a:srgbClr val="1E293B"/>
                </a:solidFill>
                <a:latin typeface="+mn-lt"/>
                <a:ea typeface="Lato"/>
                <a:cs typeface="Lato"/>
                <a:sym typeface="Lato"/>
              </a:rPr>
              <a:t>:</a:t>
            </a:r>
            <a:r>
              <a:rPr lang="en-US" sz="1800" b="0" i="0" u="none" strike="noStrike" cap="none" dirty="0">
                <a:solidFill>
                  <a:srgbClr val="1E293B"/>
                </a:solidFill>
                <a:latin typeface="+mn-lt"/>
                <a:ea typeface="Lato"/>
                <a:cs typeface="Lato"/>
                <a:sym typeface="Lato"/>
              </a:rPr>
              <a:t> Παύλος Εφραιμίδης, Καθηγητής Δ.Π.Θ.</a:t>
            </a:r>
            <a:endParaRPr lang="el-GR" sz="1800" b="0" i="0" u="none" strike="noStrike" cap="none" dirty="0">
              <a:solidFill>
                <a:srgbClr val="1E293B"/>
              </a:solidFill>
              <a:latin typeface="+mn-lt"/>
              <a:ea typeface="Lato"/>
              <a:cs typeface="Lato"/>
              <a:sym typeface="Lat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l-GR" sz="1800" dirty="0">
                <a:solidFill>
                  <a:srgbClr val="1E293B"/>
                </a:solidFill>
                <a:latin typeface="+mn-lt"/>
                <a:ea typeface="Lato"/>
                <a:cs typeface="Lato"/>
                <a:sym typeface="Lato"/>
              </a:rPr>
              <a:t>            Νικόλαος Παυλίδης, Διδάκτωρ </a:t>
            </a:r>
            <a:endParaRPr lang="el-GR" sz="1800" b="0" i="0" u="none" strike="noStrike" cap="none" dirty="0">
              <a:solidFill>
                <a:srgbClr val="1E293B"/>
              </a:solidFill>
              <a:latin typeface="+mn-lt"/>
              <a:ea typeface="Lato"/>
              <a:cs typeface="Lato"/>
              <a:sym typeface="Lato"/>
            </a:endParaRPr>
          </a:p>
        </p:txBody>
      </p:sp>
      <p:sp>
        <p:nvSpPr>
          <p:cNvPr id="89" name="Google Shape;89;p13"/>
          <p:cNvSpPr txBox="1"/>
          <p:nvPr/>
        </p:nvSpPr>
        <p:spPr>
          <a:xfrm>
            <a:off x="571500" y="5567362"/>
            <a:ext cx="11049000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l-GR" sz="1800" b="0" i="0" u="none" strike="noStrike" cap="none" dirty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Lato"/>
                <a:cs typeface="Lato"/>
                <a:sym typeface="Lato"/>
              </a:rPr>
              <a:t>Μάϊος</a:t>
            </a:r>
            <a:r>
              <a:rPr lang="en-US" sz="1800" b="0" i="0" u="none" strike="noStrike" cap="none" dirty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Lato"/>
                <a:cs typeface="Lato"/>
                <a:sym typeface="Lato"/>
              </a:rPr>
              <a:t> 2026 | </a:t>
            </a:r>
            <a:r>
              <a:rPr lang="en-US" sz="1800" b="0" i="0" u="none" strike="noStrike" cap="none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Lato"/>
                <a:cs typeface="Lato"/>
                <a:sym typeface="Lato"/>
              </a:rPr>
              <a:t>Ξάνθη</a:t>
            </a:r>
            <a:endParaRPr sz="1800" dirty="0">
              <a:solidFill>
                <a:schemeClr val="tx1">
                  <a:lumMod val="50000"/>
                  <a:lumOff val="50000"/>
                </a:schemeClr>
              </a:solidFill>
              <a:latin typeface="+mn-lt"/>
            </a:endParaRPr>
          </a:p>
        </p:txBody>
      </p:sp>
      <p:pic>
        <p:nvPicPr>
          <p:cNvPr id="3" name="Εικόνα 2">
            <a:extLst>
              <a:ext uri="{FF2B5EF4-FFF2-40B4-BE49-F238E27FC236}">
                <a16:creationId xmlns:a16="http://schemas.microsoft.com/office/drawing/2014/main" id="{0A5CC429-FDBC-27B5-0766-761897357A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93457" y="173806"/>
            <a:ext cx="2205085" cy="110254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Ορθογώνιο: Στρογγύλεμα γωνιών 1">
            <a:extLst>
              <a:ext uri="{FF2B5EF4-FFF2-40B4-BE49-F238E27FC236}">
                <a16:creationId xmlns:a16="http://schemas.microsoft.com/office/drawing/2014/main" id="{37E5E8F2-9361-F03B-130B-88077D1CC0A8}"/>
              </a:ext>
            </a:extLst>
          </p:cNvPr>
          <p:cNvSpPr/>
          <p:nvPr/>
        </p:nvSpPr>
        <p:spPr>
          <a:xfrm>
            <a:off x="11223625" y="6353662"/>
            <a:ext cx="793750" cy="285750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 </a:t>
            </a:r>
            <a:r>
              <a:rPr lang="en-US"/>
              <a:t>/ 26</a:t>
            </a:r>
            <a:endParaRPr lang="el-GR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72225" y="1504278"/>
            <a:ext cx="5334000" cy="3499522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4"/>
          <p:cNvSpPr txBox="1"/>
          <p:nvPr/>
        </p:nvSpPr>
        <p:spPr>
          <a:xfrm>
            <a:off x="571500" y="476250"/>
            <a:ext cx="1160145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Σύνοψη</a:t>
            </a:r>
            <a:r>
              <a:rPr lang="en-US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 &amp; </a:t>
            </a:r>
            <a:r>
              <a:rPr lang="en-US" sz="3300" b="1" i="0" u="none" strike="noStrike" cap="none" dirty="0" err="1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Στόχος</a:t>
            </a:r>
            <a:endParaRPr dirty="0">
              <a:latin typeface="+mj-lt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571500" y="1190625"/>
            <a:ext cx="11049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14"/>
          <p:cNvSpPr txBox="1"/>
          <p:nvPr/>
        </p:nvSpPr>
        <p:spPr>
          <a:xfrm>
            <a:off x="6821577" y="1914567"/>
            <a:ext cx="2503489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l-GR" sz="1800" b="1" i="0" u="none" strike="noStrike" cap="none" dirty="0">
                <a:solidFill>
                  <a:srgbClr val="0F172A"/>
                </a:solidFill>
                <a:latin typeface="+mn-lt"/>
                <a:ea typeface="Poppins"/>
                <a:cs typeface="Poppins"/>
                <a:sym typeface="Poppins"/>
              </a:rPr>
              <a:t>Η Απάντηση</a:t>
            </a:r>
            <a:endParaRPr sz="1800" dirty="0">
              <a:latin typeface="+mn-lt"/>
            </a:endParaRPr>
          </a:p>
        </p:txBody>
      </p:sp>
      <p:sp>
        <p:nvSpPr>
          <p:cNvPr id="102" name="Google Shape;102;p14"/>
          <p:cNvSpPr txBox="1"/>
          <p:nvPr/>
        </p:nvSpPr>
        <p:spPr>
          <a:xfrm>
            <a:off x="6461125" y="2673894"/>
            <a:ext cx="4762500" cy="19389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marR="0" lvl="0" indent="-285750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800" b="1" i="0" u="none" strike="noStrike" cap="none" dirty="0" err="1">
                <a:solidFill>
                  <a:schemeClr val="tx1"/>
                </a:solidFill>
                <a:latin typeface="+mn-lt"/>
                <a:ea typeface="Lato"/>
                <a:cs typeface="Lato"/>
                <a:sym typeface="Lato"/>
              </a:rPr>
              <a:t>Βελτίωση</a:t>
            </a:r>
            <a:r>
              <a:rPr lang="en-US" sz="1800" b="1" i="0" u="none" strike="noStrike" cap="none" dirty="0">
                <a:solidFill>
                  <a:schemeClr val="tx1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l-GR" sz="1800" b="1" dirty="0">
                <a:solidFill>
                  <a:schemeClr val="tx1"/>
                </a:solidFill>
                <a:latin typeface="+mn-lt"/>
                <a:ea typeface="Lato"/>
                <a:cs typeface="Lato"/>
                <a:sym typeface="Lato"/>
              </a:rPr>
              <a:t>Α</a:t>
            </a:r>
            <a:r>
              <a:rPr lang="en-US" sz="1800" b="1" i="0" u="none" strike="noStrike" cap="none" dirty="0">
                <a:solidFill>
                  <a:schemeClr val="tx1"/>
                </a:solidFill>
                <a:latin typeface="+mn-lt"/>
                <a:ea typeface="Lato"/>
                <a:cs typeface="Lato"/>
                <a:sym typeface="Lato"/>
              </a:rPr>
              <a:t>π</a:t>
            </a:r>
            <a:r>
              <a:rPr lang="en-US" sz="1800" b="1" i="0" u="none" strike="noStrike" cap="none" dirty="0" err="1">
                <a:solidFill>
                  <a:schemeClr val="tx1"/>
                </a:solidFill>
                <a:latin typeface="+mn-lt"/>
                <a:ea typeface="Lato"/>
                <a:cs typeface="Lato"/>
                <a:sym typeface="Lato"/>
              </a:rPr>
              <a:t>όδοσης</a:t>
            </a:r>
            <a:r>
              <a:rPr lang="en-US" sz="1800" b="1" i="0" u="none" strike="noStrike" cap="none" dirty="0">
                <a:solidFill>
                  <a:schemeClr val="tx1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chemeClr val="tx1"/>
                </a:solidFill>
                <a:latin typeface="+mn-lt"/>
                <a:ea typeface="Lato"/>
                <a:cs typeface="Lato"/>
                <a:sym typeface="Lato"/>
              </a:rPr>
              <a:t>χωρίς</a:t>
            </a:r>
            <a:r>
              <a:rPr lang="en-US" sz="1800" b="0" i="0" u="none" strike="noStrike" cap="none" dirty="0">
                <a:solidFill>
                  <a:schemeClr val="tx1"/>
                </a:solidFill>
                <a:latin typeface="+mn-lt"/>
                <a:ea typeface="Lato"/>
                <a:cs typeface="Lato"/>
                <a:sym typeface="Lato"/>
              </a:rPr>
              <a:t> παραβία</a:t>
            </a:r>
            <a:r>
              <a:rPr lang="en-US" sz="1800" b="0" i="0" u="none" strike="noStrike" cap="none" dirty="0" err="1">
                <a:solidFill>
                  <a:schemeClr val="tx1"/>
                </a:solidFill>
                <a:latin typeface="+mn-lt"/>
                <a:ea typeface="Lato"/>
                <a:cs typeface="Lato"/>
                <a:sym typeface="Lato"/>
              </a:rPr>
              <a:t>ση</a:t>
            </a:r>
            <a:r>
              <a:rPr lang="en-US" sz="1800" b="0" i="0" u="none" strike="noStrike" cap="none" dirty="0">
                <a:solidFill>
                  <a:schemeClr val="tx1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l-GR" sz="1800" b="1" i="0" u="none" strike="noStrike" cap="none" dirty="0">
                <a:solidFill>
                  <a:schemeClr val="tx1"/>
                </a:solidFill>
                <a:latin typeface="+mn-lt"/>
                <a:ea typeface="Lato"/>
                <a:cs typeface="Lato"/>
                <a:sym typeface="Lato"/>
              </a:rPr>
              <a:t>Ι</a:t>
            </a:r>
            <a:r>
              <a:rPr lang="en-US" sz="1800" b="1" i="0" u="none" strike="noStrike" cap="none" dirty="0" err="1">
                <a:solidFill>
                  <a:schemeClr val="tx1"/>
                </a:solidFill>
                <a:latin typeface="+mn-lt"/>
                <a:ea typeface="Lato"/>
                <a:cs typeface="Lato"/>
                <a:sym typeface="Lato"/>
              </a:rPr>
              <a:t>διωτικότητ</a:t>
            </a:r>
            <a:r>
              <a:rPr lang="en-US" sz="1800" b="1" i="0" u="none" strike="noStrike" cap="none" dirty="0">
                <a:solidFill>
                  <a:schemeClr val="tx1"/>
                </a:solidFill>
                <a:latin typeface="+mn-lt"/>
                <a:ea typeface="Lato"/>
                <a:cs typeface="Lato"/>
                <a:sym typeface="Lato"/>
              </a:rPr>
              <a:t>ας </a:t>
            </a:r>
            <a:endParaRPr lang="el-GR" sz="1800" b="1" dirty="0">
              <a:solidFill>
                <a:schemeClr val="tx1"/>
              </a:solidFill>
              <a:latin typeface="+mn-lt"/>
              <a:ea typeface="Lato"/>
              <a:cs typeface="Lato"/>
              <a:sym typeface="Lato"/>
            </a:endParaRPr>
          </a:p>
          <a:p>
            <a:pPr marL="285750" marR="0" lvl="0" indent="-285750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l-GR" sz="1800" dirty="0">
              <a:solidFill>
                <a:schemeClr val="tx1"/>
              </a:solidFill>
              <a:latin typeface="+mn-lt"/>
              <a:ea typeface="Lato"/>
              <a:cs typeface="Lato"/>
              <a:sym typeface="Lato"/>
            </a:endParaRPr>
          </a:p>
          <a:p>
            <a:pPr marL="285750" marR="0" lvl="0" indent="-285750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l-GR" sz="1800" dirty="0">
                <a:solidFill>
                  <a:schemeClr val="tx1"/>
                </a:solidFill>
                <a:latin typeface="+mn-lt"/>
                <a:ea typeface="Lato"/>
                <a:cs typeface="Lato"/>
                <a:sym typeface="Lato"/>
              </a:rPr>
              <a:t>Ανάπτυξη και Αξιολόγηση του Καινοτόμου Πλαισίου </a:t>
            </a:r>
            <a:r>
              <a:rPr lang="en-US" sz="1800" b="1" dirty="0" err="1">
                <a:solidFill>
                  <a:schemeClr val="tx1"/>
                </a:solidFill>
                <a:latin typeface="+mn-lt"/>
                <a:ea typeface="Lato"/>
                <a:cs typeface="Lato"/>
                <a:sym typeface="Lato"/>
              </a:rPr>
              <a:t>FedSMOTE</a:t>
            </a:r>
            <a:r>
              <a:rPr lang="el-GR" sz="1800" dirty="0">
                <a:solidFill>
                  <a:schemeClr val="tx1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endParaRPr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11" name="Ορθογώνιο: Στρογγύλεμα γωνιών 10">
            <a:extLst>
              <a:ext uri="{FF2B5EF4-FFF2-40B4-BE49-F238E27FC236}">
                <a16:creationId xmlns:a16="http://schemas.microsoft.com/office/drawing/2014/main" id="{DB88037D-A17C-365C-2EA6-1361CD9ABD04}"/>
              </a:ext>
            </a:extLst>
          </p:cNvPr>
          <p:cNvSpPr/>
          <p:nvPr/>
        </p:nvSpPr>
        <p:spPr>
          <a:xfrm>
            <a:off x="319188" y="1464172"/>
            <a:ext cx="5334000" cy="2649735"/>
          </a:xfrm>
          <a:prstGeom prst="roundRect">
            <a:avLst>
              <a:gd name="adj" fmla="val 6143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  <p:sp>
        <p:nvSpPr>
          <p:cNvPr id="12" name="Ορθογώνιο: Στρογγύλεμα γωνιών 11">
            <a:extLst>
              <a:ext uri="{FF2B5EF4-FFF2-40B4-BE49-F238E27FC236}">
                <a16:creationId xmlns:a16="http://schemas.microsoft.com/office/drawing/2014/main" id="{2AA46525-6F8D-C8E9-4BA6-D36B21F194F9}"/>
              </a:ext>
            </a:extLst>
          </p:cNvPr>
          <p:cNvSpPr/>
          <p:nvPr/>
        </p:nvSpPr>
        <p:spPr>
          <a:xfrm>
            <a:off x="310169" y="1532066"/>
            <a:ext cx="5352037" cy="3471734"/>
          </a:xfrm>
          <a:prstGeom prst="roundRect">
            <a:avLst>
              <a:gd name="adj" fmla="val 6218"/>
            </a:avLst>
          </a:prstGeom>
          <a:solidFill>
            <a:srgbClr val="FEF6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504000" rtlCol="0" anchor="ctr" anchorCtr="0"/>
          <a:lstStyle/>
          <a:p>
            <a:pPr algn="ctr"/>
            <a:endParaRPr lang="el-GR" dirty="0"/>
          </a:p>
        </p:txBody>
      </p:sp>
      <p:pic>
        <p:nvPicPr>
          <p:cNvPr id="14" name="Γραφικό 13" descr="Προειδοποίηση με συμπαγές γέμισμα">
            <a:extLst>
              <a:ext uri="{FF2B5EF4-FFF2-40B4-BE49-F238E27FC236}">
                <a16:creationId xmlns:a16="http://schemas.microsoft.com/office/drawing/2014/main" id="{3E075A27-858E-4B29-3A61-CD664DB2DB4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90473" y="1862262"/>
            <a:ext cx="445856" cy="44585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3FBEDAC9-C6B3-0CC6-D720-97FA7B7DAD63}"/>
              </a:ext>
            </a:extLst>
          </p:cNvPr>
          <p:cNvSpPr txBox="1"/>
          <p:nvPr/>
        </p:nvSpPr>
        <p:spPr>
          <a:xfrm>
            <a:off x="319188" y="2543237"/>
            <a:ext cx="535203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l-GR" sz="1800" b="1" dirty="0"/>
              <a:t>Ανισορροπία Κλάσεων</a:t>
            </a:r>
            <a:r>
              <a:rPr lang="en-US" sz="1800" b="1" dirty="0"/>
              <a:t>:</a:t>
            </a:r>
            <a:r>
              <a:rPr lang="el-GR" sz="1800" b="1" dirty="0"/>
              <a:t> </a:t>
            </a:r>
            <a:r>
              <a:rPr lang="el-GR" sz="1800" dirty="0"/>
              <a:t>Υποβάθμιση Ομοσπονδιακών Συστημάτων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l-GR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l-GR" sz="1800" dirty="0"/>
              <a:t>Σπανιότητα Κλάσης Ενδιαφέροντος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l-GR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l-GR" sz="1800" b="1" dirty="0"/>
              <a:t>Περιορισμός Ομοσπονδιακής Μάθησης</a:t>
            </a:r>
            <a:r>
              <a:rPr lang="en-US" sz="1800" b="1" dirty="0"/>
              <a:t>: </a:t>
            </a:r>
            <a:r>
              <a:rPr lang="el-GR" sz="1800" dirty="0"/>
              <a:t>Αδυναμία Μεταφοράς Τεχνικών </a:t>
            </a:r>
            <a:r>
              <a:rPr lang="el-GR" sz="1800" dirty="0" err="1"/>
              <a:t>Υπερδειγματοληψίας</a:t>
            </a:r>
            <a:endParaRPr lang="el-GR" sz="18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EC04C11-D817-ED38-ED5E-427FD532B39E}"/>
              </a:ext>
            </a:extLst>
          </p:cNvPr>
          <p:cNvSpPr txBox="1"/>
          <p:nvPr/>
        </p:nvSpPr>
        <p:spPr>
          <a:xfrm>
            <a:off x="1221613" y="1921949"/>
            <a:ext cx="2089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1800" b="1" dirty="0"/>
              <a:t>Η Πρόκληση</a:t>
            </a:r>
          </a:p>
        </p:txBody>
      </p:sp>
      <p:sp>
        <p:nvSpPr>
          <p:cNvPr id="17" name="Ορθογώνιο: Στρογγύλεμα γωνιών 16">
            <a:extLst>
              <a:ext uri="{FF2B5EF4-FFF2-40B4-BE49-F238E27FC236}">
                <a16:creationId xmlns:a16="http://schemas.microsoft.com/office/drawing/2014/main" id="{8C37B28E-7D07-2024-1613-F56C9DA64ED2}"/>
              </a:ext>
            </a:extLst>
          </p:cNvPr>
          <p:cNvSpPr/>
          <p:nvPr/>
        </p:nvSpPr>
        <p:spPr>
          <a:xfrm>
            <a:off x="11223625" y="6353662"/>
            <a:ext cx="793750" cy="285750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 / 26</a:t>
            </a:r>
            <a:endParaRPr lang="el-GR" dirty="0"/>
          </a:p>
        </p:txBody>
      </p:sp>
      <p:pic>
        <p:nvPicPr>
          <p:cNvPr id="4" name="Γραφικό 3" descr="Ασπίδα με σημείο επιλογής με συμπαγές γέμισμα">
            <a:extLst>
              <a:ext uri="{FF2B5EF4-FFF2-40B4-BE49-F238E27FC236}">
                <a16:creationId xmlns:a16="http://schemas.microsoft.com/office/drawing/2014/main" id="{3C7545C1-3820-BCAC-ACD9-BDB76AA7F9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06226" y="1798017"/>
            <a:ext cx="510101" cy="51010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" name="Google Shape;113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5"/>
          <p:cNvSpPr txBox="1"/>
          <p:nvPr/>
        </p:nvSpPr>
        <p:spPr>
          <a:xfrm>
            <a:off x="571500" y="476250"/>
            <a:ext cx="1160145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Ομοσ</a:t>
            </a:r>
            <a:r>
              <a:rPr lang="en-US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πονδιακή Μάθηση (FL)</a:t>
            </a:r>
            <a:endParaRPr dirty="0">
              <a:latin typeface="+mj-lt"/>
            </a:endParaRPr>
          </a:p>
        </p:txBody>
      </p:sp>
      <p:sp>
        <p:nvSpPr>
          <p:cNvPr id="117" name="Google Shape;117;p15"/>
          <p:cNvSpPr/>
          <p:nvPr/>
        </p:nvSpPr>
        <p:spPr>
          <a:xfrm>
            <a:off x="571500" y="1190625"/>
            <a:ext cx="11049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5"/>
          <p:cNvSpPr txBox="1"/>
          <p:nvPr/>
        </p:nvSpPr>
        <p:spPr>
          <a:xfrm>
            <a:off x="1000125" y="2518618"/>
            <a:ext cx="4905375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005088"/>
                </a:solidFill>
                <a:latin typeface="+mn-lt"/>
                <a:ea typeface="Lato"/>
                <a:cs typeface="Lato"/>
                <a:sym typeface="Lato"/>
              </a:rPr>
              <a:t>Απ</a:t>
            </a:r>
            <a:r>
              <a:rPr lang="en-US" sz="1800" b="1" i="0" u="none" strike="noStrike" cap="none" dirty="0" err="1">
                <a:solidFill>
                  <a:srgbClr val="005088"/>
                </a:solidFill>
                <a:latin typeface="+mn-lt"/>
                <a:ea typeface="Lato"/>
                <a:cs typeface="Lato"/>
                <a:sym typeface="Lato"/>
              </a:rPr>
              <a:t>οκεντρωμένη</a:t>
            </a:r>
            <a:r>
              <a:rPr lang="en-US" sz="1800" b="1" i="0" u="none" strike="noStrike" cap="none" dirty="0">
                <a:solidFill>
                  <a:srgbClr val="005088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b="1" i="0" u="none" strike="noStrike" cap="none" dirty="0" err="1">
                <a:solidFill>
                  <a:srgbClr val="005088"/>
                </a:solidFill>
                <a:latin typeface="+mn-lt"/>
                <a:ea typeface="Lato"/>
                <a:cs typeface="Lato"/>
                <a:sym typeface="Lato"/>
              </a:rPr>
              <a:t>Εκ</a:t>
            </a:r>
            <a:r>
              <a:rPr lang="en-US" sz="1800" b="1" i="0" u="none" strike="noStrike" cap="none" dirty="0">
                <a:solidFill>
                  <a:srgbClr val="005088"/>
                </a:solidFill>
                <a:latin typeface="+mn-lt"/>
                <a:ea typeface="Lato"/>
                <a:cs typeface="Lato"/>
                <a:sym typeface="Lato"/>
              </a:rPr>
              <a:t>παίδευση: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Τα δεδομένα παραμένουν στις συσκευές.</a:t>
            </a:r>
            <a:endParaRPr dirty="0">
              <a:latin typeface="+mn-lt"/>
            </a:endParaRPr>
          </a:p>
        </p:txBody>
      </p:sp>
      <p:sp>
        <p:nvSpPr>
          <p:cNvPr id="120" name="Google Shape;120;p15"/>
          <p:cNvSpPr txBox="1"/>
          <p:nvPr/>
        </p:nvSpPr>
        <p:spPr>
          <a:xfrm>
            <a:off x="1000125" y="3349079"/>
            <a:ext cx="4905375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 err="1">
                <a:solidFill>
                  <a:srgbClr val="005088"/>
                </a:solidFill>
                <a:latin typeface="+mn-lt"/>
                <a:ea typeface="Lato"/>
                <a:cs typeface="Lato"/>
                <a:sym typeface="Lato"/>
              </a:rPr>
              <a:t>Αντ</a:t>
            </a:r>
            <a:r>
              <a:rPr lang="en-US" sz="1800" b="1" i="0" u="none" strike="noStrike" cap="none" dirty="0">
                <a:solidFill>
                  <a:srgbClr val="005088"/>
                </a:solidFill>
                <a:latin typeface="+mn-lt"/>
                <a:ea typeface="Lato"/>
                <a:cs typeface="Lato"/>
                <a:sym typeface="Lato"/>
              </a:rPr>
              <a:t>αλλαγή Μοντέλων: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Μόνο </a:t>
            </a:r>
            <a:r>
              <a:rPr lang="el-GR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ενημερώσεις του μοντέλου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δι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ακινούνται στο δίκτυο.</a:t>
            </a:r>
            <a:endParaRPr dirty="0">
              <a:latin typeface="+mn-lt"/>
            </a:endParaRPr>
          </a:p>
        </p:txBody>
      </p:sp>
      <p:sp>
        <p:nvSpPr>
          <p:cNvPr id="121" name="Google Shape;121;p15"/>
          <p:cNvSpPr txBox="1"/>
          <p:nvPr/>
        </p:nvSpPr>
        <p:spPr>
          <a:xfrm>
            <a:off x="1000125" y="4179540"/>
            <a:ext cx="4905375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 err="1">
                <a:solidFill>
                  <a:srgbClr val="005088"/>
                </a:solidFill>
                <a:latin typeface="+mn-lt"/>
                <a:ea typeface="Lato"/>
                <a:cs typeface="Lato"/>
                <a:sym typeface="Lato"/>
              </a:rPr>
              <a:t>FedAvg</a:t>
            </a:r>
            <a:r>
              <a:rPr lang="en-US" sz="1800" b="1" i="0" u="none" strike="noStrike" cap="none" dirty="0">
                <a:solidFill>
                  <a:srgbClr val="005088"/>
                </a:solidFill>
                <a:latin typeface="+mn-lt"/>
                <a:ea typeface="Lato"/>
                <a:cs typeface="Lato"/>
                <a:sym typeface="Lato"/>
              </a:rPr>
              <a:t>: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Ο βα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σικός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α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λγόριθμος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συνάθροισης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.</a:t>
            </a:r>
            <a:endParaRPr dirty="0">
              <a:latin typeface="+mn-lt"/>
            </a:endParaRPr>
          </a:p>
        </p:txBody>
      </p:sp>
      <p:sp>
        <p:nvSpPr>
          <p:cNvPr id="122" name="Google Shape;122;p15"/>
          <p:cNvSpPr txBox="1"/>
          <p:nvPr/>
        </p:nvSpPr>
        <p:spPr>
          <a:xfrm>
            <a:off x="1000125" y="4690020"/>
            <a:ext cx="4905375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 err="1">
                <a:solidFill>
                  <a:srgbClr val="11CAA0"/>
                </a:solidFill>
                <a:latin typeface="+mn-lt"/>
                <a:ea typeface="Lato"/>
                <a:cs typeface="Lato"/>
                <a:sym typeface="Lato"/>
              </a:rPr>
              <a:t>Πλεονέκτημ</a:t>
            </a:r>
            <a:r>
              <a:rPr lang="en-US" sz="1800" b="1" i="0" u="none" strike="noStrike" cap="none" dirty="0">
                <a:solidFill>
                  <a:srgbClr val="11CAA0"/>
                </a:solidFill>
                <a:latin typeface="+mn-lt"/>
                <a:ea typeface="Lato"/>
                <a:cs typeface="Lato"/>
                <a:sym typeface="Lato"/>
              </a:rPr>
              <a:t>α: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Privacy-by-design &amp; Συμμόρφωση με GDPR.</a:t>
            </a:r>
            <a:endParaRPr dirty="0">
              <a:latin typeface="+mn-lt"/>
            </a:endParaRPr>
          </a:p>
        </p:txBody>
      </p:sp>
      <p:pic>
        <p:nvPicPr>
          <p:cNvPr id="123" name="Google Shape;123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645592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" name="Google Shape;124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459509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4273426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6" name="Google Shape;126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63889" y="4823233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Εικόνα 2">
            <a:extLst>
              <a:ext uri="{FF2B5EF4-FFF2-40B4-BE49-F238E27FC236}">
                <a16:creationId xmlns:a16="http://schemas.microsoft.com/office/drawing/2014/main" id="{42EAF6E8-2E7C-EF0B-797B-7CB9555EA4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2331859"/>
            <a:ext cx="5791192" cy="3237276"/>
          </a:xfrm>
          <a:prstGeom prst="rect">
            <a:avLst/>
          </a:prstGeom>
        </p:spPr>
      </p:pic>
      <p:sp>
        <p:nvSpPr>
          <p:cNvPr id="4" name="Ορθογώνιο: Στρογγύλεμα γωνιών 3">
            <a:extLst>
              <a:ext uri="{FF2B5EF4-FFF2-40B4-BE49-F238E27FC236}">
                <a16:creationId xmlns:a16="http://schemas.microsoft.com/office/drawing/2014/main" id="{E650E754-C46E-7E1D-8C93-D5BE180A2C36}"/>
              </a:ext>
            </a:extLst>
          </p:cNvPr>
          <p:cNvSpPr/>
          <p:nvPr/>
        </p:nvSpPr>
        <p:spPr>
          <a:xfrm>
            <a:off x="11223625" y="6353662"/>
            <a:ext cx="793750" cy="285750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 / 26</a:t>
            </a:r>
            <a:endParaRPr lang="el-GR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905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16"/>
          <p:cNvSpPr txBox="1"/>
          <p:nvPr/>
        </p:nvSpPr>
        <p:spPr>
          <a:xfrm>
            <a:off x="571500" y="476250"/>
            <a:ext cx="1160145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Ανισορρο</a:t>
            </a:r>
            <a:r>
              <a:rPr lang="en-US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πία Κλάσεων (Class Imbalance)</a:t>
            </a:r>
            <a:endParaRPr dirty="0">
              <a:latin typeface="+mj-lt"/>
            </a:endParaRPr>
          </a:p>
        </p:txBody>
      </p:sp>
      <p:sp>
        <p:nvSpPr>
          <p:cNvPr id="135" name="Google Shape;135;p16"/>
          <p:cNvSpPr/>
          <p:nvPr/>
        </p:nvSpPr>
        <p:spPr>
          <a:xfrm>
            <a:off x="571500" y="1190625"/>
            <a:ext cx="11049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16"/>
          <p:cNvSpPr txBox="1"/>
          <p:nvPr/>
        </p:nvSpPr>
        <p:spPr>
          <a:xfrm>
            <a:off x="6715125" y="2518618"/>
            <a:ext cx="4905375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l-GR" sz="1800" b="1" i="0" u="none" strike="noStrike" cap="none" dirty="0">
                <a:solidFill>
                  <a:srgbClr val="005088"/>
                </a:solidFill>
                <a:latin typeface="+mn-lt"/>
                <a:ea typeface="Lato"/>
                <a:cs typeface="Lato"/>
                <a:sym typeface="Lato"/>
              </a:rPr>
              <a:t>Αριθμός Δειγμάτων</a:t>
            </a:r>
            <a:r>
              <a:rPr lang="en-US" sz="1800" b="1" i="0" u="none" strike="noStrike" cap="none" dirty="0">
                <a:solidFill>
                  <a:srgbClr val="005088"/>
                </a:solidFill>
                <a:latin typeface="+mn-lt"/>
                <a:ea typeface="Lato"/>
                <a:cs typeface="Lato"/>
                <a:sym typeface="Lato"/>
              </a:rPr>
              <a:t>: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Η π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λειοψηφική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κλάση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κυρι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αρχεί αριθμητικά.</a:t>
            </a:r>
            <a:endParaRPr dirty="0">
              <a:latin typeface="+mn-lt"/>
            </a:endParaRPr>
          </a:p>
        </p:txBody>
      </p:sp>
      <p:sp>
        <p:nvSpPr>
          <p:cNvPr id="138" name="Google Shape;138;p16"/>
          <p:cNvSpPr txBox="1"/>
          <p:nvPr/>
        </p:nvSpPr>
        <p:spPr>
          <a:xfrm>
            <a:off x="6715125" y="3349079"/>
            <a:ext cx="4905375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l-GR" sz="1800" b="1" i="0" u="none" strike="noStrike" cap="none" dirty="0">
                <a:solidFill>
                  <a:srgbClr val="005088"/>
                </a:solidFill>
                <a:latin typeface="+mn-lt"/>
                <a:ea typeface="Lato"/>
                <a:cs typeface="Lato"/>
                <a:sym typeface="Lato"/>
              </a:rPr>
              <a:t>Παράδοξο της Ακρίβειας </a:t>
            </a:r>
            <a:r>
              <a:rPr lang="en-US" sz="1800" b="1" i="0" u="none" strike="noStrike" cap="none" dirty="0">
                <a:solidFill>
                  <a:srgbClr val="005088"/>
                </a:solidFill>
                <a:latin typeface="+mn-lt"/>
                <a:ea typeface="Lato"/>
                <a:cs typeface="Lato"/>
                <a:sym typeface="Lato"/>
              </a:rPr>
              <a:t>: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Υψηλή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α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κρί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βεια αλλά πλήρης αποτυχία στη μειονοτική κλάση.</a:t>
            </a:r>
            <a:endParaRPr dirty="0">
              <a:latin typeface="+mn-lt"/>
            </a:endParaRPr>
          </a:p>
        </p:txBody>
      </p:sp>
      <p:sp>
        <p:nvSpPr>
          <p:cNvPr id="139" name="Google Shape;139;p16"/>
          <p:cNvSpPr txBox="1"/>
          <p:nvPr/>
        </p:nvSpPr>
        <p:spPr>
          <a:xfrm>
            <a:off x="6715125" y="4179540"/>
            <a:ext cx="4905375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l-GR" sz="1800" b="1" i="0" u="none" strike="noStrike" cap="none" dirty="0">
                <a:solidFill>
                  <a:srgbClr val="005088"/>
                </a:solidFill>
                <a:latin typeface="+mn-lt"/>
                <a:ea typeface="Lato"/>
                <a:cs typeface="Lato"/>
                <a:sym typeface="Lato"/>
              </a:rPr>
              <a:t>Ομοσπονδιακό Περιβ</a:t>
            </a:r>
            <a:r>
              <a:rPr lang="el-GR" sz="1800" b="1" dirty="0">
                <a:solidFill>
                  <a:srgbClr val="005088"/>
                </a:solidFill>
                <a:latin typeface="+mn-lt"/>
                <a:ea typeface="Lato"/>
                <a:cs typeface="Lato"/>
                <a:sym typeface="Lato"/>
              </a:rPr>
              <a:t>άλλον</a:t>
            </a:r>
            <a:r>
              <a:rPr lang="en-US" sz="1800" b="1" i="0" u="none" strike="noStrike" cap="none" dirty="0">
                <a:solidFill>
                  <a:srgbClr val="005088"/>
                </a:solidFill>
                <a:latin typeface="+mn-lt"/>
                <a:ea typeface="Lato"/>
                <a:cs typeface="Lato"/>
                <a:sym typeface="Lato"/>
              </a:rPr>
              <a:t>: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Εμφ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ανίζεται ως </a:t>
            </a:r>
            <a:r>
              <a:rPr lang="en-US" sz="1800" b="1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ενδο-κομβική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και </a:t>
            </a:r>
            <a:r>
              <a:rPr lang="en-US" sz="1800" b="1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δια-κομβική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ανισορροπία.</a:t>
            </a:r>
            <a:endParaRPr dirty="0">
              <a:latin typeface="+mn-lt"/>
            </a:endParaRPr>
          </a:p>
        </p:txBody>
      </p:sp>
      <p:sp>
        <p:nvSpPr>
          <p:cNvPr id="140" name="Google Shape;140;p16"/>
          <p:cNvSpPr txBox="1"/>
          <p:nvPr/>
        </p:nvSpPr>
        <p:spPr>
          <a:xfrm>
            <a:off x="6715125" y="5010001"/>
            <a:ext cx="4905375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Οδηγεί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σ</a:t>
            </a:r>
            <a:r>
              <a:rPr lang="el-GR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το φαινόμενο της </a:t>
            </a:r>
            <a:r>
              <a:rPr lang="el-GR" sz="1800" b="1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Απόκλισης των Πελατών</a:t>
            </a:r>
            <a:r>
              <a:rPr lang="el-GR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.</a:t>
            </a:r>
            <a:endParaRPr dirty="0">
              <a:latin typeface="+mn-lt"/>
            </a:endParaRPr>
          </a:p>
        </p:txBody>
      </p:sp>
      <p:pic>
        <p:nvPicPr>
          <p:cNvPr id="141" name="Google Shape;141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2630835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3457277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499" y="4283719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1735" y="5110161"/>
            <a:ext cx="123825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Ορθογώνιο: Στρογγύλεμα γωνιών 3">
            <a:extLst>
              <a:ext uri="{FF2B5EF4-FFF2-40B4-BE49-F238E27FC236}">
                <a16:creationId xmlns:a16="http://schemas.microsoft.com/office/drawing/2014/main" id="{B7717DD9-B24D-E2DF-F89C-441222FBC911}"/>
              </a:ext>
            </a:extLst>
          </p:cNvPr>
          <p:cNvSpPr/>
          <p:nvPr/>
        </p:nvSpPr>
        <p:spPr>
          <a:xfrm>
            <a:off x="11223625" y="6353662"/>
            <a:ext cx="793750" cy="285750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 / 26</a:t>
            </a:r>
            <a:endParaRPr lang="el-GR" dirty="0"/>
          </a:p>
        </p:txBody>
      </p:sp>
      <p:pic>
        <p:nvPicPr>
          <p:cNvPr id="5" name="Εικόνα 4">
            <a:extLst>
              <a:ext uri="{FF2B5EF4-FFF2-40B4-BE49-F238E27FC236}">
                <a16:creationId xmlns:a16="http://schemas.microsoft.com/office/drawing/2014/main" id="{57033CE0-B829-0E0A-81C9-B7F2C46065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6285" y="2002209"/>
            <a:ext cx="3937000" cy="3937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17"/>
          <p:cNvSpPr txBox="1"/>
          <p:nvPr/>
        </p:nvSpPr>
        <p:spPr>
          <a:xfrm>
            <a:off x="571500" y="476250"/>
            <a:ext cx="1160145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Αλγόριθμος</a:t>
            </a:r>
            <a:r>
              <a:rPr lang="en-US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 SMOTE</a:t>
            </a:r>
            <a:endParaRPr dirty="0">
              <a:latin typeface="+mj-lt"/>
            </a:endParaRPr>
          </a:p>
        </p:txBody>
      </p:sp>
      <p:sp>
        <p:nvSpPr>
          <p:cNvPr id="154" name="Google Shape;154;p17"/>
          <p:cNvSpPr/>
          <p:nvPr/>
        </p:nvSpPr>
        <p:spPr>
          <a:xfrm>
            <a:off x="571500" y="1190625"/>
            <a:ext cx="11049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7"/>
          <p:cNvSpPr txBox="1"/>
          <p:nvPr/>
        </p:nvSpPr>
        <p:spPr>
          <a:xfrm>
            <a:off x="1000125" y="1727895"/>
            <a:ext cx="4905375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Παρα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γωγή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συνθετικών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δειγμάτων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μέσω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b="1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γρ</a:t>
            </a:r>
            <a:r>
              <a:rPr lang="en-US" sz="1800" b="1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αμμικής παρεμβολής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.</a:t>
            </a:r>
            <a:endParaRPr dirty="0">
              <a:latin typeface="+mn-lt"/>
            </a:endParaRPr>
          </a:p>
        </p:txBody>
      </p:sp>
      <p:sp>
        <p:nvSpPr>
          <p:cNvPr id="159" name="Google Shape;159;p17"/>
          <p:cNvSpPr txBox="1"/>
          <p:nvPr/>
        </p:nvSpPr>
        <p:spPr>
          <a:xfrm>
            <a:off x="1000124" y="3707430"/>
            <a:ext cx="4905375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Επ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εκτείνει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τα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όρι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α απόφασης της μειονοτικής κλάσης.</a:t>
            </a:r>
            <a:endParaRPr dirty="0">
              <a:latin typeface="+mn-lt"/>
            </a:endParaRPr>
          </a:p>
        </p:txBody>
      </p:sp>
      <p:pic>
        <p:nvPicPr>
          <p:cNvPr id="160" name="Google Shape;160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1847850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1" name="Google Shape;161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63791" y="2930602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" name="Google Shape;162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0124" y="2888078"/>
            <a:ext cx="2468940" cy="291357"/>
          </a:xfrm>
          <a:prstGeom prst="rect">
            <a:avLst/>
          </a:prstGeom>
          <a:noFill/>
          <a:ln>
            <a:noFill/>
          </a:ln>
        </p:spPr>
      </p:pic>
      <p:pic>
        <p:nvPicPr>
          <p:cNvPr id="163" name="Google Shape;163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3827385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Εικόνα 2">
            <a:extLst>
              <a:ext uri="{FF2B5EF4-FFF2-40B4-BE49-F238E27FC236}">
                <a16:creationId xmlns:a16="http://schemas.microsoft.com/office/drawing/2014/main" id="{C2CEA8CE-8C20-171E-8EB6-502AD8D282F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18572" y="1920180"/>
            <a:ext cx="5729246" cy="3449326"/>
          </a:xfrm>
          <a:prstGeom prst="rect">
            <a:avLst/>
          </a:prstGeom>
        </p:spPr>
      </p:pic>
      <p:sp>
        <p:nvSpPr>
          <p:cNvPr id="4" name="Ορθογώνιο: Στρογγύλεμα γωνιών 3">
            <a:extLst>
              <a:ext uri="{FF2B5EF4-FFF2-40B4-BE49-F238E27FC236}">
                <a16:creationId xmlns:a16="http://schemas.microsoft.com/office/drawing/2014/main" id="{5F6561B5-E774-1E7D-5BF8-8D1758AB58E4}"/>
              </a:ext>
            </a:extLst>
          </p:cNvPr>
          <p:cNvSpPr/>
          <p:nvPr/>
        </p:nvSpPr>
        <p:spPr>
          <a:xfrm>
            <a:off x="11223625" y="6353662"/>
            <a:ext cx="793750" cy="285750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 / 26</a:t>
            </a:r>
            <a:endParaRPr lang="el-GR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8" name="Google Shape;168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Google Shape;171;p18"/>
          <p:cNvSpPr txBox="1"/>
          <p:nvPr/>
        </p:nvSpPr>
        <p:spPr>
          <a:xfrm>
            <a:off x="571500" y="476250"/>
            <a:ext cx="1160145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l-GR" sz="3300" b="1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Πλήρως </a:t>
            </a:r>
            <a:r>
              <a:rPr lang="en-US" sz="3300" b="1" i="0" u="none" strike="noStrike" cap="none" dirty="0" err="1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Ομομορφική</a:t>
            </a:r>
            <a:r>
              <a:rPr lang="en-US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 </a:t>
            </a:r>
            <a:r>
              <a:rPr lang="en-US" sz="3300" b="1" i="0" u="none" strike="noStrike" cap="none" dirty="0" err="1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Κρυ</a:t>
            </a:r>
            <a:r>
              <a:rPr lang="en-US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πτογράφηση (FHE)</a:t>
            </a:r>
            <a:endParaRPr dirty="0">
              <a:latin typeface="+mj-lt"/>
            </a:endParaRPr>
          </a:p>
        </p:txBody>
      </p:sp>
      <p:sp>
        <p:nvSpPr>
          <p:cNvPr id="172" name="Google Shape;172;p18"/>
          <p:cNvSpPr/>
          <p:nvPr/>
        </p:nvSpPr>
        <p:spPr>
          <a:xfrm>
            <a:off x="571500" y="1190625"/>
            <a:ext cx="11049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8"/>
          <p:cNvSpPr txBox="1"/>
          <p:nvPr/>
        </p:nvSpPr>
        <p:spPr>
          <a:xfrm>
            <a:off x="6715125" y="2358628"/>
            <a:ext cx="4905375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 err="1">
                <a:solidFill>
                  <a:srgbClr val="005088"/>
                </a:solidFill>
                <a:latin typeface="+mn-lt"/>
                <a:ea typeface="Lato"/>
                <a:cs typeface="Lato"/>
                <a:sym typeface="Lato"/>
              </a:rPr>
              <a:t>Ιδιότητ</a:t>
            </a:r>
            <a:r>
              <a:rPr lang="en-US" sz="1800" b="1" i="0" u="none" strike="noStrike" cap="none" dirty="0">
                <a:solidFill>
                  <a:srgbClr val="005088"/>
                </a:solidFill>
                <a:latin typeface="+mn-lt"/>
                <a:ea typeface="Lato"/>
                <a:cs typeface="Lato"/>
                <a:sym typeface="Lato"/>
              </a:rPr>
              <a:t>α: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Εκτέλεση πράξεων απευθείας σε </a:t>
            </a:r>
            <a:r>
              <a:rPr lang="en-US" sz="1800" b="1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κρυπτογραφημένα δεδομένα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.</a:t>
            </a:r>
            <a:endParaRPr dirty="0">
              <a:latin typeface="+mn-lt"/>
            </a:endParaRPr>
          </a:p>
        </p:txBody>
      </p:sp>
      <p:sp>
        <p:nvSpPr>
          <p:cNvPr id="175" name="Google Shape;175;p18"/>
          <p:cNvSpPr txBox="1"/>
          <p:nvPr/>
        </p:nvSpPr>
        <p:spPr>
          <a:xfrm>
            <a:off x="6715125" y="3189089"/>
            <a:ext cx="4905375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 err="1">
                <a:solidFill>
                  <a:srgbClr val="005088"/>
                </a:solidFill>
                <a:latin typeface="+mn-lt"/>
                <a:ea typeface="Lato"/>
                <a:cs typeface="Lato"/>
                <a:sym typeface="Lato"/>
              </a:rPr>
              <a:t>Σχήμ</a:t>
            </a:r>
            <a:r>
              <a:rPr lang="en-US" sz="1800" b="1" i="0" u="none" strike="noStrike" cap="none" dirty="0">
                <a:solidFill>
                  <a:srgbClr val="005088"/>
                </a:solidFill>
                <a:latin typeface="+mn-lt"/>
                <a:ea typeface="Lato"/>
                <a:cs typeface="Lato"/>
                <a:sym typeface="Lato"/>
              </a:rPr>
              <a:t>α CKKS: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Υποστηρίζει προσεγγιστική αριθμητική κινητής υποδιαστολής.</a:t>
            </a:r>
            <a:endParaRPr dirty="0">
              <a:latin typeface="+mn-lt"/>
            </a:endParaRPr>
          </a:p>
        </p:txBody>
      </p:sp>
      <p:sp>
        <p:nvSpPr>
          <p:cNvPr id="176" name="Google Shape;176;p18"/>
          <p:cNvSpPr txBox="1"/>
          <p:nvPr/>
        </p:nvSpPr>
        <p:spPr>
          <a:xfrm>
            <a:off x="6715125" y="4019550"/>
            <a:ext cx="4905375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Απαρα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ίτητο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γι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α τον πολλαπλασιασμό με το συντελεστή παρεμβολής</a:t>
            </a:r>
            <a:r>
              <a:rPr lang="el-GR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λ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.</a:t>
            </a:r>
            <a:endParaRPr dirty="0">
              <a:latin typeface="+mn-lt"/>
            </a:endParaRPr>
          </a:p>
        </p:txBody>
      </p:sp>
      <p:sp>
        <p:nvSpPr>
          <p:cNvPr id="177" name="Google Shape;177;p18"/>
          <p:cNvSpPr txBox="1"/>
          <p:nvPr/>
        </p:nvSpPr>
        <p:spPr>
          <a:xfrm>
            <a:off x="6715125" y="4850010"/>
            <a:ext cx="4905375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Μηδενική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δι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αρροή πληροφορίας στον διακομιστή.</a:t>
            </a:r>
            <a:endParaRPr dirty="0">
              <a:latin typeface="+mn-lt"/>
            </a:endParaRPr>
          </a:p>
        </p:txBody>
      </p:sp>
      <p:pic>
        <p:nvPicPr>
          <p:cNvPr id="178" name="Google Shape;178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2477690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9" name="Google Shape;179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3309044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0" name="Google Shape;180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4140398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2" name="Google Shape;182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4971752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Εικόνα 2">
            <a:extLst>
              <a:ext uri="{FF2B5EF4-FFF2-40B4-BE49-F238E27FC236}">
                <a16:creationId xmlns:a16="http://schemas.microsoft.com/office/drawing/2014/main" id="{8587CAFC-514E-FCFC-E52D-C1758BB1D2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2539" y="2331974"/>
            <a:ext cx="5911561" cy="3413251"/>
          </a:xfrm>
          <a:prstGeom prst="rect">
            <a:avLst/>
          </a:prstGeom>
        </p:spPr>
      </p:pic>
      <p:sp>
        <p:nvSpPr>
          <p:cNvPr id="4" name="Ορθογώνιο: Στρογγύλεμα γωνιών 3">
            <a:extLst>
              <a:ext uri="{FF2B5EF4-FFF2-40B4-BE49-F238E27FC236}">
                <a16:creationId xmlns:a16="http://schemas.microsoft.com/office/drawing/2014/main" id="{56AA95A4-B31A-C66B-4F96-53F4115A3AF4}"/>
              </a:ext>
            </a:extLst>
          </p:cNvPr>
          <p:cNvSpPr/>
          <p:nvPr/>
        </p:nvSpPr>
        <p:spPr>
          <a:xfrm>
            <a:off x="11223625" y="6353662"/>
            <a:ext cx="793750" cy="285750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6 / 26</a:t>
            </a:r>
            <a:endParaRPr lang="el-GR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" name="Google Shape;187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905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458491"/>
            <a:ext cx="3555950" cy="2969716"/>
          </a:xfrm>
          <a:prstGeom prst="rect">
            <a:avLst/>
          </a:prstGeom>
          <a:noFill/>
          <a:ln>
            <a:noFill/>
          </a:ln>
        </p:spPr>
      </p:pic>
      <p:pic>
        <p:nvPicPr>
          <p:cNvPr id="190" name="Google Shape;190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17950" y="2458491"/>
            <a:ext cx="3555950" cy="2969716"/>
          </a:xfrm>
          <a:prstGeom prst="rect">
            <a:avLst/>
          </a:prstGeom>
          <a:noFill/>
          <a:ln>
            <a:noFill/>
          </a:ln>
        </p:spPr>
      </p:pic>
      <p:pic>
        <p:nvPicPr>
          <p:cNvPr id="191" name="Google Shape;191;p19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064399" y="2469058"/>
            <a:ext cx="3556099" cy="2969716"/>
          </a:xfrm>
          <a:prstGeom prst="rect">
            <a:avLst/>
          </a:prstGeom>
          <a:noFill/>
          <a:ln>
            <a:noFill/>
          </a:ln>
        </p:spPr>
      </p:pic>
      <p:sp>
        <p:nvSpPr>
          <p:cNvPr id="192" name="Google Shape;192;p19"/>
          <p:cNvSpPr txBox="1"/>
          <p:nvPr/>
        </p:nvSpPr>
        <p:spPr>
          <a:xfrm>
            <a:off x="571500" y="476250"/>
            <a:ext cx="1160145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Το</a:t>
            </a:r>
            <a:r>
              <a:rPr lang="en-US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 </a:t>
            </a:r>
            <a:r>
              <a:rPr lang="en-US" sz="3300" b="1" i="0" u="none" strike="noStrike" cap="none" dirty="0" err="1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Πλ</a:t>
            </a:r>
            <a:r>
              <a:rPr lang="en-US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αίσιο FedSMOTE</a:t>
            </a:r>
            <a:endParaRPr dirty="0">
              <a:latin typeface="+mj-lt"/>
            </a:endParaRPr>
          </a:p>
        </p:txBody>
      </p:sp>
      <p:sp>
        <p:nvSpPr>
          <p:cNvPr id="193" name="Google Shape;193;p19"/>
          <p:cNvSpPr/>
          <p:nvPr/>
        </p:nvSpPr>
        <p:spPr>
          <a:xfrm>
            <a:off x="571500" y="1190625"/>
            <a:ext cx="11049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4" name="Google Shape;194;p19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049363" y="2782341"/>
            <a:ext cx="600075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19"/>
          <p:cNvSpPr txBox="1"/>
          <p:nvPr/>
        </p:nvSpPr>
        <p:spPr>
          <a:xfrm>
            <a:off x="782638" y="3449091"/>
            <a:ext cx="3133672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0F172A"/>
                </a:solidFill>
                <a:latin typeface="+mj-lt"/>
                <a:ea typeface="Poppins"/>
                <a:cs typeface="Poppins"/>
                <a:sym typeface="Poppins"/>
              </a:rPr>
              <a:t>Client-Side SMOTE</a:t>
            </a:r>
            <a:endParaRPr sz="1800" dirty="0">
              <a:latin typeface="+mj-lt"/>
            </a:endParaRPr>
          </a:p>
        </p:txBody>
      </p:sp>
      <p:sp>
        <p:nvSpPr>
          <p:cNvPr id="196" name="Google Shape;196;p19"/>
          <p:cNvSpPr txBox="1"/>
          <p:nvPr/>
        </p:nvSpPr>
        <p:spPr>
          <a:xfrm>
            <a:off x="857250" y="3953916"/>
            <a:ext cx="2984450" cy="11633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Το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πική υπερδειγματοληψία σε κάθε κόμβο πριν την εκπαίδευση</a:t>
            </a:r>
            <a:endParaRPr dirty="0">
              <a:latin typeface="+mn-lt"/>
            </a:endParaRPr>
          </a:p>
        </p:txBody>
      </p:sp>
      <p:pic>
        <p:nvPicPr>
          <p:cNvPr id="197" name="Google Shape;197;p19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795813" y="2782341"/>
            <a:ext cx="600075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19"/>
          <p:cNvSpPr txBox="1"/>
          <p:nvPr/>
        </p:nvSpPr>
        <p:spPr>
          <a:xfrm>
            <a:off x="4529089" y="3449091"/>
            <a:ext cx="3133672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0F172A"/>
                </a:solidFill>
                <a:latin typeface="+mj-lt"/>
                <a:ea typeface="Poppins"/>
                <a:cs typeface="Poppins"/>
                <a:sym typeface="Poppins"/>
              </a:rPr>
              <a:t>Trans-Client SMOTE</a:t>
            </a:r>
            <a:endParaRPr sz="1800" dirty="0">
              <a:latin typeface="+mj-lt"/>
            </a:endParaRPr>
          </a:p>
        </p:txBody>
      </p:sp>
      <p:sp>
        <p:nvSpPr>
          <p:cNvPr id="199" name="Google Shape;199;p19"/>
          <p:cNvSpPr txBox="1"/>
          <p:nvPr/>
        </p:nvSpPr>
        <p:spPr>
          <a:xfrm>
            <a:off x="4603700" y="3953916"/>
            <a:ext cx="2984450" cy="11633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l-GR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Δια-κομβική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παραγωγή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δειγμάτων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l-GR" sz="180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στον Κρυπτογραφικό Χώρο</a:t>
            </a:r>
            <a:endParaRPr dirty="0">
              <a:latin typeface="+mn-lt"/>
            </a:endParaRPr>
          </a:p>
        </p:txBody>
      </p:sp>
      <p:pic>
        <p:nvPicPr>
          <p:cNvPr id="200" name="Google Shape;200;p19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604325" y="2782341"/>
            <a:ext cx="476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19"/>
          <p:cNvSpPr txBox="1"/>
          <p:nvPr/>
        </p:nvSpPr>
        <p:spPr>
          <a:xfrm>
            <a:off x="8275535" y="3449091"/>
            <a:ext cx="3133829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0F172A"/>
                </a:solidFill>
                <a:latin typeface="+mj-lt"/>
                <a:ea typeface="Poppins"/>
                <a:cs typeface="Poppins"/>
                <a:sym typeface="Poppins"/>
              </a:rPr>
              <a:t>Privacy Shield</a:t>
            </a:r>
            <a:endParaRPr sz="1800" dirty="0">
              <a:latin typeface="+mj-lt"/>
            </a:endParaRPr>
          </a:p>
        </p:txBody>
      </p:sp>
      <p:sp>
        <p:nvSpPr>
          <p:cNvPr id="202" name="Google Shape;202;p19"/>
          <p:cNvSpPr txBox="1"/>
          <p:nvPr/>
        </p:nvSpPr>
        <p:spPr>
          <a:xfrm>
            <a:off x="8350150" y="3953916"/>
            <a:ext cx="2984599" cy="11633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Χρήση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l-GR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σχήματος 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CKKS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γι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α </a:t>
            </a:r>
            <a:r>
              <a:rPr lang="el-GR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παρεμβολή στον </a:t>
            </a:r>
            <a:r>
              <a:rPr lang="el-GR" sz="180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Κ</a:t>
            </a:r>
            <a:r>
              <a:rPr lang="el-GR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ρυπτογραφικό </a:t>
            </a:r>
            <a:r>
              <a:rPr lang="el-GR" sz="180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Χ</a:t>
            </a:r>
            <a:r>
              <a:rPr lang="el-GR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ώρο</a:t>
            </a:r>
            <a:endParaRPr dirty="0">
              <a:latin typeface="+mn-lt"/>
            </a:endParaRPr>
          </a:p>
        </p:txBody>
      </p:sp>
      <p:sp>
        <p:nvSpPr>
          <p:cNvPr id="2" name="Ορθογώνιο: Στρογγύλεμα γωνιών 1">
            <a:extLst>
              <a:ext uri="{FF2B5EF4-FFF2-40B4-BE49-F238E27FC236}">
                <a16:creationId xmlns:a16="http://schemas.microsoft.com/office/drawing/2014/main" id="{C33084D2-B385-1A4B-19B5-09FDDB520F10}"/>
              </a:ext>
            </a:extLst>
          </p:cNvPr>
          <p:cNvSpPr/>
          <p:nvPr/>
        </p:nvSpPr>
        <p:spPr>
          <a:xfrm>
            <a:off x="11223625" y="6353662"/>
            <a:ext cx="793750" cy="285750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7 / 26</a:t>
            </a:r>
            <a:endParaRPr lang="el-GR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" name="Google Shape;207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20"/>
          <p:cNvSpPr txBox="1"/>
          <p:nvPr/>
        </p:nvSpPr>
        <p:spPr>
          <a:xfrm>
            <a:off x="571500" y="476250"/>
            <a:ext cx="1160145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Client-Side SMOTE</a:t>
            </a:r>
            <a:r>
              <a:rPr lang="el-GR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 (1/2)</a:t>
            </a:r>
            <a:endParaRPr dirty="0">
              <a:latin typeface="+mj-lt"/>
            </a:endParaRPr>
          </a:p>
        </p:txBody>
      </p:sp>
      <p:sp>
        <p:nvSpPr>
          <p:cNvPr id="210" name="Google Shape;210;p20"/>
          <p:cNvSpPr/>
          <p:nvPr/>
        </p:nvSpPr>
        <p:spPr>
          <a:xfrm>
            <a:off x="571500" y="1190625"/>
            <a:ext cx="11049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20"/>
          <p:cNvSpPr txBox="1"/>
          <p:nvPr/>
        </p:nvSpPr>
        <p:spPr>
          <a:xfrm>
            <a:off x="1000125" y="2762398"/>
            <a:ext cx="10620375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 err="1">
                <a:solidFill>
                  <a:srgbClr val="005088"/>
                </a:solidFill>
                <a:latin typeface="+mn-lt"/>
                <a:ea typeface="Lato"/>
                <a:cs typeface="Lato"/>
                <a:sym typeface="Lato"/>
              </a:rPr>
              <a:t>Λειτουργί</a:t>
            </a:r>
            <a:r>
              <a:rPr lang="en-US" sz="1800" b="1" i="0" u="none" strike="noStrike" cap="none" dirty="0">
                <a:solidFill>
                  <a:srgbClr val="005088"/>
                </a:solidFill>
                <a:latin typeface="+mn-lt"/>
                <a:ea typeface="Lato"/>
                <a:cs typeface="Lato"/>
                <a:sym typeface="Lato"/>
              </a:rPr>
              <a:t>α: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Κάθε πελάτης εξισορροπεί το τοπικό του σύνολο αυτόνομα.</a:t>
            </a:r>
            <a:endParaRPr dirty="0">
              <a:latin typeface="+mn-lt"/>
            </a:endParaRPr>
          </a:p>
        </p:txBody>
      </p:sp>
      <p:sp>
        <p:nvSpPr>
          <p:cNvPr id="212" name="Google Shape;212;p20"/>
          <p:cNvSpPr txBox="1"/>
          <p:nvPr/>
        </p:nvSpPr>
        <p:spPr>
          <a:xfrm>
            <a:off x="1000125" y="3272879"/>
            <a:ext cx="10620375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 err="1">
                <a:solidFill>
                  <a:srgbClr val="005088"/>
                </a:solidFill>
                <a:latin typeface="+mn-lt"/>
                <a:ea typeface="Lato"/>
                <a:cs typeface="Lato"/>
                <a:sym typeface="Lato"/>
              </a:rPr>
              <a:t>Πλεονέκτημ</a:t>
            </a:r>
            <a:r>
              <a:rPr lang="en-US" sz="1800" b="1" i="0" u="none" strike="noStrike" cap="none" dirty="0">
                <a:solidFill>
                  <a:srgbClr val="005088"/>
                </a:solidFill>
                <a:latin typeface="+mn-lt"/>
                <a:ea typeface="Lato"/>
                <a:cs typeface="Lato"/>
                <a:sym typeface="Lato"/>
              </a:rPr>
              <a:t>α: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Μηδενικό επικοινωνιακό κόστος, απλή υλοποίηση.</a:t>
            </a:r>
            <a:endParaRPr dirty="0">
              <a:latin typeface="+mn-lt"/>
            </a:endParaRPr>
          </a:p>
        </p:txBody>
      </p:sp>
      <p:sp>
        <p:nvSpPr>
          <p:cNvPr id="213" name="Google Shape;213;p20"/>
          <p:cNvSpPr txBox="1"/>
          <p:nvPr/>
        </p:nvSpPr>
        <p:spPr>
          <a:xfrm>
            <a:off x="1000125" y="3783359"/>
            <a:ext cx="10620375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 err="1">
                <a:solidFill>
                  <a:srgbClr val="11CAA0"/>
                </a:solidFill>
                <a:latin typeface="+mn-lt"/>
                <a:ea typeface="Lato"/>
                <a:cs typeface="Lato"/>
                <a:sym typeface="Lato"/>
              </a:rPr>
              <a:t>Περιορισμός</a:t>
            </a:r>
            <a:r>
              <a:rPr lang="en-US" sz="1800" b="1" i="0" u="none" strike="noStrike" cap="none" dirty="0">
                <a:solidFill>
                  <a:srgbClr val="11CAA0"/>
                </a:solidFill>
                <a:latin typeface="+mn-lt"/>
                <a:ea typeface="Lato"/>
                <a:cs typeface="Lato"/>
                <a:sym typeface="Lato"/>
              </a:rPr>
              <a:t>: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Απ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οτυγχάνει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σε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b="1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α</a:t>
            </a:r>
            <a:r>
              <a:rPr lang="en-US" sz="1800" b="1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κρ</a:t>
            </a:r>
            <a:r>
              <a:rPr lang="en-US" sz="1800" b="1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αία ετερογένεια</a:t>
            </a:r>
            <a:r>
              <a:rPr lang="el-GR" sz="1800" b="1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.</a:t>
            </a:r>
            <a:endParaRPr dirty="0">
              <a:latin typeface="+mn-lt"/>
            </a:endParaRPr>
          </a:p>
        </p:txBody>
      </p:sp>
      <p:sp>
        <p:nvSpPr>
          <p:cNvPr id="214" name="Google Shape;214;p20"/>
          <p:cNvSpPr txBox="1"/>
          <p:nvPr/>
        </p:nvSpPr>
        <p:spPr>
          <a:xfrm>
            <a:off x="1000124" y="4228853"/>
            <a:ext cx="10620375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 err="1">
                <a:solidFill>
                  <a:srgbClr val="FF0000"/>
                </a:solidFill>
                <a:latin typeface="+mn-lt"/>
                <a:ea typeface="Lato"/>
                <a:cs typeface="Lato"/>
                <a:sym typeface="Lato"/>
              </a:rPr>
              <a:t>Κίνδυνος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το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πικής υπερπροσαρμογής</a:t>
            </a:r>
            <a:r>
              <a:rPr lang="el-GR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.</a:t>
            </a:r>
            <a:endParaRPr dirty="0">
              <a:latin typeface="+mn-lt"/>
            </a:endParaRPr>
          </a:p>
        </p:txBody>
      </p:sp>
      <p:pic>
        <p:nvPicPr>
          <p:cNvPr id="215" name="Google Shape;215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810023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7" name="Google Shape;217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320504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8" name="Google Shape;218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830984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9" name="Google Shape;219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4341464"/>
            <a:ext cx="123825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Ορθογώνιο: Στρογγύλεμα γωνιών 3">
            <a:extLst>
              <a:ext uri="{FF2B5EF4-FFF2-40B4-BE49-F238E27FC236}">
                <a16:creationId xmlns:a16="http://schemas.microsoft.com/office/drawing/2014/main" id="{86D1ABB0-8914-AD05-E0F0-2CF1C13BAB2D}"/>
              </a:ext>
            </a:extLst>
          </p:cNvPr>
          <p:cNvSpPr/>
          <p:nvPr/>
        </p:nvSpPr>
        <p:spPr>
          <a:xfrm>
            <a:off x="11223625" y="6353662"/>
            <a:ext cx="793750" cy="285750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8 / 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6">
          <a:extLst>
            <a:ext uri="{FF2B5EF4-FFF2-40B4-BE49-F238E27FC236}">
              <a16:creationId xmlns:a16="http://schemas.microsoft.com/office/drawing/2014/main" id="{4921A4E6-F2FB-69AE-C5AC-8E8F319F4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" name="Google Shape;207;p20" descr="image.png">
            <a:extLst>
              <a:ext uri="{FF2B5EF4-FFF2-40B4-BE49-F238E27FC236}">
                <a16:creationId xmlns:a16="http://schemas.microsoft.com/office/drawing/2014/main" id="{05DA4BEB-66B8-18FD-6978-7EDB48EBDF4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20">
            <a:extLst>
              <a:ext uri="{FF2B5EF4-FFF2-40B4-BE49-F238E27FC236}">
                <a16:creationId xmlns:a16="http://schemas.microsoft.com/office/drawing/2014/main" id="{56479D45-E4E1-6566-F6A4-79B86A4CC4EE}"/>
              </a:ext>
            </a:extLst>
          </p:cNvPr>
          <p:cNvSpPr txBox="1"/>
          <p:nvPr/>
        </p:nvSpPr>
        <p:spPr>
          <a:xfrm>
            <a:off x="571500" y="476250"/>
            <a:ext cx="1160145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Client-Side SMOTE</a:t>
            </a:r>
            <a:r>
              <a:rPr lang="el-GR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 (2/2)</a:t>
            </a:r>
            <a:endParaRPr dirty="0">
              <a:latin typeface="+mj-lt"/>
            </a:endParaRPr>
          </a:p>
        </p:txBody>
      </p:sp>
      <p:sp>
        <p:nvSpPr>
          <p:cNvPr id="210" name="Google Shape;210;p20">
            <a:extLst>
              <a:ext uri="{FF2B5EF4-FFF2-40B4-BE49-F238E27FC236}">
                <a16:creationId xmlns:a16="http://schemas.microsoft.com/office/drawing/2014/main" id="{7AD54BFD-5452-39A5-27ED-CCF90ED4C11E}"/>
              </a:ext>
            </a:extLst>
          </p:cNvPr>
          <p:cNvSpPr/>
          <p:nvPr/>
        </p:nvSpPr>
        <p:spPr>
          <a:xfrm>
            <a:off x="571500" y="1190625"/>
            <a:ext cx="11049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Εικόνα 2">
            <a:extLst>
              <a:ext uri="{FF2B5EF4-FFF2-40B4-BE49-F238E27FC236}">
                <a16:creationId xmlns:a16="http://schemas.microsoft.com/office/drawing/2014/main" id="{A6847812-DC21-7169-6785-30A160978A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2815" y="1297612"/>
            <a:ext cx="8707243" cy="5122238"/>
          </a:xfrm>
          <a:prstGeom prst="rect">
            <a:avLst/>
          </a:prstGeom>
        </p:spPr>
      </p:pic>
      <p:sp>
        <p:nvSpPr>
          <p:cNvPr id="5" name="Ορθογώνιο: Στρογγύλεμα γωνιών 4">
            <a:extLst>
              <a:ext uri="{FF2B5EF4-FFF2-40B4-BE49-F238E27FC236}">
                <a16:creationId xmlns:a16="http://schemas.microsoft.com/office/drawing/2014/main" id="{0F327C6B-5CCE-3D29-B166-04987297556D}"/>
              </a:ext>
            </a:extLst>
          </p:cNvPr>
          <p:cNvSpPr/>
          <p:nvPr/>
        </p:nvSpPr>
        <p:spPr>
          <a:xfrm>
            <a:off x="11223625" y="6353662"/>
            <a:ext cx="793750" cy="285750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9 / 26</a:t>
            </a: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29672924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4" name="Google Shape;224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6" name="Google Shape;226;p21"/>
          <p:cNvSpPr txBox="1"/>
          <p:nvPr/>
        </p:nvSpPr>
        <p:spPr>
          <a:xfrm>
            <a:off x="571500" y="476250"/>
            <a:ext cx="1160145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Trans-Client SMOTE</a:t>
            </a:r>
            <a:r>
              <a:rPr lang="el-GR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 (1/3)</a:t>
            </a:r>
            <a:endParaRPr dirty="0">
              <a:latin typeface="+mj-lt"/>
            </a:endParaRPr>
          </a:p>
        </p:txBody>
      </p:sp>
      <p:sp>
        <p:nvSpPr>
          <p:cNvPr id="227" name="Google Shape;227;p21"/>
          <p:cNvSpPr/>
          <p:nvPr/>
        </p:nvSpPr>
        <p:spPr>
          <a:xfrm>
            <a:off x="571500" y="1190625"/>
            <a:ext cx="11049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21"/>
          <p:cNvSpPr txBox="1"/>
          <p:nvPr/>
        </p:nvSpPr>
        <p:spPr>
          <a:xfrm>
            <a:off x="571500" y="2369046"/>
            <a:ext cx="11049000" cy="4524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 err="1">
                <a:solidFill>
                  <a:srgbClr val="64748B"/>
                </a:solidFill>
                <a:latin typeface="+mj-lt"/>
                <a:ea typeface="Lato"/>
                <a:cs typeface="Lato"/>
                <a:sym typeface="Lato"/>
              </a:rPr>
              <a:t>Συνεργ</a:t>
            </a:r>
            <a:r>
              <a:rPr lang="en-US" sz="2100" b="0" i="0" u="none" strike="noStrike" cap="none" dirty="0">
                <a:solidFill>
                  <a:srgbClr val="64748B"/>
                </a:solidFill>
                <a:latin typeface="+mj-lt"/>
                <a:ea typeface="Lato"/>
                <a:cs typeface="Lato"/>
                <a:sym typeface="Lato"/>
              </a:rPr>
              <a:t>ατική Υπερδειγματοληψία με Ασφάλεια</a:t>
            </a:r>
            <a:endParaRPr dirty="0">
              <a:latin typeface="+mj-lt"/>
            </a:endParaRPr>
          </a:p>
        </p:txBody>
      </p:sp>
      <p:sp>
        <p:nvSpPr>
          <p:cNvPr id="229" name="Google Shape;229;p21"/>
          <p:cNvSpPr txBox="1"/>
          <p:nvPr/>
        </p:nvSpPr>
        <p:spPr>
          <a:xfrm>
            <a:off x="1000125" y="3180457"/>
            <a:ext cx="10620375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Οι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κόμ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βοι μοιράζονται την "κρυπτογραφημένη γνώση" της μειονοτικής κλάσης.</a:t>
            </a:r>
            <a:endParaRPr dirty="0">
              <a:latin typeface="+mn-lt"/>
            </a:endParaRPr>
          </a:p>
        </p:txBody>
      </p:sp>
      <p:sp>
        <p:nvSpPr>
          <p:cNvPr id="230" name="Google Shape;230;p21"/>
          <p:cNvSpPr txBox="1"/>
          <p:nvPr/>
        </p:nvSpPr>
        <p:spPr>
          <a:xfrm>
            <a:off x="1000125" y="3690937"/>
            <a:ext cx="10620375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Ο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δι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ακομιστής δημιουργεί συνθετικά δείγματα παρεμβάλλοντας σημεία από </a:t>
            </a:r>
            <a:r>
              <a:rPr lang="en-US" sz="1800" b="1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διαφορετικούς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πελάτες.</a:t>
            </a:r>
            <a:endParaRPr dirty="0">
              <a:latin typeface="+mn-lt"/>
            </a:endParaRPr>
          </a:p>
        </p:txBody>
      </p:sp>
      <p:sp>
        <p:nvSpPr>
          <p:cNvPr id="231" name="Google Shape;231;p21"/>
          <p:cNvSpPr txBox="1"/>
          <p:nvPr/>
        </p:nvSpPr>
        <p:spPr>
          <a:xfrm>
            <a:off x="1000124" y="4201417"/>
            <a:ext cx="10620375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Δι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ασφαλίζεται η </a:t>
            </a:r>
            <a:r>
              <a:rPr lang="en-US" sz="1800" b="1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παγκόσμια ποικιλομορφί</a:t>
            </a:r>
            <a:r>
              <a:rPr lang="el-GR" sz="1800" b="1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α.</a:t>
            </a:r>
            <a:endParaRPr dirty="0">
              <a:latin typeface="+mn-lt"/>
            </a:endParaRPr>
          </a:p>
        </p:txBody>
      </p:sp>
      <p:pic>
        <p:nvPicPr>
          <p:cNvPr id="233" name="Google Shape;233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300412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Google Shape;234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813870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5" name="Google Shape;235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63889" y="4295303"/>
            <a:ext cx="123825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Ορθογώνιο: Στρογγύλεμα γωνιών 1">
            <a:extLst>
              <a:ext uri="{FF2B5EF4-FFF2-40B4-BE49-F238E27FC236}">
                <a16:creationId xmlns:a16="http://schemas.microsoft.com/office/drawing/2014/main" id="{537565B9-1FC1-124F-7105-AE764FA6B26A}"/>
              </a:ext>
            </a:extLst>
          </p:cNvPr>
          <p:cNvSpPr/>
          <p:nvPr/>
        </p:nvSpPr>
        <p:spPr>
          <a:xfrm>
            <a:off x="11163300" y="6353662"/>
            <a:ext cx="854075" cy="285750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10 / 26</a:t>
            </a:r>
            <a:endParaRPr lang="el-GR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>
          <a:extLst>
            <a:ext uri="{FF2B5EF4-FFF2-40B4-BE49-F238E27FC236}">
              <a16:creationId xmlns:a16="http://schemas.microsoft.com/office/drawing/2014/main" id="{B013DFD4-2D71-7476-12A0-06104FE20E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4" name="Google Shape;224;p21" descr="image.png">
            <a:extLst>
              <a:ext uri="{FF2B5EF4-FFF2-40B4-BE49-F238E27FC236}">
                <a16:creationId xmlns:a16="http://schemas.microsoft.com/office/drawing/2014/main" id="{6DB4CAD2-B70E-C8FA-9546-7F56978F5C6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6" name="Google Shape;226;p21">
            <a:extLst>
              <a:ext uri="{FF2B5EF4-FFF2-40B4-BE49-F238E27FC236}">
                <a16:creationId xmlns:a16="http://schemas.microsoft.com/office/drawing/2014/main" id="{F7CF4A15-1F0F-F3AA-5492-9066ACBB1568}"/>
              </a:ext>
            </a:extLst>
          </p:cNvPr>
          <p:cNvSpPr txBox="1"/>
          <p:nvPr/>
        </p:nvSpPr>
        <p:spPr>
          <a:xfrm>
            <a:off x="571500" y="476250"/>
            <a:ext cx="11601450" cy="723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Trans-Client SMOTE</a:t>
            </a:r>
            <a:r>
              <a:rPr lang="el-GR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 (2/3)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+mj-lt"/>
            </a:endParaRPr>
          </a:p>
        </p:txBody>
      </p:sp>
      <p:sp>
        <p:nvSpPr>
          <p:cNvPr id="227" name="Google Shape;227;p21">
            <a:extLst>
              <a:ext uri="{FF2B5EF4-FFF2-40B4-BE49-F238E27FC236}">
                <a16:creationId xmlns:a16="http://schemas.microsoft.com/office/drawing/2014/main" id="{D8933C57-5FCD-D177-6D70-883A7F9B0F1C}"/>
              </a:ext>
            </a:extLst>
          </p:cNvPr>
          <p:cNvSpPr/>
          <p:nvPr/>
        </p:nvSpPr>
        <p:spPr>
          <a:xfrm>
            <a:off x="571500" y="1190625"/>
            <a:ext cx="11049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Εικόνα 2">
            <a:extLst>
              <a:ext uri="{FF2B5EF4-FFF2-40B4-BE49-F238E27FC236}">
                <a16:creationId xmlns:a16="http://schemas.microsoft.com/office/drawing/2014/main" id="{985D3241-BBD3-9E66-8918-CA48794018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4104" y="1241163"/>
            <a:ext cx="8723791" cy="5178687"/>
          </a:xfrm>
          <a:prstGeom prst="rect">
            <a:avLst/>
          </a:prstGeom>
        </p:spPr>
      </p:pic>
      <p:sp>
        <p:nvSpPr>
          <p:cNvPr id="4" name="Ορθογώνιο: Στρογγύλεμα γωνιών 3">
            <a:extLst>
              <a:ext uri="{FF2B5EF4-FFF2-40B4-BE49-F238E27FC236}">
                <a16:creationId xmlns:a16="http://schemas.microsoft.com/office/drawing/2014/main" id="{C322CCF6-3CA1-2822-490C-E0BDC7D156D2}"/>
              </a:ext>
            </a:extLst>
          </p:cNvPr>
          <p:cNvSpPr/>
          <p:nvPr/>
        </p:nvSpPr>
        <p:spPr>
          <a:xfrm>
            <a:off x="11183937" y="6381750"/>
            <a:ext cx="873125" cy="257662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11 / 26</a:t>
            </a: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4207024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>
          <a:extLst>
            <a:ext uri="{FF2B5EF4-FFF2-40B4-BE49-F238E27FC236}">
              <a16:creationId xmlns:a16="http://schemas.microsoft.com/office/drawing/2014/main" id="{8151308C-0128-172B-7305-811DE7F809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4" name="Google Shape;224;p21" descr="image.png">
            <a:extLst>
              <a:ext uri="{FF2B5EF4-FFF2-40B4-BE49-F238E27FC236}">
                <a16:creationId xmlns:a16="http://schemas.microsoft.com/office/drawing/2014/main" id="{42F5BDC6-D470-C50C-60AC-5B1690C01FC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905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6" name="Google Shape;226;p21">
            <a:extLst>
              <a:ext uri="{FF2B5EF4-FFF2-40B4-BE49-F238E27FC236}">
                <a16:creationId xmlns:a16="http://schemas.microsoft.com/office/drawing/2014/main" id="{545B0646-0517-895D-2F7F-12EC4D334539}"/>
              </a:ext>
            </a:extLst>
          </p:cNvPr>
          <p:cNvSpPr txBox="1"/>
          <p:nvPr/>
        </p:nvSpPr>
        <p:spPr>
          <a:xfrm>
            <a:off x="571500" y="476250"/>
            <a:ext cx="1160145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Trans-Client SMOTE</a:t>
            </a:r>
            <a:r>
              <a:rPr lang="el-GR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 (3/3)</a:t>
            </a:r>
            <a:endParaRPr dirty="0">
              <a:latin typeface="+mj-lt"/>
            </a:endParaRPr>
          </a:p>
        </p:txBody>
      </p:sp>
      <p:sp>
        <p:nvSpPr>
          <p:cNvPr id="227" name="Google Shape;227;p21">
            <a:extLst>
              <a:ext uri="{FF2B5EF4-FFF2-40B4-BE49-F238E27FC236}">
                <a16:creationId xmlns:a16="http://schemas.microsoft.com/office/drawing/2014/main" id="{F868C24E-DA96-E669-91BE-5DCBEC1558B4}"/>
              </a:ext>
            </a:extLst>
          </p:cNvPr>
          <p:cNvSpPr/>
          <p:nvPr/>
        </p:nvSpPr>
        <p:spPr>
          <a:xfrm>
            <a:off x="571500" y="1190625"/>
            <a:ext cx="11049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" name="Εικόνα 3">
            <a:extLst>
              <a:ext uri="{FF2B5EF4-FFF2-40B4-BE49-F238E27FC236}">
                <a16:creationId xmlns:a16="http://schemas.microsoft.com/office/drawing/2014/main" id="{C1745838-A4BD-0C76-822E-8DCDC676FE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8776" y="1335997"/>
            <a:ext cx="9858772" cy="4846276"/>
          </a:xfrm>
          <a:prstGeom prst="rect">
            <a:avLst/>
          </a:prstGeom>
        </p:spPr>
      </p:pic>
      <p:sp>
        <p:nvSpPr>
          <p:cNvPr id="7" name="Ορθογώνιο: Στρογγύλεμα γωνιών 6">
            <a:extLst>
              <a:ext uri="{FF2B5EF4-FFF2-40B4-BE49-F238E27FC236}">
                <a16:creationId xmlns:a16="http://schemas.microsoft.com/office/drawing/2014/main" id="{1DD0938A-88AE-3E6B-3115-CFEA6D751EF3}"/>
              </a:ext>
            </a:extLst>
          </p:cNvPr>
          <p:cNvSpPr/>
          <p:nvPr/>
        </p:nvSpPr>
        <p:spPr>
          <a:xfrm>
            <a:off x="11183937" y="6381750"/>
            <a:ext cx="873125" cy="257662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12 / 26</a:t>
            </a: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37329313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6" name="Google Shape;256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8" name="Google Shape;258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229891"/>
            <a:ext cx="5334000" cy="3426916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2229891"/>
            <a:ext cx="5334000" cy="3426916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23"/>
          <p:cNvSpPr txBox="1"/>
          <p:nvPr/>
        </p:nvSpPr>
        <p:spPr>
          <a:xfrm>
            <a:off x="571500" y="476250"/>
            <a:ext cx="1160145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l-GR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Σύνολα Δεδομένων</a:t>
            </a:r>
            <a:endParaRPr dirty="0">
              <a:latin typeface="+mj-lt"/>
            </a:endParaRPr>
          </a:p>
        </p:txBody>
      </p:sp>
      <p:sp>
        <p:nvSpPr>
          <p:cNvPr id="261" name="Google Shape;261;p23"/>
          <p:cNvSpPr/>
          <p:nvPr/>
        </p:nvSpPr>
        <p:spPr>
          <a:xfrm>
            <a:off x="571500" y="1190625"/>
            <a:ext cx="11049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62" name="Google Shape;262;p2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971800" y="2553741"/>
            <a:ext cx="53340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63" name="Google Shape;263;p23"/>
          <p:cNvSpPr txBox="1"/>
          <p:nvPr/>
        </p:nvSpPr>
        <p:spPr>
          <a:xfrm>
            <a:off x="738187" y="3220491"/>
            <a:ext cx="5000625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0F172A"/>
                </a:solidFill>
                <a:latin typeface="+mj-lt"/>
                <a:ea typeface="Poppins"/>
                <a:cs typeface="Poppins"/>
                <a:sym typeface="Poppins"/>
              </a:rPr>
              <a:t>Credit Card Fraud</a:t>
            </a:r>
            <a:r>
              <a:rPr lang="el-GR" sz="1800" b="1" i="0" u="none" strike="noStrike" cap="none" dirty="0">
                <a:solidFill>
                  <a:srgbClr val="0F172A"/>
                </a:solidFill>
                <a:latin typeface="+mj-lt"/>
                <a:ea typeface="Poppins"/>
                <a:cs typeface="Poppins"/>
                <a:sym typeface="Poppins"/>
              </a:rPr>
              <a:t> </a:t>
            </a:r>
            <a:r>
              <a:rPr lang="en-US" sz="1800" b="1" i="0" u="none" strike="noStrike" cap="none" dirty="0">
                <a:solidFill>
                  <a:srgbClr val="0F172A"/>
                </a:solidFill>
                <a:latin typeface="+mj-lt"/>
                <a:ea typeface="Poppins"/>
                <a:cs typeface="Poppins"/>
                <a:sym typeface="Poppins"/>
              </a:rPr>
              <a:t>Detection</a:t>
            </a:r>
            <a:endParaRPr sz="1800" dirty="0">
              <a:latin typeface="+mj-lt"/>
            </a:endParaRPr>
          </a:p>
        </p:txBody>
      </p:sp>
      <p:sp>
        <p:nvSpPr>
          <p:cNvPr id="264" name="Google Shape;264;p23"/>
          <p:cNvSpPr txBox="1"/>
          <p:nvPr/>
        </p:nvSpPr>
        <p:spPr>
          <a:xfrm>
            <a:off x="857250" y="3565326"/>
            <a:ext cx="4762500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284,807 </a:t>
            </a:r>
            <a:r>
              <a:rPr lang="el-GR" sz="180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Νόμιμες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Συν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αλλαγές</a:t>
            </a:r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492</a:t>
            </a:r>
            <a:r>
              <a:rPr lang="el-GR" sz="180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Απάτες </a:t>
            </a:r>
            <a:endParaRPr lang="en-US" sz="1800" dirty="0">
              <a:solidFill>
                <a:srgbClr val="334155"/>
              </a:solidFill>
              <a:latin typeface="+mn-lt"/>
              <a:ea typeface="Lato"/>
              <a:cs typeface="Lato"/>
              <a:sym typeface="Lato"/>
            </a:endParaRPr>
          </a:p>
        </p:txBody>
      </p:sp>
      <p:sp>
        <p:nvSpPr>
          <p:cNvPr id="265" name="Google Shape;265;p23"/>
          <p:cNvSpPr txBox="1"/>
          <p:nvPr/>
        </p:nvSpPr>
        <p:spPr>
          <a:xfrm>
            <a:off x="857249" y="4488090"/>
            <a:ext cx="4762500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l-GR" sz="1800" b="1" i="0" u="none" strike="noStrike" cap="none" dirty="0">
                <a:solidFill>
                  <a:srgbClr val="11CAA0"/>
                </a:solidFill>
                <a:latin typeface="+mn-lt"/>
                <a:ea typeface="Lato"/>
                <a:cs typeface="Lato"/>
                <a:sym typeface="Lato"/>
              </a:rPr>
              <a:t>Ποσοστό Μειοψηφικής Κλάσης </a:t>
            </a:r>
            <a:r>
              <a:rPr lang="en-US" sz="1800" b="1" i="0" u="none" strike="noStrike" cap="none" dirty="0">
                <a:solidFill>
                  <a:srgbClr val="11CAA0"/>
                </a:solidFill>
                <a:latin typeface="+mn-lt"/>
                <a:ea typeface="Lato"/>
                <a:cs typeface="Lato"/>
                <a:sym typeface="Lato"/>
              </a:rPr>
              <a:t>: 0.17%</a:t>
            </a:r>
            <a:endParaRPr dirty="0">
              <a:latin typeface="+mn-lt"/>
            </a:endParaRPr>
          </a:p>
        </p:txBody>
      </p:sp>
      <p:sp>
        <p:nvSpPr>
          <p:cNvPr id="266" name="Google Shape;266;p23"/>
          <p:cNvSpPr txBox="1"/>
          <p:nvPr/>
        </p:nvSpPr>
        <p:spPr>
          <a:xfrm>
            <a:off x="857250" y="4822477"/>
            <a:ext cx="4762500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IR ≈ 578:1</a:t>
            </a:r>
            <a:endParaRPr dirty="0">
              <a:latin typeface="+mn-lt"/>
            </a:endParaRPr>
          </a:p>
        </p:txBody>
      </p:sp>
      <p:pic>
        <p:nvPicPr>
          <p:cNvPr id="267" name="Google Shape;267;p23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653462" y="2553741"/>
            <a:ext cx="600075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68" name="Google Shape;268;p23"/>
          <p:cNvSpPr txBox="1"/>
          <p:nvPr/>
        </p:nvSpPr>
        <p:spPr>
          <a:xfrm>
            <a:off x="6453187" y="3220491"/>
            <a:ext cx="5000625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0F172A"/>
                </a:solidFill>
                <a:latin typeface="+mj-lt"/>
                <a:ea typeface="Poppins"/>
                <a:cs typeface="Poppins"/>
                <a:sym typeface="Poppins"/>
              </a:rPr>
              <a:t>NSL-KDD (U2R)</a:t>
            </a:r>
            <a:endParaRPr sz="1800" dirty="0">
              <a:latin typeface="+mj-lt"/>
            </a:endParaRPr>
          </a:p>
        </p:txBody>
      </p:sp>
      <p:sp>
        <p:nvSpPr>
          <p:cNvPr id="269" name="Google Shape;269;p23"/>
          <p:cNvSpPr txBox="1"/>
          <p:nvPr/>
        </p:nvSpPr>
        <p:spPr>
          <a:xfrm>
            <a:off x="6653212" y="3555551"/>
            <a:ext cx="4762500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67,3</a:t>
            </a:r>
            <a:r>
              <a:rPr lang="el-GR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43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Δείγμ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ατα</a:t>
            </a:r>
            <a:r>
              <a:rPr lang="el-GR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Κανονικής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Κίνησης</a:t>
            </a:r>
            <a:endParaRPr lang="el-GR" sz="1800" b="0" i="0" u="none" strike="noStrike" cap="none" dirty="0">
              <a:solidFill>
                <a:srgbClr val="334155"/>
              </a:solidFill>
              <a:latin typeface="+mn-lt"/>
              <a:ea typeface="Lato"/>
              <a:cs typeface="Lato"/>
              <a:sym typeface="Lato"/>
            </a:endParaRPr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l-GR" sz="18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rPr>
              <a:t> 52 Δείγματα Επιθέσεων</a:t>
            </a:r>
            <a:endParaRPr sz="1800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</a:endParaRPr>
          </a:p>
        </p:txBody>
      </p:sp>
      <p:sp>
        <p:nvSpPr>
          <p:cNvPr id="270" name="Google Shape;270;p23"/>
          <p:cNvSpPr txBox="1"/>
          <p:nvPr/>
        </p:nvSpPr>
        <p:spPr>
          <a:xfrm>
            <a:off x="6572250" y="4467718"/>
            <a:ext cx="4762500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l-GR" sz="1800" b="1" i="0" u="none" strike="noStrike" cap="none" dirty="0">
                <a:solidFill>
                  <a:srgbClr val="11CAA0"/>
                </a:solidFill>
                <a:latin typeface="+mn-lt"/>
                <a:ea typeface="Lato"/>
                <a:cs typeface="Lato"/>
                <a:sym typeface="Lato"/>
              </a:rPr>
              <a:t>Ποσοστό Μειοψηφικής Κλάσης </a:t>
            </a:r>
            <a:r>
              <a:rPr lang="en-US" sz="1800" b="1" i="0" u="none" strike="noStrike" cap="none" dirty="0">
                <a:solidFill>
                  <a:srgbClr val="11CAA0"/>
                </a:solidFill>
                <a:latin typeface="+mn-lt"/>
                <a:ea typeface="Lato"/>
                <a:cs typeface="Lato"/>
                <a:sym typeface="Lato"/>
              </a:rPr>
              <a:t>: 0.08%</a:t>
            </a:r>
            <a:endParaRPr dirty="0">
              <a:latin typeface="+mn-lt"/>
            </a:endParaRPr>
          </a:p>
        </p:txBody>
      </p:sp>
      <p:sp>
        <p:nvSpPr>
          <p:cNvPr id="271" name="Google Shape;271;p23"/>
          <p:cNvSpPr txBox="1"/>
          <p:nvPr/>
        </p:nvSpPr>
        <p:spPr>
          <a:xfrm>
            <a:off x="6572250" y="4822477"/>
            <a:ext cx="4762500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IR ≈ 1295:1</a:t>
            </a:r>
            <a:endParaRPr dirty="0">
              <a:latin typeface="+mn-lt"/>
            </a:endParaRPr>
          </a:p>
        </p:txBody>
      </p:sp>
      <p:sp>
        <p:nvSpPr>
          <p:cNvPr id="2" name="Ορθογώνιο: Στρογγύλεμα γωνιών 1">
            <a:extLst>
              <a:ext uri="{FF2B5EF4-FFF2-40B4-BE49-F238E27FC236}">
                <a16:creationId xmlns:a16="http://schemas.microsoft.com/office/drawing/2014/main" id="{04A59007-F710-567D-44CF-24F3D32211F7}"/>
              </a:ext>
            </a:extLst>
          </p:cNvPr>
          <p:cNvSpPr/>
          <p:nvPr/>
        </p:nvSpPr>
        <p:spPr>
          <a:xfrm>
            <a:off x="11144250" y="6381750"/>
            <a:ext cx="873125" cy="257662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13 / 26</a:t>
            </a:r>
            <a:endParaRPr lang="el-GR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>
          <a:extLst>
            <a:ext uri="{FF2B5EF4-FFF2-40B4-BE49-F238E27FC236}">
              <a16:creationId xmlns:a16="http://schemas.microsoft.com/office/drawing/2014/main" id="{A5DE0809-D195-25BC-88E5-7FE71FFFB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6" name="Google Shape;256;p23" descr="image.png">
            <a:extLst>
              <a:ext uri="{FF2B5EF4-FFF2-40B4-BE49-F238E27FC236}">
                <a16:creationId xmlns:a16="http://schemas.microsoft.com/office/drawing/2014/main" id="{3408D1B3-DB4A-FC1C-A275-0547564B9FE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8" name="Google Shape;258;p23" descr="image.png">
            <a:extLst>
              <a:ext uri="{FF2B5EF4-FFF2-40B4-BE49-F238E27FC236}">
                <a16:creationId xmlns:a16="http://schemas.microsoft.com/office/drawing/2014/main" id="{69361765-4DFE-225D-7D97-2D5E7B21D4D4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229891"/>
            <a:ext cx="5334000" cy="3426916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23" descr="image.png">
            <a:extLst>
              <a:ext uri="{FF2B5EF4-FFF2-40B4-BE49-F238E27FC236}">
                <a16:creationId xmlns:a16="http://schemas.microsoft.com/office/drawing/2014/main" id="{4A10C47F-9C49-0E24-CB5D-7022C1CB6AD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2229891"/>
            <a:ext cx="5334000" cy="3426916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23">
            <a:extLst>
              <a:ext uri="{FF2B5EF4-FFF2-40B4-BE49-F238E27FC236}">
                <a16:creationId xmlns:a16="http://schemas.microsoft.com/office/drawing/2014/main" id="{844CA1BA-548D-542F-4EC9-5A43BE79230A}"/>
              </a:ext>
            </a:extLst>
          </p:cNvPr>
          <p:cNvSpPr txBox="1"/>
          <p:nvPr/>
        </p:nvSpPr>
        <p:spPr>
          <a:xfrm>
            <a:off x="571500" y="476250"/>
            <a:ext cx="1160145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l-GR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Πειραματική Διαδικασία (1/2)</a:t>
            </a:r>
            <a:endParaRPr dirty="0">
              <a:latin typeface="+mj-lt"/>
            </a:endParaRPr>
          </a:p>
        </p:txBody>
      </p:sp>
      <p:sp>
        <p:nvSpPr>
          <p:cNvPr id="261" name="Google Shape;261;p23">
            <a:extLst>
              <a:ext uri="{FF2B5EF4-FFF2-40B4-BE49-F238E27FC236}">
                <a16:creationId xmlns:a16="http://schemas.microsoft.com/office/drawing/2014/main" id="{F7D9BFCB-54E0-F56E-33AD-F4C545911088}"/>
              </a:ext>
            </a:extLst>
          </p:cNvPr>
          <p:cNvSpPr/>
          <p:nvPr/>
        </p:nvSpPr>
        <p:spPr>
          <a:xfrm>
            <a:off x="571500" y="1190625"/>
            <a:ext cx="11049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23">
            <a:extLst>
              <a:ext uri="{FF2B5EF4-FFF2-40B4-BE49-F238E27FC236}">
                <a16:creationId xmlns:a16="http://schemas.microsoft.com/office/drawing/2014/main" id="{73A79A37-DE78-241A-2970-26D13EE8E54C}"/>
              </a:ext>
            </a:extLst>
          </p:cNvPr>
          <p:cNvSpPr txBox="1"/>
          <p:nvPr/>
        </p:nvSpPr>
        <p:spPr>
          <a:xfrm>
            <a:off x="738186" y="2482110"/>
            <a:ext cx="5000625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l-GR" sz="1800" b="1" i="0" u="none" strike="noStrike" cap="none" dirty="0">
                <a:solidFill>
                  <a:srgbClr val="0F172A"/>
                </a:solidFill>
                <a:latin typeface="+mj-lt"/>
                <a:ea typeface="Poppins"/>
                <a:cs typeface="Poppins"/>
                <a:sym typeface="Poppins"/>
              </a:rPr>
              <a:t>Πειράματα σε </a:t>
            </a:r>
            <a:r>
              <a:rPr lang="el-GR" sz="1800" b="1" i="0" u="none" strike="noStrike" cap="none" dirty="0" err="1">
                <a:solidFill>
                  <a:srgbClr val="0F172A"/>
                </a:solidFill>
                <a:latin typeface="+mj-lt"/>
                <a:ea typeface="Poppins"/>
                <a:cs typeface="Poppins"/>
                <a:sym typeface="Poppins"/>
              </a:rPr>
              <a:t>Κεντρικοποιημένο</a:t>
            </a:r>
            <a:r>
              <a:rPr lang="el-GR" sz="1800" b="1" i="0" u="none" strike="noStrike" cap="none" dirty="0">
                <a:solidFill>
                  <a:srgbClr val="0F172A"/>
                </a:solidFill>
                <a:latin typeface="+mj-lt"/>
                <a:ea typeface="Poppins"/>
                <a:cs typeface="Poppins"/>
                <a:sym typeface="Poppins"/>
              </a:rPr>
              <a:t> Περιβάλλον</a:t>
            </a:r>
            <a:endParaRPr sz="1800" dirty="0">
              <a:latin typeface="+mj-lt"/>
            </a:endParaRPr>
          </a:p>
        </p:txBody>
      </p:sp>
      <p:sp>
        <p:nvSpPr>
          <p:cNvPr id="264" name="Google Shape;264;p23">
            <a:extLst>
              <a:ext uri="{FF2B5EF4-FFF2-40B4-BE49-F238E27FC236}">
                <a16:creationId xmlns:a16="http://schemas.microsoft.com/office/drawing/2014/main" id="{7E6F85A9-D86F-1551-44F3-63BBD2048EDB}"/>
              </a:ext>
            </a:extLst>
          </p:cNvPr>
          <p:cNvSpPr txBox="1"/>
          <p:nvPr/>
        </p:nvSpPr>
        <p:spPr>
          <a:xfrm>
            <a:off x="857250" y="3361651"/>
            <a:ext cx="4762500" cy="11633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Logistic Regression, </a:t>
            </a:r>
            <a:r>
              <a:rPr lang="en-US" sz="1800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XGBoost</a:t>
            </a:r>
            <a:r>
              <a:rPr lang="el-GR" sz="180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, </a:t>
            </a:r>
            <a:r>
              <a:rPr lang="en-US" sz="180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MLP</a:t>
            </a:r>
            <a:r>
              <a:rPr lang="el-GR" sz="180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και συνδυασμοί με </a:t>
            </a:r>
            <a:r>
              <a:rPr lang="en-US" sz="180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SMOTE, ADASYN, Borderline-SMOTE</a:t>
            </a:r>
            <a:r>
              <a:rPr lang="el-GR" sz="180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και </a:t>
            </a:r>
            <a:r>
              <a:rPr lang="en-US" sz="180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GAN</a:t>
            </a:r>
            <a:endParaRPr lang="en-US" sz="1800" b="0" i="0" u="none" strike="noStrike" cap="none" dirty="0">
              <a:solidFill>
                <a:srgbClr val="334155"/>
              </a:solidFill>
              <a:latin typeface="+mn-lt"/>
              <a:ea typeface="Lato"/>
              <a:cs typeface="Lato"/>
              <a:sym typeface="Lato"/>
            </a:endParaRPr>
          </a:p>
        </p:txBody>
      </p:sp>
      <p:sp>
        <p:nvSpPr>
          <p:cNvPr id="266" name="Google Shape;266;p23">
            <a:extLst>
              <a:ext uri="{FF2B5EF4-FFF2-40B4-BE49-F238E27FC236}">
                <a16:creationId xmlns:a16="http://schemas.microsoft.com/office/drawing/2014/main" id="{98CE9E5D-BF82-E4B2-503A-BFAF90B0A881}"/>
              </a:ext>
            </a:extLst>
          </p:cNvPr>
          <p:cNvSpPr txBox="1"/>
          <p:nvPr/>
        </p:nvSpPr>
        <p:spPr>
          <a:xfrm>
            <a:off x="857250" y="4822477"/>
            <a:ext cx="4762500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l-GR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Ισχυρά Σημεία Αναφοράς</a:t>
            </a:r>
            <a:endParaRPr dirty="0">
              <a:latin typeface="+mn-lt"/>
            </a:endParaRPr>
          </a:p>
        </p:txBody>
      </p:sp>
      <p:sp>
        <p:nvSpPr>
          <p:cNvPr id="268" name="Google Shape;268;p23">
            <a:extLst>
              <a:ext uri="{FF2B5EF4-FFF2-40B4-BE49-F238E27FC236}">
                <a16:creationId xmlns:a16="http://schemas.microsoft.com/office/drawing/2014/main" id="{F7E082DD-BAD5-D913-505B-3991E5F757BB}"/>
              </a:ext>
            </a:extLst>
          </p:cNvPr>
          <p:cNvSpPr txBox="1"/>
          <p:nvPr/>
        </p:nvSpPr>
        <p:spPr>
          <a:xfrm>
            <a:off x="6453189" y="2482110"/>
            <a:ext cx="5000625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l-GR" sz="1800" b="1" i="0" u="none" strike="noStrike" cap="none" dirty="0">
                <a:solidFill>
                  <a:srgbClr val="0F172A"/>
                </a:solidFill>
                <a:latin typeface="+mj-lt"/>
                <a:ea typeface="Poppins"/>
                <a:cs typeface="Poppins"/>
                <a:sym typeface="Poppins"/>
              </a:rPr>
              <a:t>Πειράματα σε Ομοσπονδιακό Περιβάλλον</a:t>
            </a:r>
            <a:endParaRPr sz="1800" dirty="0">
              <a:latin typeface="+mj-lt"/>
            </a:endParaRPr>
          </a:p>
        </p:txBody>
      </p:sp>
      <p:sp>
        <p:nvSpPr>
          <p:cNvPr id="269" name="Google Shape;269;p23">
            <a:extLst>
              <a:ext uri="{FF2B5EF4-FFF2-40B4-BE49-F238E27FC236}">
                <a16:creationId xmlns:a16="http://schemas.microsoft.com/office/drawing/2014/main" id="{BB9515DB-5220-73D0-DF30-994C1703D0F8}"/>
              </a:ext>
            </a:extLst>
          </p:cNvPr>
          <p:cNvSpPr txBox="1"/>
          <p:nvPr/>
        </p:nvSpPr>
        <p:spPr>
          <a:xfrm>
            <a:off x="6572250" y="3048439"/>
            <a:ext cx="4762500" cy="11633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l-GR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Εκπαίδευση 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MLP </a:t>
            </a:r>
            <a:r>
              <a:rPr lang="el-GR" sz="180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σε Ομοσπονδιακό Περιβάλλον </a:t>
            </a:r>
            <a:r>
              <a:rPr lang="el-GR" sz="1800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υπο</a:t>
            </a:r>
            <a:r>
              <a:rPr lang="el-GR" sz="180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Συνθήκες </a:t>
            </a:r>
            <a:r>
              <a:rPr lang="en-US" sz="180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IID </a:t>
            </a:r>
            <a:r>
              <a:rPr lang="el-GR" sz="180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Κατανομής και Κλιμακούμενων </a:t>
            </a:r>
            <a:r>
              <a:rPr lang="el-GR" sz="1800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Σενάριων</a:t>
            </a:r>
            <a:r>
              <a:rPr lang="el-GR" sz="180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Non-IID </a:t>
            </a:r>
            <a:r>
              <a:rPr lang="el-GR" sz="180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Κατανομής</a:t>
            </a:r>
            <a:endParaRPr sz="1800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</a:endParaRPr>
          </a:p>
        </p:txBody>
      </p:sp>
      <p:sp>
        <p:nvSpPr>
          <p:cNvPr id="271" name="Google Shape;271;p23">
            <a:extLst>
              <a:ext uri="{FF2B5EF4-FFF2-40B4-BE49-F238E27FC236}">
                <a16:creationId xmlns:a16="http://schemas.microsoft.com/office/drawing/2014/main" id="{B338AE71-A42B-462D-8119-6FF1746BA78D}"/>
              </a:ext>
            </a:extLst>
          </p:cNvPr>
          <p:cNvSpPr txBox="1"/>
          <p:nvPr/>
        </p:nvSpPr>
        <p:spPr>
          <a:xfrm>
            <a:off x="6477000" y="4434678"/>
            <a:ext cx="4762500" cy="11633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l-GR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Εφαρμογή Πλαισίου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FedSMOTE</a:t>
            </a:r>
            <a:endParaRPr lang="el-GR" sz="1800" dirty="0">
              <a:solidFill>
                <a:srgbClr val="334155"/>
              </a:solidFill>
              <a:latin typeface="+mn-lt"/>
              <a:ea typeface="Lato"/>
              <a:cs typeface="Lato"/>
              <a:sym typeface="Lato"/>
            </a:endParaRPr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l-GR" sz="1800" dirty="0">
              <a:solidFill>
                <a:srgbClr val="334155"/>
              </a:solidFill>
              <a:latin typeface="+mn-lt"/>
              <a:ea typeface="Lato"/>
              <a:cs typeface="Lato"/>
              <a:sym typeface="Lato"/>
            </a:endParaRPr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l-GR" sz="180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Ανάλυση Κόστους</a:t>
            </a:r>
            <a:endParaRPr lang="en-US" sz="1800" dirty="0">
              <a:solidFill>
                <a:srgbClr val="334155"/>
              </a:solidFill>
              <a:latin typeface="+mn-lt"/>
              <a:ea typeface="Lato"/>
              <a:cs typeface="Lato"/>
              <a:sym typeface="Lato"/>
            </a:endParaRPr>
          </a:p>
        </p:txBody>
      </p:sp>
      <p:sp>
        <p:nvSpPr>
          <p:cNvPr id="2" name="Ορθογώνιο: Στρογγύλεμα γωνιών 1">
            <a:extLst>
              <a:ext uri="{FF2B5EF4-FFF2-40B4-BE49-F238E27FC236}">
                <a16:creationId xmlns:a16="http://schemas.microsoft.com/office/drawing/2014/main" id="{C635EBB1-C30A-55DE-536A-2E6E32AF9131}"/>
              </a:ext>
            </a:extLst>
          </p:cNvPr>
          <p:cNvSpPr/>
          <p:nvPr/>
        </p:nvSpPr>
        <p:spPr>
          <a:xfrm>
            <a:off x="11144250" y="6381750"/>
            <a:ext cx="873125" cy="257662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14 / 26</a:t>
            </a: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38614646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6" name="Google Shape;276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9" name="Google Shape;279;p24"/>
          <p:cNvSpPr txBox="1"/>
          <p:nvPr/>
        </p:nvSpPr>
        <p:spPr>
          <a:xfrm>
            <a:off x="571500" y="476250"/>
            <a:ext cx="1160145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l-GR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Πειραματική Διαδικασία (2/2)</a:t>
            </a:r>
            <a:endParaRPr dirty="0">
              <a:latin typeface="+mj-lt"/>
            </a:endParaRPr>
          </a:p>
        </p:txBody>
      </p:sp>
      <p:sp>
        <p:nvSpPr>
          <p:cNvPr id="280" name="Google Shape;280;p24"/>
          <p:cNvSpPr/>
          <p:nvPr/>
        </p:nvSpPr>
        <p:spPr>
          <a:xfrm>
            <a:off x="571500" y="1190625"/>
            <a:ext cx="11049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" name="Google Shape;258;p23" descr="image.png">
            <a:extLst>
              <a:ext uri="{FF2B5EF4-FFF2-40B4-BE49-F238E27FC236}">
                <a16:creationId xmlns:a16="http://schemas.microsoft.com/office/drawing/2014/main" id="{4E95BFC9-681F-7B71-917D-AE5D704CD5A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499" y="1592818"/>
            <a:ext cx="4062523" cy="2090673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D50EEF48-367F-DD72-CA35-12ACDF16C123}"/>
              </a:ext>
            </a:extLst>
          </p:cNvPr>
          <p:cNvSpPr txBox="1"/>
          <p:nvPr/>
        </p:nvSpPr>
        <p:spPr>
          <a:xfrm>
            <a:off x="1331811" y="1727407"/>
            <a:ext cx="272468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l-GR" sz="1800" b="1" i="0" u="none" strike="noStrike" cap="none" dirty="0">
                <a:solidFill>
                  <a:srgbClr val="0F172A"/>
                </a:solidFill>
                <a:latin typeface="+mn-lt"/>
                <a:ea typeface="Poppins"/>
                <a:cs typeface="Poppins"/>
                <a:sym typeface="Poppins"/>
              </a:rPr>
              <a:t>Μετρικές Αξιολόγησης</a:t>
            </a:r>
            <a:endParaRPr lang="el-GR" sz="1800" dirty="0">
              <a:latin typeface="+mn-lt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4A4F973-9643-EDF3-1DDF-EF5BFB74F3CF}"/>
              </a:ext>
            </a:extLst>
          </p:cNvPr>
          <p:cNvSpPr txBox="1"/>
          <p:nvPr/>
        </p:nvSpPr>
        <p:spPr>
          <a:xfrm>
            <a:off x="571499" y="2330953"/>
            <a:ext cx="2960205" cy="12113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ROC-AUC</a:t>
            </a:r>
            <a:endParaRPr lang="el-GR" sz="1800" b="1" dirty="0">
              <a:solidFill>
                <a:srgbClr val="334155"/>
              </a:solidFill>
              <a:latin typeface="+mn-lt"/>
              <a:ea typeface="Lato"/>
              <a:cs typeface="Lato"/>
              <a:sym typeface="Lato"/>
            </a:endParaRPr>
          </a:p>
          <a:p>
            <a:pPr marL="285750" marR="0" lvl="0" indent="-28575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Average Precision</a:t>
            </a:r>
          </a:p>
          <a:p>
            <a:pPr marL="285750" marR="0" lvl="0" indent="-28575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F1-Score</a:t>
            </a:r>
            <a:endParaRPr lang="en-US" sz="1800" dirty="0">
              <a:latin typeface="+mn-lt"/>
            </a:endParaRPr>
          </a:p>
        </p:txBody>
      </p:sp>
      <p:pic>
        <p:nvPicPr>
          <p:cNvPr id="18" name="Google Shape;258;p23" descr="image.png">
            <a:extLst>
              <a:ext uri="{FF2B5EF4-FFF2-40B4-BE49-F238E27FC236}">
                <a16:creationId xmlns:a16="http://schemas.microsoft.com/office/drawing/2014/main" id="{32BAD0D1-34F1-CA34-81E1-584AE74BF0FA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55857" y="4106158"/>
            <a:ext cx="4062525" cy="2380781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DA976A0F-DD49-1588-8D05-494C889D3BE4}"/>
              </a:ext>
            </a:extLst>
          </p:cNvPr>
          <p:cNvSpPr txBox="1"/>
          <p:nvPr/>
        </p:nvSpPr>
        <p:spPr>
          <a:xfrm>
            <a:off x="1217016" y="4214668"/>
            <a:ext cx="27402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l-GR" sz="1800" b="1" dirty="0">
                <a:solidFill>
                  <a:srgbClr val="0F172A"/>
                </a:solidFill>
                <a:ea typeface="Poppins"/>
                <a:cs typeface="Poppins"/>
                <a:sym typeface="Poppins"/>
              </a:rPr>
              <a:t>Στατιστική Ετερογένεια</a:t>
            </a:r>
            <a:endParaRPr lang="el-GR" sz="18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B6C11C6-0205-166C-4C50-52D0E39E5A6E}"/>
              </a:ext>
            </a:extLst>
          </p:cNvPr>
          <p:cNvSpPr txBox="1"/>
          <p:nvPr/>
        </p:nvSpPr>
        <p:spPr>
          <a:xfrm>
            <a:off x="662893" y="4584000"/>
            <a:ext cx="4062523" cy="43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l-GR" sz="180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Κατανομή </a:t>
            </a:r>
            <a:r>
              <a:rPr lang="en-US" sz="180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Dirichlet (</a:t>
            </a:r>
            <a:r>
              <a:rPr lang="el-GR" sz="180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Συντελεστής α):</a:t>
            </a:r>
            <a:endParaRPr lang="el-GR" sz="1800" dirty="0">
              <a:latin typeface="+mn-lt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FFA0FFA-172F-CF15-550E-E939E0140D4D}"/>
              </a:ext>
            </a:extLst>
          </p:cNvPr>
          <p:cNvSpPr txBox="1"/>
          <p:nvPr/>
        </p:nvSpPr>
        <p:spPr>
          <a:xfrm>
            <a:off x="653576" y="5002880"/>
            <a:ext cx="3126850" cy="12113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l-GR" sz="1800" b="1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Ήπια (α = 1.0)</a:t>
            </a:r>
            <a:endParaRPr lang="en-US" sz="1800" b="1" dirty="0">
              <a:solidFill>
                <a:srgbClr val="334155"/>
              </a:solidFill>
              <a:latin typeface="+mn-lt"/>
              <a:ea typeface="Lato"/>
              <a:cs typeface="Lato"/>
              <a:sym typeface="Lato"/>
            </a:endParaRPr>
          </a:p>
          <a:p>
            <a:pPr marL="285750" marR="0" lvl="0" indent="-28575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l-GR" sz="1800" b="1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Υψηλή (α = 0.5)</a:t>
            </a:r>
          </a:p>
          <a:p>
            <a:pPr marL="285750" marR="0" lvl="0" indent="-28575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l-GR" sz="1800" b="1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Ακραία (α = 0.1)</a:t>
            </a:r>
            <a:endParaRPr lang="el-GR" sz="1800" dirty="0">
              <a:latin typeface="+mn-lt"/>
            </a:endParaRPr>
          </a:p>
        </p:txBody>
      </p:sp>
      <p:pic>
        <p:nvPicPr>
          <p:cNvPr id="26" name="Google Shape;258;p23" descr="image.png">
            <a:extLst>
              <a:ext uri="{FF2B5EF4-FFF2-40B4-BE49-F238E27FC236}">
                <a16:creationId xmlns:a16="http://schemas.microsoft.com/office/drawing/2014/main" id="{D72E2B99-3870-8EAB-D235-77DDE3AC4B9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095806" y="1592818"/>
            <a:ext cx="4320941" cy="2218817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5906CBCB-6EA5-9E52-2483-371CAFA2ACED}"/>
              </a:ext>
            </a:extLst>
          </p:cNvPr>
          <p:cNvSpPr txBox="1"/>
          <p:nvPr/>
        </p:nvSpPr>
        <p:spPr>
          <a:xfrm>
            <a:off x="7356172" y="1718429"/>
            <a:ext cx="32037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l-GR" sz="1800" b="1" i="0" u="none" strike="noStrike" cap="none" dirty="0">
                <a:solidFill>
                  <a:srgbClr val="0F172A"/>
                </a:solidFill>
                <a:latin typeface="+mn-lt"/>
                <a:ea typeface="Poppins"/>
                <a:cs typeface="Poppins"/>
                <a:sym typeface="Poppins"/>
              </a:rPr>
              <a:t>Ομοσπονδιακό Περιβάλλον</a:t>
            </a:r>
            <a:endParaRPr lang="el-GR" sz="1800" dirty="0">
              <a:latin typeface="+mn-lt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101CDDC-E1E4-AF46-E3E6-496EC04F2A85}"/>
              </a:ext>
            </a:extLst>
          </p:cNvPr>
          <p:cNvSpPr txBox="1"/>
          <p:nvPr/>
        </p:nvSpPr>
        <p:spPr>
          <a:xfrm>
            <a:off x="7095807" y="2075859"/>
            <a:ext cx="6096000" cy="15991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0" indent="-2857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rgbClr val="334155"/>
                </a:solidFill>
                <a:ea typeface="Lato"/>
                <a:cs typeface="Lato"/>
                <a:sym typeface="Lato"/>
              </a:rPr>
              <a:t>Cross-Silo </a:t>
            </a:r>
            <a:r>
              <a:rPr lang="el-GR" sz="1800" b="1" dirty="0">
                <a:solidFill>
                  <a:srgbClr val="334155"/>
                </a:solidFill>
                <a:ea typeface="Lato"/>
                <a:cs typeface="Lato"/>
                <a:sym typeface="Lato"/>
              </a:rPr>
              <a:t>Σενάριο</a:t>
            </a:r>
          </a:p>
          <a:p>
            <a:pPr marL="285750" lvl="0" indent="-2857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el-GR" sz="1800" b="1" dirty="0">
                <a:solidFill>
                  <a:srgbClr val="334155"/>
                </a:solidFill>
                <a:ea typeface="Lato"/>
                <a:cs typeface="Lato"/>
                <a:sym typeface="Lato"/>
              </a:rPr>
              <a:t>5 Κόμβοι-Πελάτες </a:t>
            </a:r>
          </a:p>
          <a:p>
            <a:pPr marL="285750" lvl="0" indent="-2857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el-GR" sz="1800" b="1" dirty="0">
                <a:solidFill>
                  <a:srgbClr val="334155"/>
                </a:solidFill>
                <a:ea typeface="Lato"/>
                <a:cs typeface="Lato"/>
                <a:sym typeface="Lato"/>
              </a:rPr>
              <a:t>20 Γύροι Επικοινωνίας</a:t>
            </a:r>
          </a:p>
          <a:p>
            <a:pPr marL="285750" lvl="0" indent="-2857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en-US" sz="1800" b="1" dirty="0" err="1">
                <a:solidFill>
                  <a:srgbClr val="334155"/>
                </a:solidFill>
                <a:ea typeface="Lato"/>
                <a:cs typeface="Lato"/>
                <a:sym typeface="Lato"/>
              </a:rPr>
              <a:t>FedAvg</a:t>
            </a:r>
            <a:endParaRPr lang="el-GR" sz="1800" b="1" dirty="0">
              <a:solidFill>
                <a:srgbClr val="334155"/>
              </a:solidFill>
              <a:ea typeface="Lato"/>
              <a:cs typeface="Lato"/>
              <a:sym typeface="Lato"/>
            </a:endParaRPr>
          </a:p>
        </p:txBody>
      </p:sp>
      <p:pic>
        <p:nvPicPr>
          <p:cNvPr id="32" name="Google Shape;258;p23" descr="image.png">
            <a:extLst>
              <a:ext uri="{FF2B5EF4-FFF2-40B4-BE49-F238E27FC236}">
                <a16:creationId xmlns:a16="http://schemas.microsoft.com/office/drawing/2014/main" id="{C127DB1F-691C-3F6C-DD46-91577688B764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095806" y="4106158"/>
            <a:ext cx="4320941" cy="2380781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6FDEDA73-A8D4-D6C4-9BC5-AD5A72AD5FFA}"/>
              </a:ext>
            </a:extLst>
          </p:cNvPr>
          <p:cNvSpPr txBox="1"/>
          <p:nvPr/>
        </p:nvSpPr>
        <p:spPr>
          <a:xfrm>
            <a:off x="7225014" y="4214668"/>
            <a:ext cx="406252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l-GR" sz="1800" b="1" dirty="0">
                <a:solidFill>
                  <a:srgbClr val="0F172A"/>
                </a:solidFill>
                <a:latin typeface="+mn-lt"/>
                <a:cs typeface="Poppins"/>
                <a:sym typeface="Poppins"/>
              </a:rPr>
              <a:t>Αρχιτεκτονική </a:t>
            </a:r>
            <a:r>
              <a:rPr lang="el-GR" sz="1800" b="1" dirty="0" err="1">
                <a:solidFill>
                  <a:srgbClr val="0F172A"/>
                </a:solidFill>
                <a:latin typeface="+mn-lt"/>
                <a:cs typeface="Poppins"/>
                <a:sym typeface="Poppins"/>
              </a:rPr>
              <a:t>Νευρωνικού</a:t>
            </a:r>
            <a:r>
              <a:rPr lang="el-GR" sz="1800" b="1" dirty="0">
                <a:solidFill>
                  <a:srgbClr val="0F172A"/>
                </a:solidFill>
                <a:latin typeface="+mn-lt"/>
                <a:cs typeface="Poppins"/>
                <a:sym typeface="Poppins"/>
              </a:rPr>
              <a:t> Δικτύου</a:t>
            </a:r>
            <a:endParaRPr lang="el-GR" sz="1800" dirty="0">
              <a:latin typeface="+mn-lt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1E929F6-3F6A-BD65-948F-88EE51A8F6A9}"/>
              </a:ext>
            </a:extLst>
          </p:cNvPr>
          <p:cNvSpPr txBox="1"/>
          <p:nvPr/>
        </p:nvSpPr>
        <p:spPr>
          <a:xfrm>
            <a:off x="7095806" y="4607980"/>
            <a:ext cx="4267933" cy="15991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0" indent="-2857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en-US" sz="1800" b="1" dirty="0" err="1">
                <a:solidFill>
                  <a:srgbClr val="334155"/>
                </a:solidFill>
                <a:ea typeface="Lato"/>
                <a:cs typeface="Lato"/>
                <a:sym typeface="Lato"/>
              </a:rPr>
              <a:t>ReLU</a:t>
            </a:r>
            <a:r>
              <a:rPr lang="en-US" sz="1800" b="1" dirty="0">
                <a:solidFill>
                  <a:srgbClr val="334155"/>
                </a:solidFill>
                <a:ea typeface="Lato"/>
                <a:cs typeface="Lato"/>
                <a:sym typeface="Lato"/>
              </a:rPr>
              <a:t>, Batch Normalization, Dropout</a:t>
            </a:r>
          </a:p>
          <a:p>
            <a:pPr marL="285750" lvl="0" indent="-2857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en-US" sz="1800" b="1" dirty="0" err="1">
                <a:solidFill>
                  <a:srgbClr val="334155"/>
                </a:solidFill>
                <a:ea typeface="Lato"/>
                <a:cs typeface="Lato"/>
                <a:sym typeface="Lato"/>
              </a:rPr>
              <a:t>BCEWithLogitsLoss</a:t>
            </a:r>
            <a:r>
              <a:rPr lang="en-US" sz="1800" b="1" dirty="0">
                <a:solidFill>
                  <a:srgbClr val="334155"/>
                </a:solidFill>
                <a:ea typeface="Lato"/>
                <a:cs typeface="Lato"/>
                <a:sym typeface="Lato"/>
              </a:rPr>
              <a:t>, Adam</a:t>
            </a:r>
          </a:p>
          <a:p>
            <a:pPr marL="285750" lvl="0" indent="-2857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el-GR" sz="1800" b="1" dirty="0">
                <a:solidFill>
                  <a:srgbClr val="334155"/>
                </a:solidFill>
                <a:ea typeface="Lato"/>
                <a:cs typeface="Lato"/>
                <a:sym typeface="Lato"/>
              </a:rPr>
              <a:t>Αποθήκευση Βέλτιστου Μοντέλου</a:t>
            </a:r>
          </a:p>
        </p:txBody>
      </p:sp>
      <p:sp>
        <p:nvSpPr>
          <p:cNvPr id="37" name="Ορθογώνιο: Στρογγύλεμα γωνιών 36">
            <a:extLst>
              <a:ext uri="{FF2B5EF4-FFF2-40B4-BE49-F238E27FC236}">
                <a16:creationId xmlns:a16="http://schemas.microsoft.com/office/drawing/2014/main" id="{DD5E665C-539E-D0B7-EB7F-A47C5C3D1902}"/>
              </a:ext>
            </a:extLst>
          </p:cNvPr>
          <p:cNvSpPr/>
          <p:nvPr/>
        </p:nvSpPr>
        <p:spPr>
          <a:xfrm>
            <a:off x="11183937" y="6483497"/>
            <a:ext cx="873125" cy="257662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15 / 26</a:t>
            </a:r>
            <a:endParaRPr lang="el-GR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25"/>
          <p:cNvSpPr txBox="1"/>
          <p:nvPr/>
        </p:nvSpPr>
        <p:spPr>
          <a:xfrm>
            <a:off x="571500" y="476250"/>
            <a:ext cx="1160145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Απ</a:t>
            </a:r>
            <a:r>
              <a:rPr lang="en-US" sz="3300" b="1" i="0" u="none" strike="noStrike" cap="none" dirty="0" err="1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οτελέσμ</a:t>
            </a:r>
            <a:r>
              <a:rPr lang="en-US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ατα: Credit Card Fraud</a:t>
            </a:r>
            <a:r>
              <a:rPr lang="el-GR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 </a:t>
            </a:r>
            <a:r>
              <a:rPr lang="en-US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Detection (1/2)</a:t>
            </a:r>
            <a:endParaRPr dirty="0">
              <a:latin typeface="+mj-lt"/>
            </a:endParaRPr>
          </a:p>
        </p:txBody>
      </p:sp>
      <p:sp>
        <p:nvSpPr>
          <p:cNvPr id="303" name="Google Shape;303;p25"/>
          <p:cNvSpPr/>
          <p:nvPr/>
        </p:nvSpPr>
        <p:spPr>
          <a:xfrm>
            <a:off x="571500" y="1190625"/>
            <a:ext cx="11049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" name="Εικόνα 3">
            <a:extLst>
              <a:ext uri="{FF2B5EF4-FFF2-40B4-BE49-F238E27FC236}">
                <a16:creationId xmlns:a16="http://schemas.microsoft.com/office/drawing/2014/main" id="{D2420229-8E2F-29EC-A280-87663E3E2A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959" y="2036742"/>
            <a:ext cx="6842971" cy="356437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6E9DE10-EFD3-7C21-1E00-BE844B516D76}"/>
              </a:ext>
            </a:extLst>
          </p:cNvPr>
          <p:cNvSpPr txBox="1"/>
          <p:nvPr/>
        </p:nvSpPr>
        <p:spPr>
          <a:xfrm>
            <a:off x="7706139" y="2036742"/>
            <a:ext cx="405516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l-GR" sz="1800" dirty="0"/>
              <a:t>Ποικίλλει η συνεισφορά των Συνθετικών Δεδομένων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l-GR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l-GR" sz="1800" dirty="0"/>
              <a:t>Την καλύτερη επίδοση σημειώνει ο συνδυασμός </a:t>
            </a:r>
            <a:r>
              <a:rPr lang="en-US" sz="1800" dirty="0" err="1"/>
              <a:t>XGBoost</a:t>
            </a:r>
            <a:r>
              <a:rPr lang="en-US" sz="1800" dirty="0"/>
              <a:t> </a:t>
            </a:r>
            <a:r>
              <a:rPr lang="el-GR" sz="1800" dirty="0"/>
              <a:t>με Συνθετικά Δεδομένα παραγόμενα από </a:t>
            </a:r>
            <a:r>
              <a:rPr lang="en-US" sz="1800" dirty="0"/>
              <a:t>GAN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l-GR" sz="1800" dirty="0"/>
              <a:t>Μέση Τιμή </a:t>
            </a:r>
            <a:r>
              <a:rPr lang="en-US" sz="1800" dirty="0"/>
              <a:t>F1-Score </a:t>
            </a:r>
            <a:r>
              <a:rPr lang="el-GR" sz="1800" dirty="0"/>
              <a:t>0,8662</a:t>
            </a:r>
          </a:p>
        </p:txBody>
      </p:sp>
      <p:sp>
        <p:nvSpPr>
          <p:cNvPr id="6" name="Ορθογώνιο: Στρογγύλεμα γωνιών 5">
            <a:extLst>
              <a:ext uri="{FF2B5EF4-FFF2-40B4-BE49-F238E27FC236}">
                <a16:creationId xmlns:a16="http://schemas.microsoft.com/office/drawing/2014/main" id="{7CD35731-C1E8-02AB-86D1-BDD87EDB924F}"/>
              </a:ext>
            </a:extLst>
          </p:cNvPr>
          <p:cNvSpPr/>
          <p:nvPr/>
        </p:nvSpPr>
        <p:spPr>
          <a:xfrm>
            <a:off x="11144250" y="6381750"/>
            <a:ext cx="873125" cy="257662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16 / 26</a:t>
            </a:r>
            <a:endParaRPr lang="el-GR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9" name="Google Shape;319;p2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905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22" name="Google Shape;322;p26"/>
          <p:cNvSpPr txBox="1"/>
          <p:nvPr/>
        </p:nvSpPr>
        <p:spPr>
          <a:xfrm>
            <a:off x="571500" y="476250"/>
            <a:ext cx="1160145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Απ</a:t>
            </a:r>
            <a:r>
              <a:rPr lang="en-US" sz="3300" b="1" i="0" u="none" strike="noStrike" cap="none" dirty="0" err="1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οτελέσμ</a:t>
            </a:r>
            <a:r>
              <a:rPr lang="en-US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ατα: Credit Card Fraud Detection (2/2)</a:t>
            </a:r>
            <a:endParaRPr dirty="0">
              <a:latin typeface="+mj-lt"/>
            </a:endParaRPr>
          </a:p>
        </p:txBody>
      </p:sp>
      <p:sp>
        <p:nvSpPr>
          <p:cNvPr id="323" name="Google Shape;323;p26"/>
          <p:cNvSpPr/>
          <p:nvPr/>
        </p:nvSpPr>
        <p:spPr>
          <a:xfrm>
            <a:off x="571500" y="1190625"/>
            <a:ext cx="11049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Εικόνα 2">
            <a:extLst>
              <a:ext uri="{FF2B5EF4-FFF2-40B4-BE49-F238E27FC236}">
                <a16:creationId xmlns:a16="http://schemas.microsoft.com/office/drawing/2014/main" id="{F57B1519-BF02-F3C7-FCAA-7FCF60A1C6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177" y="1625755"/>
            <a:ext cx="7356757" cy="423514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4F49360-BBE5-3C0B-0922-3F9854DE84E3}"/>
              </a:ext>
            </a:extLst>
          </p:cNvPr>
          <p:cNvSpPr txBox="1"/>
          <p:nvPr/>
        </p:nvSpPr>
        <p:spPr>
          <a:xfrm>
            <a:off x="8030817" y="1875183"/>
            <a:ext cx="3498574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l-GR" sz="1800" dirty="0"/>
              <a:t>Η Στατιστική Ετερογένεια ρίχνει την επίδοση του μοντέλου και παρουσιάζει υψηλά επίπεδα αστάθειας.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l-GR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Client-Side SMOTE </a:t>
            </a:r>
            <a:r>
              <a:rPr lang="el-GR" sz="1800" dirty="0"/>
              <a:t>βοηθά, χωρίς να </a:t>
            </a:r>
            <a:r>
              <a:rPr lang="el-GR" sz="1800" dirty="0" err="1"/>
              <a:t>εξαλείφθει</a:t>
            </a:r>
            <a:r>
              <a:rPr lang="el-GR" sz="1800" dirty="0"/>
              <a:t> την αστάθεια σε υψηλή ετερογένεια.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l-GR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Trans-Client SMOTE </a:t>
            </a:r>
            <a:r>
              <a:rPr lang="el-GR" sz="1800" dirty="0"/>
              <a:t>βέλτιστη μέθοδος, ακόμα και σε δύσκολα σενάρια.</a:t>
            </a:r>
          </a:p>
        </p:txBody>
      </p:sp>
      <p:sp>
        <p:nvSpPr>
          <p:cNvPr id="5" name="Ορθογώνιο: Στρογγύλεμα γωνιών 4">
            <a:extLst>
              <a:ext uri="{FF2B5EF4-FFF2-40B4-BE49-F238E27FC236}">
                <a16:creationId xmlns:a16="http://schemas.microsoft.com/office/drawing/2014/main" id="{45F30A41-31CC-7B45-7F70-4E9BEA53B9F4}"/>
              </a:ext>
            </a:extLst>
          </p:cNvPr>
          <p:cNvSpPr/>
          <p:nvPr/>
        </p:nvSpPr>
        <p:spPr>
          <a:xfrm>
            <a:off x="11144250" y="6381750"/>
            <a:ext cx="873125" cy="257662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17 / 26</a:t>
            </a:r>
            <a:endParaRPr lang="el-GR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7" name="Google Shape;337;p2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27"/>
          <p:cNvSpPr txBox="1"/>
          <p:nvPr/>
        </p:nvSpPr>
        <p:spPr>
          <a:xfrm>
            <a:off x="571500" y="476250"/>
            <a:ext cx="1160145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Απ</a:t>
            </a:r>
            <a:r>
              <a:rPr lang="en-US" sz="3300" b="1" i="0" u="none" strike="noStrike" cap="none" dirty="0" err="1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οτελέσμ</a:t>
            </a:r>
            <a:r>
              <a:rPr lang="en-US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ατα: NSL-KDD (1/2)</a:t>
            </a:r>
            <a:endParaRPr dirty="0">
              <a:latin typeface="+mj-lt"/>
            </a:endParaRPr>
          </a:p>
        </p:txBody>
      </p:sp>
      <p:sp>
        <p:nvSpPr>
          <p:cNvPr id="341" name="Google Shape;341;p27"/>
          <p:cNvSpPr/>
          <p:nvPr/>
        </p:nvSpPr>
        <p:spPr>
          <a:xfrm>
            <a:off x="571500" y="1190625"/>
            <a:ext cx="11049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Εικόνα 2">
            <a:extLst>
              <a:ext uri="{FF2B5EF4-FFF2-40B4-BE49-F238E27FC236}">
                <a16:creationId xmlns:a16="http://schemas.microsoft.com/office/drawing/2014/main" id="{295C26C6-4A79-0446-0E76-D4CC3086B7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5165" y="1849040"/>
            <a:ext cx="7288696" cy="378856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6598357-A9DC-13DE-4A68-5BD8B92BA08E}"/>
              </a:ext>
            </a:extLst>
          </p:cNvPr>
          <p:cNvSpPr txBox="1"/>
          <p:nvPr/>
        </p:nvSpPr>
        <p:spPr>
          <a:xfrm>
            <a:off x="8150087" y="2206487"/>
            <a:ext cx="347041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l-GR" sz="1800" dirty="0">
                <a:latin typeface="+mn-lt"/>
              </a:rPr>
              <a:t>Μεγαλύτερη σπανιότητα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l-GR" sz="1800" dirty="0">
              <a:latin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l-GR" sz="1800" dirty="0">
                <a:latin typeface="+mn-lt"/>
              </a:rPr>
              <a:t>Μεγαλύτερη αστάθεια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l-GR" sz="1800" dirty="0">
              <a:latin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l-GR" sz="1800" dirty="0">
                <a:latin typeface="+mn-lt"/>
              </a:rPr>
              <a:t>Συνθετικά Δεδομένα δεν συνεισφέρουν στην επίδοση</a:t>
            </a:r>
          </a:p>
        </p:txBody>
      </p:sp>
      <p:sp>
        <p:nvSpPr>
          <p:cNvPr id="5" name="Ορθογώνιο: Στρογγύλεμα γωνιών 4">
            <a:extLst>
              <a:ext uri="{FF2B5EF4-FFF2-40B4-BE49-F238E27FC236}">
                <a16:creationId xmlns:a16="http://schemas.microsoft.com/office/drawing/2014/main" id="{5395BB3B-EDDC-ABCD-99FD-D298B0A7A3FB}"/>
              </a:ext>
            </a:extLst>
          </p:cNvPr>
          <p:cNvSpPr/>
          <p:nvPr/>
        </p:nvSpPr>
        <p:spPr>
          <a:xfrm>
            <a:off x="11144250" y="6381750"/>
            <a:ext cx="873125" cy="257662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18 / 26</a:t>
            </a:r>
            <a:endParaRPr lang="el-GR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2" name="Google Shape;352;p2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55" name="Google Shape;355;p28"/>
          <p:cNvSpPr txBox="1"/>
          <p:nvPr/>
        </p:nvSpPr>
        <p:spPr>
          <a:xfrm>
            <a:off x="571500" y="476250"/>
            <a:ext cx="1160145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005088"/>
                </a:solidFill>
                <a:latin typeface="+mn-lt"/>
                <a:ea typeface="Poppins"/>
                <a:cs typeface="Poppins"/>
                <a:sym typeface="Poppins"/>
              </a:rPr>
              <a:t>Απ</a:t>
            </a:r>
            <a:r>
              <a:rPr lang="en-US" sz="3300" b="1" i="0" u="none" strike="noStrike" cap="none" dirty="0" err="1">
                <a:solidFill>
                  <a:srgbClr val="005088"/>
                </a:solidFill>
                <a:latin typeface="+mn-lt"/>
                <a:ea typeface="Poppins"/>
                <a:cs typeface="Poppins"/>
                <a:sym typeface="Poppins"/>
              </a:rPr>
              <a:t>οτελέσμ</a:t>
            </a:r>
            <a:r>
              <a:rPr lang="en-US" sz="3300" b="1" i="0" u="none" strike="noStrike" cap="none" dirty="0">
                <a:solidFill>
                  <a:srgbClr val="005088"/>
                </a:solidFill>
                <a:latin typeface="+mn-lt"/>
                <a:ea typeface="Poppins"/>
                <a:cs typeface="Poppins"/>
                <a:sym typeface="Poppins"/>
              </a:rPr>
              <a:t>ατα: NSL-KDD (2/2)</a:t>
            </a:r>
            <a:endParaRPr dirty="0">
              <a:latin typeface="+mn-lt"/>
            </a:endParaRPr>
          </a:p>
        </p:txBody>
      </p:sp>
      <p:sp>
        <p:nvSpPr>
          <p:cNvPr id="356" name="Google Shape;356;p28"/>
          <p:cNvSpPr/>
          <p:nvPr/>
        </p:nvSpPr>
        <p:spPr>
          <a:xfrm>
            <a:off x="571500" y="1190625"/>
            <a:ext cx="11049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Εικόνα 2">
            <a:extLst>
              <a:ext uri="{FF2B5EF4-FFF2-40B4-BE49-F238E27FC236}">
                <a16:creationId xmlns:a16="http://schemas.microsoft.com/office/drawing/2014/main" id="{6D10A7E9-DF4D-2CB3-A251-D05C1A1EBF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485" y="1717637"/>
            <a:ext cx="6766176" cy="3889401"/>
          </a:xfrm>
          <a:prstGeom prst="rect">
            <a:avLst/>
          </a:prstGeom>
        </p:spPr>
      </p:pic>
      <p:pic>
        <p:nvPicPr>
          <p:cNvPr id="5" name="Google Shape;97;p14" descr="image.png">
            <a:extLst>
              <a:ext uri="{FF2B5EF4-FFF2-40B4-BE49-F238E27FC236}">
                <a16:creationId xmlns:a16="http://schemas.microsoft.com/office/drawing/2014/main" id="{EFFE80F2-2A7A-14F2-5676-2CA779F64230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501144" y="2372565"/>
            <a:ext cx="4019964" cy="2365087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C9F01D8-D94E-A772-DE7F-001BD1741EF1}"/>
              </a:ext>
            </a:extLst>
          </p:cNvPr>
          <p:cNvSpPr txBox="1"/>
          <p:nvPr/>
        </p:nvSpPr>
        <p:spPr>
          <a:xfrm>
            <a:off x="7673214" y="3398143"/>
            <a:ext cx="36758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2000" b="1" dirty="0"/>
              <a:t>Υπεροχή της Αρχιτεκτονικής </a:t>
            </a:r>
            <a:r>
              <a:rPr lang="en-US" sz="2000" b="1" dirty="0"/>
              <a:t>Trans-Client SMOTE</a:t>
            </a:r>
            <a:endParaRPr lang="el-GR" sz="2000" b="1" dirty="0"/>
          </a:p>
        </p:txBody>
      </p:sp>
      <p:pic>
        <p:nvPicPr>
          <p:cNvPr id="7" name="Γραφικό 6" descr="Αναμμένα φώτα με συμπαγές γέμισμα">
            <a:extLst>
              <a:ext uri="{FF2B5EF4-FFF2-40B4-BE49-F238E27FC236}">
                <a16:creationId xmlns:a16="http://schemas.microsoft.com/office/drawing/2014/main" id="{B7745047-A917-1B5A-0136-A09A3A9CCE2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92861" y="2469386"/>
            <a:ext cx="636529" cy="636529"/>
          </a:xfrm>
          <a:prstGeom prst="rect">
            <a:avLst/>
          </a:prstGeom>
        </p:spPr>
      </p:pic>
      <p:sp>
        <p:nvSpPr>
          <p:cNvPr id="8" name="Ορθογώνιο: Στρογγύλεμα γωνιών 7">
            <a:extLst>
              <a:ext uri="{FF2B5EF4-FFF2-40B4-BE49-F238E27FC236}">
                <a16:creationId xmlns:a16="http://schemas.microsoft.com/office/drawing/2014/main" id="{7E149C3F-DD99-576A-3C21-90D4B9F69856}"/>
              </a:ext>
            </a:extLst>
          </p:cNvPr>
          <p:cNvSpPr/>
          <p:nvPr/>
        </p:nvSpPr>
        <p:spPr>
          <a:xfrm>
            <a:off x="11144250" y="6381750"/>
            <a:ext cx="873125" cy="257662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19 / 26</a:t>
            </a:r>
            <a:endParaRPr lang="el-GR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2" name="Google Shape;372;p2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4" name="Google Shape;374;p2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361307"/>
            <a:ext cx="3555950" cy="2329755"/>
          </a:xfrm>
          <a:prstGeom prst="rect">
            <a:avLst/>
          </a:prstGeom>
          <a:noFill/>
          <a:ln>
            <a:noFill/>
          </a:ln>
        </p:spPr>
      </p:pic>
      <p:pic>
        <p:nvPicPr>
          <p:cNvPr id="375" name="Google Shape;375;p2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17950" y="2361307"/>
            <a:ext cx="3555950" cy="2329755"/>
          </a:xfrm>
          <a:prstGeom prst="rect">
            <a:avLst/>
          </a:prstGeom>
          <a:noFill/>
          <a:ln>
            <a:noFill/>
          </a:ln>
        </p:spPr>
      </p:pic>
      <p:pic>
        <p:nvPicPr>
          <p:cNvPr id="376" name="Google Shape;376;p29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064400" y="2361307"/>
            <a:ext cx="3556099" cy="2329755"/>
          </a:xfrm>
          <a:prstGeom prst="rect">
            <a:avLst/>
          </a:prstGeom>
          <a:noFill/>
          <a:ln>
            <a:noFill/>
          </a:ln>
        </p:spPr>
      </p:pic>
      <p:sp>
        <p:nvSpPr>
          <p:cNvPr id="377" name="Google Shape;377;p29"/>
          <p:cNvSpPr txBox="1"/>
          <p:nvPr/>
        </p:nvSpPr>
        <p:spPr>
          <a:xfrm>
            <a:off x="571500" y="476250"/>
            <a:ext cx="1160145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005088"/>
                </a:solidFill>
                <a:latin typeface="+mn-lt"/>
                <a:ea typeface="Poppins"/>
                <a:cs typeface="Poppins"/>
                <a:sym typeface="Poppins"/>
              </a:rPr>
              <a:t>Υπ</a:t>
            </a:r>
            <a:r>
              <a:rPr lang="en-US" sz="3300" b="1" i="0" u="none" strike="noStrike" cap="none" dirty="0" err="1">
                <a:solidFill>
                  <a:srgbClr val="005088"/>
                </a:solidFill>
                <a:latin typeface="+mn-lt"/>
                <a:ea typeface="Poppins"/>
                <a:cs typeface="Poppins"/>
                <a:sym typeface="Poppins"/>
              </a:rPr>
              <a:t>ολογιστικό</a:t>
            </a:r>
            <a:r>
              <a:rPr lang="en-US" sz="3300" b="1" i="0" u="none" strike="noStrike" cap="none" dirty="0">
                <a:solidFill>
                  <a:srgbClr val="005088"/>
                </a:solidFill>
                <a:latin typeface="+mn-lt"/>
                <a:ea typeface="Poppins"/>
                <a:cs typeface="Poppins"/>
                <a:sym typeface="Poppins"/>
              </a:rPr>
              <a:t> &amp; Επ</a:t>
            </a:r>
            <a:r>
              <a:rPr lang="en-US" sz="3300" b="1" i="0" u="none" strike="noStrike" cap="none" dirty="0" err="1">
                <a:solidFill>
                  <a:srgbClr val="005088"/>
                </a:solidFill>
                <a:latin typeface="+mn-lt"/>
                <a:ea typeface="Poppins"/>
                <a:cs typeface="Poppins"/>
                <a:sym typeface="Poppins"/>
              </a:rPr>
              <a:t>ικοινωνι</a:t>
            </a:r>
            <a:r>
              <a:rPr lang="en-US" sz="3300" b="1" i="0" u="none" strike="noStrike" cap="none" dirty="0">
                <a:solidFill>
                  <a:srgbClr val="005088"/>
                </a:solidFill>
                <a:latin typeface="+mn-lt"/>
                <a:ea typeface="Poppins"/>
                <a:cs typeface="Poppins"/>
                <a:sym typeface="Poppins"/>
              </a:rPr>
              <a:t>ακό Κόστος</a:t>
            </a:r>
            <a:endParaRPr dirty="0">
              <a:latin typeface="+mn-lt"/>
            </a:endParaRPr>
          </a:p>
        </p:txBody>
      </p:sp>
      <p:sp>
        <p:nvSpPr>
          <p:cNvPr id="378" name="Google Shape;378;p29"/>
          <p:cNvSpPr/>
          <p:nvPr/>
        </p:nvSpPr>
        <p:spPr>
          <a:xfrm>
            <a:off x="571500" y="1190625"/>
            <a:ext cx="11049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29"/>
          <p:cNvSpPr txBox="1"/>
          <p:nvPr/>
        </p:nvSpPr>
        <p:spPr>
          <a:xfrm>
            <a:off x="571500" y="4976812"/>
            <a:ext cx="11049000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Η επιβ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άρυνση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κρίνετ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αι </a:t>
            </a:r>
            <a:r>
              <a:rPr lang="en-US" sz="1800" b="1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αμελητέα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για Cross-Silo εφαρμογές.</a:t>
            </a:r>
            <a:endParaRPr dirty="0">
              <a:latin typeface="+mn-lt"/>
            </a:endParaRPr>
          </a:p>
        </p:txBody>
      </p:sp>
      <p:pic>
        <p:nvPicPr>
          <p:cNvPr id="380" name="Google Shape;380;p29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111275" y="2685157"/>
            <a:ext cx="476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381" name="Google Shape;381;p29"/>
          <p:cNvSpPr txBox="1"/>
          <p:nvPr/>
        </p:nvSpPr>
        <p:spPr>
          <a:xfrm>
            <a:off x="782638" y="3351907"/>
            <a:ext cx="3133672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 err="1">
                <a:solidFill>
                  <a:srgbClr val="0F172A"/>
                </a:solidFill>
                <a:latin typeface="+mn-lt"/>
                <a:ea typeface="Poppins"/>
                <a:cs typeface="Poppins"/>
                <a:sym typeface="Poppins"/>
              </a:rPr>
              <a:t>Μέγεθος</a:t>
            </a:r>
            <a:r>
              <a:rPr lang="en-US" sz="1800" b="1" i="0" u="none" strike="noStrike" cap="none" dirty="0">
                <a:solidFill>
                  <a:srgbClr val="0F172A"/>
                </a:solidFill>
                <a:latin typeface="+mn-lt"/>
                <a:ea typeface="Poppins"/>
                <a:cs typeface="Poppins"/>
                <a:sym typeface="Poppins"/>
              </a:rPr>
              <a:t> </a:t>
            </a:r>
            <a:r>
              <a:rPr lang="en-US" sz="1800" b="1" i="0" u="none" strike="noStrike" cap="none" dirty="0" err="1">
                <a:solidFill>
                  <a:srgbClr val="0F172A"/>
                </a:solidFill>
                <a:latin typeface="+mn-lt"/>
                <a:ea typeface="Poppins"/>
                <a:cs typeface="Poppins"/>
                <a:sym typeface="Poppins"/>
              </a:rPr>
              <a:t>Μοντέλου</a:t>
            </a:r>
            <a:endParaRPr sz="1800" dirty="0">
              <a:latin typeface="+mn-lt"/>
            </a:endParaRPr>
          </a:p>
        </p:txBody>
      </p:sp>
      <p:sp>
        <p:nvSpPr>
          <p:cNvPr id="382" name="Google Shape;382;p29"/>
          <p:cNvSpPr txBox="1"/>
          <p:nvPr/>
        </p:nvSpPr>
        <p:spPr>
          <a:xfrm>
            <a:off x="857250" y="3856732"/>
            <a:ext cx="2984450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0.02 - 0.03 MB</a:t>
            </a:r>
            <a:endParaRPr dirty="0">
              <a:latin typeface="+mn-lt"/>
            </a:endParaRPr>
          </a:p>
        </p:txBody>
      </p:sp>
      <p:pic>
        <p:nvPicPr>
          <p:cNvPr id="383" name="Google Shape;383;p29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829151" y="2685157"/>
            <a:ext cx="53340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384" name="Google Shape;384;p29"/>
          <p:cNvSpPr txBox="1"/>
          <p:nvPr/>
        </p:nvSpPr>
        <p:spPr>
          <a:xfrm>
            <a:off x="4529089" y="3351907"/>
            <a:ext cx="3133672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 err="1">
                <a:solidFill>
                  <a:srgbClr val="0F172A"/>
                </a:solidFill>
                <a:latin typeface="+mn-lt"/>
                <a:ea typeface="Poppins"/>
                <a:cs typeface="Poppins"/>
                <a:sym typeface="Poppins"/>
              </a:rPr>
              <a:t>Δικτυ</a:t>
            </a:r>
            <a:r>
              <a:rPr lang="en-US" sz="1800" b="1" i="0" u="none" strike="noStrike" cap="none" dirty="0">
                <a:solidFill>
                  <a:srgbClr val="0F172A"/>
                </a:solidFill>
                <a:latin typeface="+mn-lt"/>
                <a:ea typeface="Poppins"/>
                <a:cs typeface="Poppins"/>
                <a:sym typeface="Poppins"/>
              </a:rPr>
              <a:t>ακή Κίνηση</a:t>
            </a:r>
            <a:endParaRPr sz="1800" dirty="0">
              <a:latin typeface="+mn-lt"/>
            </a:endParaRPr>
          </a:p>
        </p:txBody>
      </p:sp>
      <p:sp>
        <p:nvSpPr>
          <p:cNvPr id="385" name="Google Shape;385;p29"/>
          <p:cNvSpPr txBox="1"/>
          <p:nvPr/>
        </p:nvSpPr>
        <p:spPr>
          <a:xfrm>
            <a:off x="4603700" y="3856732"/>
            <a:ext cx="2984450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3.81 - 5.96 MB (20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γύροι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)</a:t>
            </a:r>
            <a:endParaRPr dirty="0">
              <a:latin typeface="+mn-lt"/>
            </a:endParaRPr>
          </a:p>
        </p:txBody>
      </p:sp>
      <p:pic>
        <p:nvPicPr>
          <p:cNvPr id="386" name="Google Shape;386;p29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604325" y="2685157"/>
            <a:ext cx="476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387" name="Google Shape;387;p29"/>
          <p:cNvSpPr txBox="1"/>
          <p:nvPr/>
        </p:nvSpPr>
        <p:spPr>
          <a:xfrm>
            <a:off x="8275535" y="3351907"/>
            <a:ext cx="3133829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l-GR" sz="1800" b="1" dirty="0">
                <a:latin typeface="+mn-lt"/>
              </a:rPr>
              <a:t>Χρονικό Κόστος</a:t>
            </a:r>
            <a:endParaRPr sz="1800" b="1" dirty="0">
              <a:latin typeface="+mn-lt"/>
            </a:endParaRPr>
          </a:p>
        </p:txBody>
      </p:sp>
      <p:sp>
        <p:nvSpPr>
          <p:cNvPr id="388" name="Google Shape;388;p29"/>
          <p:cNvSpPr txBox="1"/>
          <p:nvPr/>
        </p:nvSpPr>
        <p:spPr>
          <a:xfrm>
            <a:off x="8238228" y="3856732"/>
            <a:ext cx="3208442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>
              <a:lnSpc>
                <a:spcPct val="140000"/>
              </a:lnSpc>
            </a:pP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~2.2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δευτερόλε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πτα (</a:t>
            </a:r>
            <a:r>
              <a:rPr lang="el-GR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Μέγιστο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)</a:t>
            </a:r>
            <a:r>
              <a:rPr lang="el-GR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endParaRPr lang="el-GR" sz="1800" b="1" i="0" u="none" strike="noStrike" cap="none" dirty="0">
              <a:solidFill>
                <a:srgbClr val="334155"/>
              </a:solidFill>
              <a:latin typeface="+mn-lt"/>
              <a:ea typeface="Lato"/>
              <a:cs typeface="Lato"/>
              <a:sym typeface="Lato"/>
            </a:endParaRPr>
          </a:p>
          <a:p>
            <a:pPr lvl="0" algn="ctr">
              <a:lnSpc>
                <a:spcPct val="140000"/>
              </a:lnSpc>
            </a:pPr>
            <a:r>
              <a:rPr lang="el-GR" sz="180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0.24 δευτερόλεπτα (Ελάχιστο)</a:t>
            </a:r>
            <a:endParaRPr dirty="0">
              <a:latin typeface="+mn-lt"/>
            </a:endParaRPr>
          </a:p>
        </p:txBody>
      </p:sp>
      <p:sp>
        <p:nvSpPr>
          <p:cNvPr id="2" name="Ορθογώνιο: Στρογγύλεμα γωνιών 1">
            <a:extLst>
              <a:ext uri="{FF2B5EF4-FFF2-40B4-BE49-F238E27FC236}">
                <a16:creationId xmlns:a16="http://schemas.microsoft.com/office/drawing/2014/main" id="{8F3A5BEE-96F2-7897-8F4C-8191ACFD1B7A}"/>
              </a:ext>
            </a:extLst>
          </p:cNvPr>
          <p:cNvSpPr/>
          <p:nvPr/>
        </p:nvSpPr>
        <p:spPr>
          <a:xfrm>
            <a:off x="11144250" y="6381750"/>
            <a:ext cx="873125" cy="257662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20 / 26</a:t>
            </a:r>
            <a:endParaRPr lang="el-GR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3" name="Google Shape;393;p3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95" name="Google Shape;395;p30"/>
          <p:cNvSpPr txBox="1"/>
          <p:nvPr/>
        </p:nvSpPr>
        <p:spPr>
          <a:xfrm>
            <a:off x="571500" y="476250"/>
            <a:ext cx="1160145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5088"/>
                </a:solidFill>
                <a:latin typeface="+mn-lt"/>
                <a:ea typeface="Poppins"/>
                <a:cs typeface="Poppins"/>
                <a:sym typeface="Poppins"/>
              </a:rPr>
              <a:t>Συμ</a:t>
            </a:r>
            <a:r>
              <a:rPr lang="en-US" sz="3300" b="1" i="0" u="none" strike="noStrike" cap="none" dirty="0">
                <a:solidFill>
                  <a:srgbClr val="005088"/>
                </a:solidFill>
                <a:latin typeface="+mn-lt"/>
                <a:ea typeface="Poppins"/>
                <a:cs typeface="Poppins"/>
                <a:sym typeface="Poppins"/>
              </a:rPr>
              <a:t>περάσματα</a:t>
            </a:r>
            <a:endParaRPr dirty="0">
              <a:latin typeface="+mn-lt"/>
            </a:endParaRPr>
          </a:p>
        </p:txBody>
      </p:sp>
      <p:sp>
        <p:nvSpPr>
          <p:cNvPr id="396" name="Google Shape;396;p30"/>
          <p:cNvSpPr/>
          <p:nvPr/>
        </p:nvSpPr>
        <p:spPr>
          <a:xfrm>
            <a:off x="571500" y="1190625"/>
            <a:ext cx="11049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30"/>
          <p:cNvSpPr txBox="1"/>
          <p:nvPr/>
        </p:nvSpPr>
        <p:spPr>
          <a:xfrm>
            <a:off x="1000124" y="2870073"/>
            <a:ext cx="10620375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l-GR" sz="1800" dirty="0"/>
              <a:t>Ανισορροπία Κλάσεων + Στατιστική Ετερογένεια = Κατάρρευση Ομοσπονδιακών Συστημάτων</a:t>
            </a:r>
          </a:p>
        </p:txBody>
      </p:sp>
      <p:sp>
        <p:nvSpPr>
          <p:cNvPr id="398" name="Google Shape;398;p30"/>
          <p:cNvSpPr txBox="1"/>
          <p:nvPr/>
        </p:nvSpPr>
        <p:spPr>
          <a:xfrm>
            <a:off x="1000123" y="3386607"/>
            <a:ext cx="10620375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 err="1"/>
              <a:t>FedSMOTE</a:t>
            </a:r>
            <a:r>
              <a:rPr lang="en-US" sz="1800" dirty="0"/>
              <a:t> = </a:t>
            </a:r>
            <a:r>
              <a:rPr lang="el-GR" sz="1800" dirty="0"/>
              <a:t>Ενσωμάτωση Συνθετικών Δεδομένων σε Ομοσπονδιακά Περιβάλλοντα με ουσιαστικό τρόπο</a:t>
            </a:r>
          </a:p>
        </p:txBody>
      </p:sp>
      <p:sp>
        <p:nvSpPr>
          <p:cNvPr id="399" name="Google Shape;399;p30"/>
          <p:cNvSpPr txBox="1"/>
          <p:nvPr/>
        </p:nvSpPr>
        <p:spPr>
          <a:xfrm>
            <a:off x="1000121" y="4282529"/>
            <a:ext cx="10620375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/>
              <a:t>Trans-Client SMOTE </a:t>
            </a:r>
            <a:r>
              <a:rPr lang="el-GR" sz="1800" dirty="0"/>
              <a:t>εγγυάται τα Καλύτερα Αποτελέσματα, ακόμα και σε δύσκολα σενάρια</a:t>
            </a:r>
          </a:p>
        </p:txBody>
      </p:sp>
      <p:sp>
        <p:nvSpPr>
          <p:cNvPr id="400" name="Google Shape;400;p30"/>
          <p:cNvSpPr txBox="1"/>
          <p:nvPr/>
        </p:nvSpPr>
        <p:spPr>
          <a:xfrm>
            <a:off x="1000120" y="4800898"/>
            <a:ext cx="10620375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/>
              <a:t>FHE + CKKS </a:t>
            </a:r>
            <a:r>
              <a:rPr lang="el-GR" sz="1800" dirty="0"/>
              <a:t>επιτρέπουν συνεργατική παραγωγή Συνθετικών Δεδομένων, χωρίς διαρροή πληροφορίας</a:t>
            </a:r>
          </a:p>
        </p:txBody>
      </p:sp>
      <p:pic>
        <p:nvPicPr>
          <p:cNvPr id="401" name="Google Shape;401;p3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970014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2" name="Google Shape;402;p3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480494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3" name="Google Shape;403;p3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499" y="4402484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4" name="Google Shape;404;p3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498" y="4920853"/>
            <a:ext cx="123825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Ορθογώνιο: Στρογγύλεμα γωνιών 1">
            <a:extLst>
              <a:ext uri="{FF2B5EF4-FFF2-40B4-BE49-F238E27FC236}">
                <a16:creationId xmlns:a16="http://schemas.microsoft.com/office/drawing/2014/main" id="{5F580AE5-749D-B6D2-D2EE-248A14ADFDB6}"/>
              </a:ext>
            </a:extLst>
          </p:cNvPr>
          <p:cNvSpPr/>
          <p:nvPr/>
        </p:nvSpPr>
        <p:spPr>
          <a:xfrm>
            <a:off x="11144250" y="6381750"/>
            <a:ext cx="873125" cy="257662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21 / 26</a:t>
            </a:r>
            <a:endParaRPr lang="el-GR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" name="Google Shape;409;p3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11" name="Google Shape;411;p31"/>
          <p:cNvSpPr txBox="1"/>
          <p:nvPr/>
        </p:nvSpPr>
        <p:spPr>
          <a:xfrm>
            <a:off x="571500" y="476250"/>
            <a:ext cx="1160145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5088"/>
                </a:solidFill>
                <a:latin typeface="+mn-lt"/>
                <a:ea typeface="Poppins"/>
                <a:cs typeface="Poppins"/>
                <a:sym typeface="Poppins"/>
              </a:rPr>
              <a:t>Ανοιχτά</a:t>
            </a:r>
            <a:r>
              <a:rPr lang="en-US" sz="3300" b="1" i="0" u="none" strike="noStrike" cap="none" dirty="0">
                <a:solidFill>
                  <a:srgbClr val="005088"/>
                </a:solidFill>
                <a:latin typeface="+mn-lt"/>
                <a:ea typeface="Poppins"/>
                <a:cs typeface="Poppins"/>
                <a:sym typeface="Poppins"/>
              </a:rPr>
              <a:t> </a:t>
            </a:r>
            <a:r>
              <a:rPr lang="en-US" sz="3300" b="1" i="0" u="none" strike="noStrike" cap="none" dirty="0" err="1">
                <a:solidFill>
                  <a:srgbClr val="005088"/>
                </a:solidFill>
                <a:latin typeface="+mn-lt"/>
                <a:ea typeface="Poppins"/>
                <a:cs typeface="Poppins"/>
                <a:sym typeface="Poppins"/>
              </a:rPr>
              <a:t>Ζητήμ</a:t>
            </a:r>
            <a:r>
              <a:rPr lang="en-US" sz="3300" b="1" i="0" u="none" strike="noStrike" cap="none" dirty="0">
                <a:solidFill>
                  <a:srgbClr val="005088"/>
                </a:solidFill>
                <a:latin typeface="+mn-lt"/>
                <a:ea typeface="Poppins"/>
                <a:cs typeface="Poppins"/>
                <a:sym typeface="Poppins"/>
              </a:rPr>
              <a:t>ατα</a:t>
            </a:r>
            <a:endParaRPr dirty="0">
              <a:latin typeface="+mn-lt"/>
            </a:endParaRPr>
          </a:p>
        </p:txBody>
      </p:sp>
      <p:sp>
        <p:nvSpPr>
          <p:cNvPr id="412" name="Google Shape;412;p31"/>
          <p:cNvSpPr/>
          <p:nvPr/>
        </p:nvSpPr>
        <p:spPr>
          <a:xfrm>
            <a:off x="571500" y="1190625"/>
            <a:ext cx="11049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31"/>
          <p:cNvSpPr txBox="1"/>
          <p:nvPr/>
        </p:nvSpPr>
        <p:spPr>
          <a:xfrm>
            <a:off x="1000125" y="3131367"/>
            <a:ext cx="10620375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Τηλε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πικοινωνιακή επιβάρυνση σε </a:t>
            </a:r>
            <a:r>
              <a:rPr lang="el-GR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μεγαλύτερα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μοντέλ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α</a:t>
            </a:r>
            <a:r>
              <a:rPr lang="el-GR" sz="180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.</a:t>
            </a:r>
            <a:endParaRPr dirty="0">
              <a:latin typeface="+mn-lt"/>
            </a:endParaRPr>
          </a:p>
        </p:txBody>
      </p:sp>
      <p:sp>
        <p:nvSpPr>
          <p:cNvPr id="414" name="Google Shape;414;p31"/>
          <p:cNvSpPr txBox="1"/>
          <p:nvPr/>
        </p:nvSpPr>
        <p:spPr>
          <a:xfrm>
            <a:off x="1000124" y="3641847"/>
            <a:ext cx="10620375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Περιορισμοί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του CKKS στη συνεχή τυχαία παρεμβολή.</a:t>
            </a:r>
            <a:endParaRPr dirty="0">
              <a:latin typeface="+mn-lt"/>
            </a:endParaRPr>
          </a:p>
        </p:txBody>
      </p:sp>
      <p:sp>
        <p:nvSpPr>
          <p:cNvPr id="415" name="Google Shape;415;p31"/>
          <p:cNvSpPr txBox="1"/>
          <p:nvPr/>
        </p:nvSpPr>
        <p:spPr>
          <a:xfrm>
            <a:off x="1000124" y="4152328"/>
            <a:ext cx="10620375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Προκλήσεις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σε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συσκευές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με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π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εριορισμένους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π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όρους</a:t>
            </a:r>
            <a:r>
              <a:rPr lang="el-GR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.</a:t>
            </a:r>
            <a:endParaRPr dirty="0">
              <a:latin typeface="+mn-lt"/>
            </a:endParaRPr>
          </a:p>
        </p:txBody>
      </p:sp>
      <p:pic>
        <p:nvPicPr>
          <p:cNvPr id="416" name="Google Shape;416;p3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225254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17" name="Google Shape;417;p3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735734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18" name="Google Shape;418;p3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4246215"/>
            <a:ext cx="123825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Ορθογώνιο: Στρογγύλεμα γωνιών 1">
            <a:extLst>
              <a:ext uri="{FF2B5EF4-FFF2-40B4-BE49-F238E27FC236}">
                <a16:creationId xmlns:a16="http://schemas.microsoft.com/office/drawing/2014/main" id="{29E37F0D-E439-88B5-CBF2-560923F3F2E0}"/>
              </a:ext>
            </a:extLst>
          </p:cNvPr>
          <p:cNvSpPr/>
          <p:nvPr/>
        </p:nvSpPr>
        <p:spPr>
          <a:xfrm>
            <a:off x="11144250" y="6381750"/>
            <a:ext cx="873125" cy="257662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22 / 26</a:t>
            </a:r>
            <a:endParaRPr lang="el-GR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3" name="Google Shape;423;p3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25" name="Google Shape;425;p32"/>
          <p:cNvSpPr txBox="1"/>
          <p:nvPr/>
        </p:nvSpPr>
        <p:spPr>
          <a:xfrm>
            <a:off x="571500" y="476250"/>
            <a:ext cx="1160145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5088"/>
                </a:solidFill>
                <a:latin typeface="+mn-lt"/>
                <a:ea typeface="Poppins"/>
                <a:cs typeface="Poppins"/>
                <a:sym typeface="Poppins"/>
              </a:rPr>
              <a:t>Μελλοντικές</a:t>
            </a:r>
            <a:r>
              <a:rPr lang="en-US" sz="3300" b="1" i="0" u="none" strike="noStrike" cap="none" dirty="0">
                <a:solidFill>
                  <a:srgbClr val="005088"/>
                </a:solidFill>
                <a:latin typeface="+mn-lt"/>
                <a:ea typeface="Poppins"/>
                <a:cs typeface="Poppins"/>
                <a:sym typeface="Poppins"/>
              </a:rPr>
              <a:t> Επ</a:t>
            </a:r>
            <a:r>
              <a:rPr lang="en-US" sz="3300" b="1" i="0" u="none" strike="noStrike" cap="none" dirty="0" err="1">
                <a:solidFill>
                  <a:srgbClr val="005088"/>
                </a:solidFill>
                <a:latin typeface="+mn-lt"/>
                <a:ea typeface="Poppins"/>
                <a:cs typeface="Poppins"/>
                <a:sym typeface="Poppins"/>
              </a:rPr>
              <a:t>εκτάσεις</a:t>
            </a:r>
            <a:endParaRPr dirty="0">
              <a:latin typeface="+mn-lt"/>
            </a:endParaRPr>
          </a:p>
        </p:txBody>
      </p:sp>
      <p:sp>
        <p:nvSpPr>
          <p:cNvPr id="426" name="Google Shape;426;p32"/>
          <p:cNvSpPr/>
          <p:nvPr/>
        </p:nvSpPr>
        <p:spPr>
          <a:xfrm>
            <a:off x="571500" y="1190625"/>
            <a:ext cx="11049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32"/>
          <p:cNvSpPr txBox="1"/>
          <p:nvPr/>
        </p:nvSpPr>
        <p:spPr>
          <a:xfrm>
            <a:off x="1000125" y="2876127"/>
            <a:ext cx="10620375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l-GR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Ενσωμάτωση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Borderline-SMOTE</a:t>
            </a:r>
            <a:r>
              <a:rPr lang="el-GR" sz="180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και </a:t>
            </a:r>
            <a:r>
              <a:rPr lang="en-US" sz="180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ADASYN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εξολοκλήρου σε κρυπτογραφημένο χώρο.</a:t>
            </a:r>
            <a:endParaRPr dirty="0">
              <a:latin typeface="+mn-lt"/>
            </a:endParaRPr>
          </a:p>
        </p:txBody>
      </p:sp>
      <p:sp>
        <p:nvSpPr>
          <p:cNvPr id="428" name="Google Shape;428;p32"/>
          <p:cNvSpPr txBox="1"/>
          <p:nvPr/>
        </p:nvSpPr>
        <p:spPr>
          <a:xfrm>
            <a:off x="1000124" y="3420516"/>
            <a:ext cx="10620375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Υβ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ριδικά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μοντέλ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α ασφαλείας (FHE + Differential Privacy).</a:t>
            </a:r>
            <a:endParaRPr dirty="0">
              <a:latin typeface="+mn-lt"/>
            </a:endParaRPr>
          </a:p>
        </p:txBody>
      </p:sp>
      <p:sp>
        <p:nvSpPr>
          <p:cNvPr id="429" name="Google Shape;429;p32"/>
          <p:cNvSpPr txBox="1"/>
          <p:nvPr/>
        </p:nvSpPr>
        <p:spPr>
          <a:xfrm>
            <a:off x="1000124" y="3897088"/>
            <a:ext cx="10620375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Ασύγχρονη</a:t>
            </a:r>
            <a:r>
              <a:rPr lang="en-US" sz="180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Ομοσ</a:t>
            </a:r>
            <a:r>
              <a:rPr lang="en-US" sz="180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πονδιακή Μάθηση.</a:t>
            </a:r>
            <a:endParaRPr dirty="0">
              <a:latin typeface="+mn-lt"/>
            </a:endParaRPr>
          </a:p>
        </p:txBody>
      </p:sp>
      <p:sp>
        <p:nvSpPr>
          <p:cNvPr id="430" name="Google Shape;430;p32"/>
          <p:cNvSpPr txBox="1"/>
          <p:nvPr/>
        </p:nvSpPr>
        <p:spPr>
          <a:xfrm>
            <a:off x="1000124" y="4407568"/>
            <a:ext cx="10620375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Επ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ιτάχυνση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υλικο</a:t>
            </a:r>
            <a:r>
              <a:rPr lang="el-GR" sz="180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ύ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.</a:t>
            </a:r>
            <a:endParaRPr dirty="0">
              <a:latin typeface="+mn-lt"/>
            </a:endParaRPr>
          </a:p>
        </p:txBody>
      </p:sp>
      <p:pic>
        <p:nvPicPr>
          <p:cNvPr id="431" name="Google Shape;431;p3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970014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32" name="Google Shape;432;p3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480494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33" name="Google Shape;433;p3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990975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34" name="Google Shape;434;p3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4501455"/>
            <a:ext cx="123825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Ορθογώνιο: Στρογγύλεμα γωνιών 1">
            <a:extLst>
              <a:ext uri="{FF2B5EF4-FFF2-40B4-BE49-F238E27FC236}">
                <a16:creationId xmlns:a16="http://schemas.microsoft.com/office/drawing/2014/main" id="{4D0B9DEC-6D4C-C17D-B983-F07B316607F0}"/>
              </a:ext>
            </a:extLst>
          </p:cNvPr>
          <p:cNvSpPr/>
          <p:nvPr/>
        </p:nvSpPr>
        <p:spPr>
          <a:xfrm>
            <a:off x="11144250" y="6381750"/>
            <a:ext cx="873125" cy="257662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23 / 26</a:t>
            </a:r>
            <a:endParaRPr lang="el-GR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9" name="Google Shape;439;p3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41" name="Google Shape;441;p33"/>
          <p:cNvSpPr txBox="1"/>
          <p:nvPr/>
        </p:nvSpPr>
        <p:spPr>
          <a:xfrm>
            <a:off x="571500" y="476250"/>
            <a:ext cx="1160145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5088"/>
                </a:solidFill>
                <a:latin typeface="+mn-lt"/>
                <a:ea typeface="Poppins"/>
                <a:cs typeface="Poppins"/>
                <a:sym typeface="Poppins"/>
              </a:rPr>
              <a:t>Βι</a:t>
            </a:r>
            <a:r>
              <a:rPr lang="en-US" sz="3300" b="1" i="0" u="none" strike="noStrike" cap="none" dirty="0">
                <a:solidFill>
                  <a:srgbClr val="005088"/>
                </a:solidFill>
                <a:latin typeface="+mn-lt"/>
                <a:ea typeface="Poppins"/>
                <a:cs typeface="Poppins"/>
                <a:sym typeface="Poppins"/>
              </a:rPr>
              <a:t>βλιογραφία</a:t>
            </a:r>
            <a:endParaRPr dirty="0">
              <a:latin typeface="+mn-lt"/>
            </a:endParaRPr>
          </a:p>
        </p:txBody>
      </p:sp>
      <p:sp>
        <p:nvSpPr>
          <p:cNvPr id="442" name="Google Shape;442;p33"/>
          <p:cNvSpPr/>
          <p:nvPr/>
        </p:nvSpPr>
        <p:spPr>
          <a:xfrm>
            <a:off x="571500" y="1190625"/>
            <a:ext cx="11049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33"/>
          <p:cNvSpPr txBox="1"/>
          <p:nvPr/>
        </p:nvSpPr>
        <p:spPr>
          <a:xfrm>
            <a:off x="1000125" y="3079724"/>
            <a:ext cx="10620375" cy="2908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[18] McMahan et al., "Communication-Efficient Learning of Deep Networks from Decentralized Data", PMLR, 2017.</a:t>
            </a:r>
            <a:endParaRPr dirty="0">
              <a:latin typeface="+mn-lt"/>
            </a:endParaRPr>
          </a:p>
        </p:txBody>
      </p:sp>
      <p:sp>
        <p:nvSpPr>
          <p:cNvPr id="444" name="Google Shape;444;p33"/>
          <p:cNvSpPr txBox="1"/>
          <p:nvPr/>
        </p:nvSpPr>
        <p:spPr>
          <a:xfrm>
            <a:off x="1000125" y="3510899"/>
            <a:ext cx="10620375" cy="2908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[22] Chawla et al., "SMOTE: Synthetic Minority Over-sampling Technique", JAIR, 2002.</a:t>
            </a:r>
            <a:endParaRPr dirty="0">
              <a:latin typeface="+mn-lt"/>
            </a:endParaRPr>
          </a:p>
        </p:txBody>
      </p:sp>
      <p:sp>
        <p:nvSpPr>
          <p:cNvPr id="445" name="Google Shape;445;p33"/>
          <p:cNvSpPr txBox="1"/>
          <p:nvPr/>
        </p:nvSpPr>
        <p:spPr>
          <a:xfrm>
            <a:off x="1000125" y="3939271"/>
            <a:ext cx="10620375" cy="2908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[54] Gentry, "Fully Homomorphic Encryption using Ideal Lattices", STOC, 2009.</a:t>
            </a:r>
            <a:endParaRPr dirty="0">
              <a:latin typeface="+mn-lt"/>
            </a:endParaRPr>
          </a:p>
        </p:txBody>
      </p:sp>
      <p:sp>
        <p:nvSpPr>
          <p:cNvPr id="446" name="Google Shape;446;p33"/>
          <p:cNvSpPr txBox="1"/>
          <p:nvPr/>
        </p:nvSpPr>
        <p:spPr>
          <a:xfrm>
            <a:off x="1000125" y="4370446"/>
            <a:ext cx="10620375" cy="2908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[56] Cheon et al., "Homomorphic Encryption for Arithmetic of Approximate Numbers", ASIACRYPT, 2017.</a:t>
            </a:r>
            <a:endParaRPr dirty="0">
              <a:latin typeface="+mn-lt"/>
            </a:endParaRPr>
          </a:p>
        </p:txBody>
      </p:sp>
      <p:pic>
        <p:nvPicPr>
          <p:cNvPr id="447" name="Google Shape;447;p3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130153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48" name="Google Shape;448;p3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560564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49" name="Google Shape;449;p3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990975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50" name="Google Shape;450;p3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4421385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450;p33" descr="image.png">
            <a:extLst>
              <a:ext uri="{FF2B5EF4-FFF2-40B4-BE49-F238E27FC236}">
                <a16:creationId xmlns:a16="http://schemas.microsoft.com/office/drawing/2014/main" id="{09D7200A-18DA-DDE6-B33C-CBC11889329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4836454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Google Shape;450;p33" descr="image.png">
            <a:extLst>
              <a:ext uri="{FF2B5EF4-FFF2-40B4-BE49-F238E27FC236}">
                <a16:creationId xmlns:a16="http://schemas.microsoft.com/office/drawing/2014/main" id="{047BB88E-9688-8E00-2833-0FF61E7E340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5251523"/>
            <a:ext cx="123825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E122BC7-CE7B-CA0D-6CF1-1E9D407692DC}"/>
              </a:ext>
            </a:extLst>
          </p:cNvPr>
          <p:cNvSpPr txBox="1"/>
          <p:nvPr/>
        </p:nvSpPr>
        <p:spPr>
          <a:xfrm>
            <a:off x="914400" y="4782066"/>
            <a:ext cx="7715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1350" dirty="0">
                <a:solidFill>
                  <a:srgbClr val="334155"/>
                </a:solidFill>
              </a:rPr>
              <a:t>[21]</a:t>
            </a:r>
            <a:r>
              <a:rPr lang="en-US" sz="1350" dirty="0">
                <a:solidFill>
                  <a:srgbClr val="334155"/>
                </a:solidFill>
              </a:rPr>
              <a:t> Wang et al., </a:t>
            </a:r>
            <a:r>
              <a:rPr lang="en-US" sz="1350" dirty="0">
                <a:solidFill>
                  <a:srgbClr val="334155"/>
                </a:solidFill>
                <a:ea typeface="Lato"/>
                <a:cs typeface="Lato"/>
                <a:sym typeface="Lato"/>
              </a:rPr>
              <a:t>“Addressing class imbalance in federated learning", AAAI, 2021.</a:t>
            </a:r>
            <a:r>
              <a:rPr lang="en-US" sz="1350" dirty="0">
                <a:solidFill>
                  <a:srgbClr val="334155"/>
                </a:solidFill>
              </a:rPr>
              <a:t> </a:t>
            </a:r>
            <a:endParaRPr lang="el-GR" sz="1350" dirty="0">
              <a:solidFill>
                <a:srgbClr val="334155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654A594-8EF8-207D-0862-163523AE0369}"/>
              </a:ext>
            </a:extLst>
          </p:cNvPr>
          <p:cNvSpPr txBox="1"/>
          <p:nvPr/>
        </p:nvSpPr>
        <p:spPr>
          <a:xfrm>
            <a:off x="914400" y="5197646"/>
            <a:ext cx="80899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50" dirty="0">
                <a:solidFill>
                  <a:srgbClr val="334155"/>
                </a:solidFill>
              </a:rPr>
              <a:t>[46] </a:t>
            </a:r>
            <a:r>
              <a:rPr lang="en-US" sz="1350" dirty="0" err="1">
                <a:solidFill>
                  <a:srgbClr val="334155"/>
                </a:solidFill>
              </a:rPr>
              <a:t>Japkowicz</a:t>
            </a:r>
            <a:r>
              <a:rPr lang="en-US" sz="1350" dirty="0">
                <a:solidFill>
                  <a:srgbClr val="334155"/>
                </a:solidFill>
              </a:rPr>
              <a:t>, Stephen, </a:t>
            </a:r>
            <a:r>
              <a:rPr lang="en-US" sz="1350" dirty="0">
                <a:solidFill>
                  <a:srgbClr val="334155"/>
                </a:solidFill>
                <a:ea typeface="Lato"/>
                <a:cs typeface="Lato"/>
                <a:sym typeface="Lato"/>
              </a:rPr>
              <a:t>“The class imbalance problem: A systematic study", IDA, 2002. </a:t>
            </a:r>
            <a:endParaRPr lang="el-GR" sz="1350" dirty="0"/>
          </a:p>
        </p:txBody>
      </p:sp>
      <p:sp>
        <p:nvSpPr>
          <p:cNvPr id="8" name="Ορθογώνιο: Στρογγύλεμα γωνιών 7">
            <a:extLst>
              <a:ext uri="{FF2B5EF4-FFF2-40B4-BE49-F238E27FC236}">
                <a16:creationId xmlns:a16="http://schemas.microsoft.com/office/drawing/2014/main" id="{B0A94880-52AE-E698-4476-F065EF881196}"/>
              </a:ext>
            </a:extLst>
          </p:cNvPr>
          <p:cNvSpPr/>
          <p:nvPr/>
        </p:nvSpPr>
        <p:spPr>
          <a:xfrm>
            <a:off x="11144250" y="6381750"/>
            <a:ext cx="873125" cy="257662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24 / 26</a:t>
            </a:r>
            <a:endParaRPr lang="el-GR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8">
          <a:extLst>
            <a:ext uri="{FF2B5EF4-FFF2-40B4-BE49-F238E27FC236}">
              <a16:creationId xmlns:a16="http://schemas.microsoft.com/office/drawing/2014/main" id="{9AE06368-ED99-FE7F-A8F0-D500FDD06E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9" name="Google Shape;439;p33" descr="image.png">
            <a:extLst>
              <a:ext uri="{FF2B5EF4-FFF2-40B4-BE49-F238E27FC236}">
                <a16:creationId xmlns:a16="http://schemas.microsoft.com/office/drawing/2014/main" id="{BDF230B9-E288-D22D-1062-39BE3319BEF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41" name="Google Shape;441;p33">
            <a:extLst>
              <a:ext uri="{FF2B5EF4-FFF2-40B4-BE49-F238E27FC236}">
                <a16:creationId xmlns:a16="http://schemas.microsoft.com/office/drawing/2014/main" id="{D9CFADC3-7219-FC7A-D70B-E2B5A39FEE70}"/>
              </a:ext>
            </a:extLst>
          </p:cNvPr>
          <p:cNvSpPr txBox="1"/>
          <p:nvPr/>
        </p:nvSpPr>
        <p:spPr>
          <a:xfrm>
            <a:off x="571500" y="476250"/>
            <a:ext cx="1160145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5088"/>
                </a:solidFill>
                <a:latin typeface="+mn-lt"/>
                <a:ea typeface="Poppins"/>
                <a:cs typeface="Poppins"/>
                <a:sym typeface="Poppins"/>
              </a:rPr>
              <a:t>Βι</a:t>
            </a:r>
            <a:r>
              <a:rPr lang="en-US" sz="3300" b="1" i="0" u="none" strike="noStrike" cap="none" dirty="0">
                <a:solidFill>
                  <a:srgbClr val="005088"/>
                </a:solidFill>
                <a:latin typeface="+mn-lt"/>
                <a:ea typeface="Poppins"/>
                <a:cs typeface="Poppins"/>
                <a:sym typeface="Poppins"/>
              </a:rPr>
              <a:t>βλιογραφία </a:t>
            </a:r>
            <a:r>
              <a:rPr lang="el-GR" sz="3300" b="1" i="0" u="none" strike="noStrike" cap="none" dirty="0">
                <a:solidFill>
                  <a:srgbClr val="005088"/>
                </a:solidFill>
                <a:latin typeface="+mn-lt"/>
                <a:ea typeface="Poppins"/>
                <a:cs typeface="Poppins"/>
                <a:sym typeface="Poppins"/>
              </a:rPr>
              <a:t>Εικόνων</a:t>
            </a:r>
            <a:endParaRPr dirty="0">
              <a:latin typeface="+mn-lt"/>
            </a:endParaRPr>
          </a:p>
        </p:txBody>
      </p:sp>
      <p:sp>
        <p:nvSpPr>
          <p:cNvPr id="442" name="Google Shape;442;p33">
            <a:extLst>
              <a:ext uri="{FF2B5EF4-FFF2-40B4-BE49-F238E27FC236}">
                <a16:creationId xmlns:a16="http://schemas.microsoft.com/office/drawing/2014/main" id="{EC276344-A377-A122-47A1-F7F65FE7297D}"/>
              </a:ext>
            </a:extLst>
          </p:cNvPr>
          <p:cNvSpPr/>
          <p:nvPr/>
        </p:nvSpPr>
        <p:spPr>
          <a:xfrm>
            <a:off x="571500" y="1190625"/>
            <a:ext cx="11049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33">
            <a:extLst>
              <a:ext uri="{FF2B5EF4-FFF2-40B4-BE49-F238E27FC236}">
                <a16:creationId xmlns:a16="http://schemas.microsoft.com/office/drawing/2014/main" id="{4987165D-26BD-ABBE-1EC2-D144B5CBA748}"/>
              </a:ext>
            </a:extLst>
          </p:cNvPr>
          <p:cNvSpPr txBox="1"/>
          <p:nvPr/>
        </p:nvSpPr>
        <p:spPr>
          <a:xfrm>
            <a:off x="1000125" y="3079724"/>
            <a:ext cx="10620375" cy="2908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39925"/>
              </a:lnSpc>
            </a:pPr>
            <a:r>
              <a:rPr lang="el-GR" sz="135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Ομοσπονδιακή Μάθηση - </a:t>
            </a:r>
            <a:r>
              <a:rPr lang="en-US" sz="135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https://blogs.nvidia.com/blog/what-is-federated-learning/</a:t>
            </a:r>
            <a:endParaRPr dirty="0">
              <a:latin typeface="+mn-lt"/>
            </a:endParaRPr>
          </a:p>
        </p:txBody>
      </p:sp>
      <p:sp>
        <p:nvSpPr>
          <p:cNvPr id="444" name="Google Shape;444;p33">
            <a:extLst>
              <a:ext uri="{FF2B5EF4-FFF2-40B4-BE49-F238E27FC236}">
                <a16:creationId xmlns:a16="http://schemas.microsoft.com/office/drawing/2014/main" id="{127BB4E9-6B95-3EDC-993A-AD7ABF6F67D4}"/>
              </a:ext>
            </a:extLst>
          </p:cNvPr>
          <p:cNvSpPr txBox="1"/>
          <p:nvPr/>
        </p:nvSpPr>
        <p:spPr>
          <a:xfrm>
            <a:off x="1000125" y="3510899"/>
            <a:ext cx="10620375" cy="301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39925"/>
              </a:lnSpc>
            </a:pPr>
            <a:r>
              <a:rPr lang="el-GR" sz="135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Αλγόριθμος </a:t>
            </a:r>
            <a:r>
              <a:rPr lang="en-US" sz="135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SMOTE - https://www.analyticsvidhya.com/blog/2020/10/overcoming-class-imbalance-using-smote-techniques/</a:t>
            </a:r>
            <a:endParaRPr dirty="0">
              <a:latin typeface="+mn-lt"/>
            </a:endParaRPr>
          </a:p>
        </p:txBody>
      </p:sp>
      <p:sp>
        <p:nvSpPr>
          <p:cNvPr id="445" name="Google Shape;445;p33">
            <a:extLst>
              <a:ext uri="{FF2B5EF4-FFF2-40B4-BE49-F238E27FC236}">
                <a16:creationId xmlns:a16="http://schemas.microsoft.com/office/drawing/2014/main" id="{2BC1A95E-C534-02B7-C5A0-6646A3326FD2}"/>
              </a:ext>
            </a:extLst>
          </p:cNvPr>
          <p:cNvSpPr txBox="1"/>
          <p:nvPr/>
        </p:nvSpPr>
        <p:spPr>
          <a:xfrm>
            <a:off x="1000125" y="3939271"/>
            <a:ext cx="10620375" cy="301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39925"/>
              </a:lnSpc>
            </a:pPr>
            <a:r>
              <a:rPr lang="el-GR" sz="135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Πλήρως </a:t>
            </a:r>
            <a:r>
              <a:rPr lang="el-GR" sz="1350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Ομομορφική</a:t>
            </a:r>
            <a:r>
              <a:rPr lang="el-GR" sz="135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Κρυπτογράφηση (</a:t>
            </a:r>
            <a:r>
              <a:rPr lang="en-US" sz="135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FHE) -</a:t>
            </a:r>
            <a:r>
              <a:rPr lang="el-GR" sz="135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35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https://www.linkedin.com/pulse/what-fully-homomorphic-encryption-gregory-boland-wi3ue/ </a:t>
            </a:r>
            <a:endParaRPr dirty="0">
              <a:latin typeface="+mn-lt"/>
            </a:endParaRPr>
          </a:p>
        </p:txBody>
      </p:sp>
      <p:sp>
        <p:nvSpPr>
          <p:cNvPr id="446" name="Google Shape;446;p33">
            <a:extLst>
              <a:ext uri="{FF2B5EF4-FFF2-40B4-BE49-F238E27FC236}">
                <a16:creationId xmlns:a16="http://schemas.microsoft.com/office/drawing/2014/main" id="{9BEA51BD-577B-A45C-60BF-6CEBF18ADCFD}"/>
              </a:ext>
            </a:extLst>
          </p:cNvPr>
          <p:cNvSpPr txBox="1"/>
          <p:nvPr/>
        </p:nvSpPr>
        <p:spPr>
          <a:xfrm>
            <a:off x="1000125" y="4370446"/>
            <a:ext cx="10620375" cy="301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l-GR" sz="135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Όλες οι υπόλοιπες εικόνες και διαγράμματα αποτελούν προϊόν προσωπικής εργασίας ή/και προκύπτουν από την πειραματική διαδικασία.</a:t>
            </a:r>
            <a:endParaRPr dirty="0">
              <a:latin typeface="+mn-lt"/>
            </a:endParaRPr>
          </a:p>
        </p:txBody>
      </p:sp>
      <p:pic>
        <p:nvPicPr>
          <p:cNvPr id="447" name="Google Shape;447;p33" descr="image.png">
            <a:extLst>
              <a:ext uri="{FF2B5EF4-FFF2-40B4-BE49-F238E27FC236}">
                <a16:creationId xmlns:a16="http://schemas.microsoft.com/office/drawing/2014/main" id="{2CC0254E-226D-AB78-30AB-734F17918B6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130153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48" name="Google Shape;448;p33" descr="image.png">
            <a:extLst>
              <a:ext uri="{FF2B5EF4-FFF2-40B4-BE49-F238E27FC236}">
                <a16:creationId xmlns:a16="http://schemas.microsoft.com/office/drawing/2014/main" id="{75A52B63-EFF0-26F6-6FDB-0C7D1332626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560564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49" name="Google Shape;449;p33" descr="image.png">
            <a:extLst>
              <a:ext uri="{FF2B5EF4-FFF2-40B4-BE49-F238E27FC236}">
                <a16:creationId xmlns:a16="http://schemas.microsoft.com/office/drawing/2014/main" id="{CA715435-B6E8-E49A-9E25-8DA73718F874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990975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50" name="Google Shape;450;p33" descr="image.png">
            <a:extLst>
              <a:ext uri="{FF2B5EF4-FFF2-40B4-BE49-F238E27FC236}">
                <a16:creationId xmlns:a16="http://schemas.microsoft.com/office/drawing/2014/main" id="{5E6D91F5-9889-C2D8-E6DA-E98A64664E11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4421385"/>
            <a:ext cx="123825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49A510D-5253-17E8-4306-A4F966D07B54}"/>
              </a:ext>
            </a:extLst>
          </p:cNvPr>
          <p:cNvSpPr txBox="1"/>
          <p:nvPr/>
        </p:nvSpPr>
        <p:spPr>
          <a:xfrm>
            <a:off x="914400" y="4782066"/>
            <a:ext cx="7715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l-GR" sz="1350" dirty="0">
              <a:solidFill>
                <a:srgbClr val="334155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72EED9-35DB-5782-3B26-292645555E8B}"/>
              </a:ext>
            </a:extLst>
          </p:cNvPr>
          <p:cNvSpPr txBox="1"/>
          <p:nvPr/>
        </p:nvSpPr>
        <p:spPr>
          <a:xfrm>
            <a:off x="914400" y="5197646"/>
            <a:ext cx="80899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l-GR" sz="1350" dirty="0"/>
          </a:p>
        </p:txBody>
      </p:sp>
      <p:sp>
        <p:nvSpPr>
          <p:cNvPr id="8" name="Ορθογώνιο: Στρογγύλεμα γωνιών 7">
            <a:extLst>
              <a:ext uri="{FF2B5EF4-FFF2-40B4-BE49-F238E27FC236}">
                <a16:creationId xmlns:a16="http://schemas.microsoft.com/office/drawing/2014/main" id="{762E1D8D-2B11-4E5E-7DCC-13E96F291C76}"/>
              </a:ext>
            </a:extLst>
          </p:cNvPr>
          <p:cNvSpPr/>
          <p:nvPr/>
        </p:nvSpPr>
        <p:spPr>
          <a:xfrm>
            <a:off x="11144250" y="6381750"/>
            <a:ext cx="873125" cy="257662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25 / 26</a:t>
            </a: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293310437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5" name="Google Shape;455;p3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57" name="Google Shape;457;p34"/>
          <p:cNvSpPr txBox="1"/>
          <p:nvPr/>
        </p:nvSpPr>
        <p:spPr>
          <a:xfrm>
            <a:off x="295275" y="1095375"/>
            <a:ext cx="11601450" cy="16158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250" b="1" i="0" u="none" strike="noStrike" cap="none" dirty="0" err="1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Ευχ</a:t>
            </a:r>
            <a:r>
              <a:rPr lang="en-US" sz="525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αριστώ πολύ για την προσοχή σας!</a:t>
            </a:r>
            <a:endParaRPr dirty="0">
              <a:latin typeface="+mj-lt"/>
            </a:endParaRPr>
          </a:p>
        </p:txBody>
      </p:sp>
      <p:sp>
        <p:nvSpPr>
          <p:cNvPr id="458" name="Google Shape;458;p34"/>
          <p:cNvSpPr txBox="1"/>
          <p:nvPr/>
        </p:nvSpPr>
        <p:spPr>
          <a:xfrm>
            <a:off x="571500" y="3495675"/>
            <a:ext cx="11049000" cy="517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Ερωτήσεις</a:t>
            </a:r>
            <a:r>
              <a:rPr lang="en-US" sz="24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;</a:t>
            </a:r>
            <a:endParaRPr dirty="0">
              <a:latin typeface="+mn-lt"/>
            </a:endParaRPr>
          </a:p>
        </p:txBody>
      </p:sp>
      <p:sp>
        <p:nvSpPr>
          <p:cNvPr id="459" name="Google Shape;459;p34"/>
          <p:cNvSpPr txBox="1"/>
          <p:nvPr/>
        </p:nvSpPr>
        <p:spPr>
          <a:xfrm>
            <a:off x="571500" y="4893915"/>
            <a:ext cx="11049000" cy="517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Ραφα</a:t>
            </a:r>
            <a:r>
              <a:rPr lang="en-US" sz="2400" b="1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ήλ-Ανέστης</a:t>
            </a:r>
            <a:r>
              <a:rPr lang="en-US" sz="2400" b="1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2400" b="1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Κωνστ</a:t>
            </a:r>
            <a:r>
              <a:rPr lang="en-US" sz="2400" b="1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αντίνου</a:t>
            </a:r>
            <a:endParaRPr sz="2400" dirty="0">
              <a:latin typeface="+mn-lt"/>
            </a:endParaRPr>
          </a:p>
        </p:txBody>
      </p:sp>
      <p:sp>
        <p:nvSpPr>
          <p:cNvPr id="460" name="Google Shape;460;p34"/>
          <p:cNvSpPr txBox="1"/>
          <p:nvPr/>
        </p:nvSpPr>
        <p:spPr>
          <a:xfrm>
            <a:off x="571500" y="5593902"/>
            <a:ext cx="11049000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Τμήμ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α Ηλεκτρολόγων Μηχανικών &amp; Μηχανικών Υπολογιστών Δ.Π.Θ.</a:t>
            </a:r>
            <a:endParaRPr sz="2000" dirty="0">
              <a:latin typeface="+mn-lt"/>
            </a:endParaRPr>
          </a:p>
        </p:txBody>
      </p:sp>
      <p:sp>
        <p:nvSpPr>
          <p:cNvPr id="2" name="Ορθογώνιο: Στρογγύλεμα γωνιών 1">
            <a:extLst>
              <a:ext uri="{FF2B5EF4-FFF2-40B4-BE49-F238E27FC236}">
                <a16:creationId xmlns:a16="http://schemas.microsoft.com/office/drawing/2014/main" id="{281D63FE-5B11-F25D-2678-5929EF7C399C}"/>
              </a:ext>
            </a:extLst>
          </p:cNvPr>
          <p:cNvSpPr/>
          <p:nvPr/>
        </p:nvSpPr>
        <p:spPr>
          <a:xfrm>
            <a:off x="11144250" y="6381750"/>
            <a:ext cx="873125" cy="257662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26 / 26</a:t>
            </a:r>
            <a:endParaRPr lang="el-GR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1565</TotalTime>
  <Words>1031</Words>
  <Application>Microsoft Office PowerPoint</Application>
  <PresentationFormat>Ευρεία οθόνη</PresentationFormat>
  <Paragraphs>178</Paragraphs>
  <Slides>26</Slides>
  <Notes>26</Notes>
  <HiddenSlides>0</HiddenSlides>
  <MMClips>0</MMClips>
  <ScaleCrop>false</ScaleCrop>
  <HeadingPairs>
    <vt:vector size="6" baseType="variant">
      <vt:variant>
        <vt:lpstr>Γραμματοσειρές που χρησιμοποιούνται</vt:lpstr>
      </vt:variant>
      <vt:variant>
        <vt:i4>4</vt:i4>
      </vt:variant>
      <vt:variant>
        <vt:lpstr>Θέμα</vt:lpstr>
      </vt:variant>
      <vt:variant>
        <vt:i4>1</vt:i4>
      </vt:variant>
      <vt:variant>
        <vt:lpstr>Τίτλοι διαφανειών</vt:lpstr>
      </vt:variant>
      <vt:variant>
        <vt:i4>26</vt:i4>
      </vt:variant>
    </vt:vector>
  </HeadingPairs>
  <TitlesOfParts>
    <vt:vector size="31" baseType="lpstr">
      <vt:lpstr>Calibri</vt:lpstr>
      <vt:lpstr>Lato</vt:lpstr>
      <vt:lpstr>Arial</vt:lpstr>
      <vt:lpstr>Poppins</vt:lpstr>
      <vt:lpstr>Office Theme</vt:lpstr>
      <vt:lpstr>Παρουσίαση του PowerPoint</vt:lpstr>
      <vt:lpstr>Παρουσίαση του PowerPoint</vt:lpstr>
      <vt:lpstr>Παρουσίαση του PowerPoint</vt:lpstr>
      <vt:lpstr>Παρουσίαση του PowerPoint</vt:lpstr>
      <vt:lpstr>Παρουσίαση του PowerPoint</vt:lpstr>
      <vt:lpstr>Παρουσίαση του PowerPoint</vt:lpstr>
      <vt:lpstr>Παρουσίαση του PowerPoint</vt:lpstr>
      <vt:lpstr>Παρουσίαση του PowerPoint</vt:lpstr>
      <vt:lpstr>Παρουσίαση του PowerPoint</vt:lpstr>
      <vt:lpstr>Παρουσίαση του PowerPoint</vt:lpstr>
      <vt:lpstr>Παρουσίαση του PowerPoint</vt:lpstr>
      <vt:lpstr>Παρουσίαση του PowerPoint</vt:lpstr>
      <vt:lpstr>Παρουσίαση του PowerPoint</vt:lpstr>
      <vt:lpstr>Παρουσίαση του PowerPoint</vt:lpstr>
      <vt:lpstr>Παρουσίαση του PowerPoint</vt:lpstr>
      <vt:lpstr>Παρουσίαση του PowerPoint</vt:lpstr>
      <vt:lpstr>Παρουσίαση του PowerPoint</vt:lpstr>
      <vt:lpstr>Παρουσίαση του PowerPoint</vt:lpstr>
      <vt:lpstr>Παρουσίαση του PowerPoint</vt:lpstr>
      <vt:lpstr>Παρουσίαση του PowerPoint</vt:lpstr>
      <vt:lpstr>Παρουσίαση του PowerPoint</vt:lpstr>
      <vt:lpstr>Παρουσίαση του PowerPoint</vt:lpstr>
      <vt:lpstr>Παρουσίαση του PowerPoint</vt:lpstr>
      <vt:lpstr>Παρουσίαση του PowerPoint</vt:lpstr>
      <vt:lpstr>Παρουσίαση του PowerPoint</vt:lpstr>
      <vt:lpstr>Παρουσίαση του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raf</dc:creator>
  <cp:lastModifiedBy>ΗΛΙΑΣ ΚΩΝΣΤΑΝΤΙΝΟΥ</cp:lastModifiedBy>
  <cp:revision>5</cp:revision>
  <dcterms:modified xsi:type="dcterms:W3CDTF">2026-06-12T16:56:08Z</dcterms:modified>
</cp:coreProperties>
</file>