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4" r:id="rId11"/>
    <p:sldId id="282" r:id="rId12"/>
    <p:sldId id="283" r:id="rId13"/>
    <p:sldId id="266" r:id="rId14"/>
    <p:sldId id="285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86" r:id="rId26"/>
    <p:sldId id="277" r:id="rId27"/>
  </p:sldIdLst>
  <p:sldSz cx="12192000" cy="6858000"/>
  <p:notesSz cx="6858000" cy="9144000"/>
  <p:embeddedFontLs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Poppins" panose="000005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1CAA0"/>
    <a:srgbClr val="FEF6F0"/>
    <a:srgbClr val="334155"/>
    <a:srgbClr val="697482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37C14-F02F-4141-81CE-6AD4972F6CDA}" v="80" dt="2026-06-02T20:10:15.558"/>
  </p1510:revLst>
</p1510:revInfo>
</file>

<file path=ppt/tableStyles.xml><?xml version="1.0" encoding="utf-8"?>
<a:tblStyleLst xmlns:a="http://schemas.openxmlformats.org/drawingml/2006/main" def="{7750ADC5-A5CE-4C80-ABC2-3EE877CF0B8F}">
  <a:tblStyle styleId="{7750ADC5-A5CE-4C80-ABC2-3EE877CF0B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3734C183-FBB8-AC7E-A32F-305B5570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>
            <a:extLst>
              <a:ext uri="{FF2B5EF4-FFF2-40B4-BE49-F238E27FC236}">
                <a16:creationId xmlns:a16="http://schemas.microsoft.com/office/drawing/2014/main" id="{ECCBFA45-E718-0EE5-369C-743BF0B99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>
            <a:extLst>
              <a:ext uri="{FF2B5EF4-FFF2-40B4-BE49-F238E27FC236}">
                <a16:creationId xmlns:a16="http://schemas.microsoft.com/office/drawing/2014/main" id="{581F6A19-B289-8659-FCC0-F2FF85B962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7640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5F9D13DF-AEE9-DAAC-3CED-00D21C24E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82E6F1A6-0CC5-43D1-31E0-008CFEF8ED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94697D25-4154-F073-9A8A-D687CC3CB5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6274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C750DDF-B4A8-6AA2-3217-38E045E5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D215EC67-BEB6-9181-71D1-829461A7D3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EA81FC34-FADF-59CA-EA34-A340F6A1A7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5603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>
          <a:extLst>
            <a:ext uri="{FF2B5EF4-FFF2-40B4-BE49-F238E27FC236}">
              <a16:creationId xmlns:a16="http://schemas.microsoft.com/office/drawing/2014/main" id="{51E295EF-3F17-DE30-FB76-832CC0B0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>
            <a:extLst>
              <a:ext uri="{FF2B5EF4-FFF2-40B4-BE49-F238E27FC236}">
                <a16:creationId xmlns:a16="http://schemas.microsoft.com/office/drawing/2014/main" id="{E8C40821-4698-C3E6-CACE-6CAA968BF2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>
            <a:extLst>
              <a:ext uri="{FF2B5EF4-FFF2-40B4-BE49-F238E27FC236}">
                <a16:creationId xmlns:a16="http://schemas.microsoft.com/office/drawing/2014/main" id="{DA862F51-3AA1-9B5C-FD5F-E631BB0B3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440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2BDF6F6A-02D2-D807-9312-A712DCF32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1:notes">
            <a:extLst>
              <a:ext uri="{FF2B5EF4-FFF2-40B4-BE49-F238E27FC236}">
                <a16:creationId xmlns:a16="http://schemas.microsoft.com/office/drawing/2014/main" id="{491D5CA7-79DF-3C1A-AF6B-19227D48A0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1:notes">
            <a:extLst>
              <a:ext uri="{FF2B5EF4-FFF2-40B4-BE49-F238E27FC236}">
                <a16:creationId xmlns:a16="http://schemas.microsoft.com/office/drawing/2014/main" id="{3B270B5F-E6AD-15D7-FB16-EFE5AF308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8156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395412"/>
            <a:ext cx="11601450" cy="2285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Συνθετικά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Δεδομέν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 για Ισορροπία Κλάσεων σε Περιβάλλοντα Ομοσ</a:t>
            </a:r>
            <a:r>
              <a:rPr lang="el-GR" sz="45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π</a:t>
            </a:r>
            <a:r>
              <a:rPr lang="en-US" sz="45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ονδι</a:t>
            </a:r>
            <a:r>
              <a:rPr lang="en-US" sz="45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ακής Μάθησης</a:t>
            </a:r>
            <a:endParaRPr dirty="0">
              <a:latin typeface="+mj-l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863146"/>
            <a:ext cx="110490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64748B"/>
                </a:solidFill>
                <a:latin typeface="+mn-lt"/>
                <a:ea typeface="Lato"/>
                <a:cs typeface="Lato"/>
                <a:sym typeface="Lato"/>
              </a:rPr>
              <a:t>Δι</a:t>
            </a:r>
            <a:r>
              <a:rPr lang="en-US" sz="2100" b="0" i="0" u="none" strike="noStrike" cap="none" dirty="0">
                <a:solidFill>
                  <a:srgbClr val="64748B"/>
                </a:solidFill>
                <a:latin typeface="+mn-lt"/>
                <a:ea typeface="Lato"/>
                <a:cs typeface="Lato"/>
                <a:sym typeface="Lato"/>
              </a:rPr>
              <a:t>πλωματική Εργασία</a:t>
            </a:r>
            <a:r>
              <a:rPr lang="el-GR" sz="2100" b="0" i="0" u="none" strike="noStrike" cap="none" dirty="0">
                <a:solidFill>
                  <a:srgbClr val="64748B"/>
                </a:solidFill>
                <a:latin typeface="+mn-lt"/>
                <a:ea typeface="Lato"/>
                <a:cs typeface="Lato"/>
                <a:sym typeface="Lato"/>
              </a:rPr>
              <a:t> του Ραφαήλ-Ανέστη Κωνσταντίνου</a:t>
            </a:r>
            <a:endParaRPr dirty="0">
              <a:latin typeface="+mn-l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614862"/>
            <a:ext cx="1104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Επιβ</a:t>
            </a:r>
            <a:r>
              <a:rPr lang="en-US" sz="1800" b="1" i="0" u="none" strike="noStrike" cap="none" dirty="0" err="1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λέ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π</a:t>
            </a:r>
            <a:r>
              <a:rPr lang="el-GR" sz="1800" b="1" i="0" u="none" strike="noStrike" cap="none" dirty="0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ο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ν</a:t>
            </a:r>
            <a:r>
              <a:rPr lang="el-GR" sz="1800" b="1" i="0" u="none" strike="noStrike" cap="none" dirty="0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τες</a:t>
            </a:r>
            <a:r>
              <a:rPr lang="en-US" sz="1800" b="1" i="0" u="none" strike="noStrike" cap="none" dirty="0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 Παύλος Εφραιμίδης, Καθηγητής Δ.Π.Θ.</a:t>
            </a:r>
            <a:endParaRPr lang="el-GR" sz="1800" b="0" i="0" u="none" strike="noStrike" cap="none" dirty="0">
              <a:solidFill>
                <a:srgbClr val="1E293B"/>
              </a:solidFill>
              <a:latin typeface="+mn-lt"/>
              <a:ea typeface="Lato"/>
              <a:cs typeface="Lato"/>
              <a:sym typeface="Lat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dirty="0">
                <a:solidFill>
                  <a:srgbClr val="1E293B"/>
                </a:solidFill>
                <a:latin typeface="+mn-lt"/>
                <a:ea typeface="Lato"/>
                <a:cs typeface="Lato"/>
                <a:sym typeface="Lato"/>
              </a:rPr>
              <a:t>            Νικόλαος Παυλίδης, Διδάκτωρ </a:t>
            </a:r>
            <a:endParaRPr lang="el-GR" sz="1800" b="0" i="0" u="none" strike="noStrike" cap="none" dirty="0">
              <a:solidFill>
                <a:srgbClr val="1E293B"/>
              </a:solidFill>
              <a:latin typeface="+mn-lt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567362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Lato"/>
                <a:cs typeface="Lato"/>
                <a:sym typeface="Lato"/>
              </a:rPr>
              <a:t>Μάϊος</a:t>
            </a:r>
            <a:r>
              <a:rPr lang="en-US" sz="1800" b="0" i="0" u="none" strike="noStrike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Lato"/>
                <a:cs typeface="Lato"/>
                <a:sym typeface="Lato"/>
              </a:rPr>
              <a:t> 2026 | </a:t>
            </a:r>
            <a:r>
              <a:rPr lang="en-US" sz="1800" b="0" i="0" u="none" strike="noStrike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Lato"/>
                <a:cs typeface="Lato"/>
                <a:sym typeface="Lato"/>
              </a:rPr>
              <a:t>Ξάνθη</a:t>
            </a:r>
            <a:endParaRPr sz="18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0A5CC429-FDBC-27B5-0766-761897357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457" y="173806"/>
            <a:ext cx="2205085" cy="11025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Ορθογώνιο: Στρογγύλεμα γωνιών 1">
            <a:extLst>
              <a:ext uri="{FF2B5EF4-FFF2-40B4-BE49-F238E27FC236}">
                <a16:creationId xmlns:a16="http://schemas.microsoft.com/office/drawing/2014/main" id="{37E5E8F2-9361-F03B-130B-88077D1CC0A8}"/>
              </a:ext>
            </a:extLst>
          </p:cNvPr>
          <p:cNvSpPr/>
          <p:nvPr/>
        </p:nvSpPr>
        <p:spPr>
          <a:xfrm>
            <a:off x="11223625" y="6353662"/>
            <a:ext cx="793750" cy="28575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</a:t>
            </a:r>
            <a:r>
              <a:rPr lang="en-US"/>
              <a:t>/ 26</a:t>
            </a:r>
            <a:endParaRPr lang="el-G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504278"/>
            <a:ext cx="5334000" cy="349952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Σύνοψη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 &amp; 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Στόχος</a:t>
            </a:r>
            <a:endParaRPr dirty="0">
              <a:latin typeface="+mj-lt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821577" y="1914567"/>
            <a:ext cx="250348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i="0" u="none" strike="noStrike" cap="none" dirty="0">
                <a:solidFill>
                  <a:srgbClr val="0F172A"/>
                </a:solidFill>
                <a:latin typeface="+mn-lt"/>
                <a:ea typeface="Poppins"/>
                <a:cs typeface="Poppins"/>
                <a:sym typeface="Poppins"/>
              </a:rPr>
              <a:t>Η Απάντηση</a:t>
            </a:r>
            <a:endParaRPr sz="1800" dirty="0">
              <a:latin typeface="+mn-l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461125" y="2673894"/>
            <a:ext cx="47625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cap="none" dirty="0" err="1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Βελτίωση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l-GR" sz="1800" b="1" dirty="0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Α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π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όδοσης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χωρίς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 παραβία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ση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l-GR" sz="1800" b="1" i="0" u="none" strike="noStrike" cap="none" dirty="0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Ι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διωτικότητ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ας </a:t>
            </a:r>
            <a:endParaRPr lang="el-GR" sz="1800" b="1" dirty="0">
              <a:solidFill>
                <a:schemeClr val="tx1"/>
              </a:solidFill>
              <a:latin typeface="+mn-lt"/>
              <a:ea typeface="Lato"/>
              <a:cs typeface="Lato"/>
              <a:sym typeface="Lato"/>
            </a:endParaRPr>
          </a:p>
          <a:p>
            <a:pPr marL="285750" marR="0" lvl="0" indent="-28575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l-GR" sz="1800" dirty="0">
              <a:solidFill>
                <a:schemeClr val="tx1"/>
              </a:solidFill>
              <a:latin typeface="+mn-lt"/>
              <a:ea typeface="Lato"/>
              <a:cs typeface="Lato"/>
              <a:sym typeface="Lato"/>
            </a:endParaRPr>
          </a:p>
          <a:p>
            <a:pPr marL="285750" marR="0" lvl="0" indent="-28575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800" dirty="0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Ανάπτυξη και Αξιολόγηση του Καινοτόμου Πλαισίου </a:t>
            </a:r>
            <a:r>
              <a:rPr lang="en-US" sz="1800" b="1" dirty="0" err="1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FedSMOTE</a:t>
            </a:r>
            <a:r>
              <a:rPr lang="el-GR" sz="1800" dirty="0">
                <a:solidFill>
                  <a:schemeClr val="tx1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DB88037D-A17C-365C-2EA6-1361CD9ABD04}"/>
              </a:ext>
            </a:extLst>
          </p:cNvPr>
          <p:cNvSpPr/>
          <p:nvPr/>
        </p:nvSpPr>
        <p:spPr>
          <a:xfrm>
            <a:off x="319188" y="1464172"/>
            <a:ext cx="5334000" cy="2649735"/>
          </a:xfrm>
          <a:prstGeom prst="roundRect">
            <a:avLst>
              <a:gd name="adj" fmla="val 614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:a16="http://schemas.microsoft.com/office/drawing/2014/main" id="{2AA46525-6F8D-C8E9-4BA6-D36B21F194F9}"/>
              </a:ext>
            </a:extLst>
          </p:cNvPr>
          <p:cNvSpPr/>
          <p:nvPr/>
        </p:nvSpPr>
        <p:spPr>
          <a:xfrm>
            <a:off x="310169" y="1532066"/>
            <a:ext cx="5352037" cy="3471734"/>
          </a:xfrm>
          <a:prstGeom prst="roundRect">
            <a:avLst>
              <a:gd name="adj" fmla="val 6218"/>
            </a:avLst>
          </a:prstGeom>
          <a:solidFill>
            <a:srgbClr val="FEF6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504000" rtlCol="0" anchor="ctr" anchorCtr="0"/>
          <a:lstStyle/>
          <a:p>
            <a:pPr algn="ctr"/>
            <a:endParaRPr lang="el-GR" dirty="0"/>
          </a:p>
        </p:txBody>
      </p:sp>
      <p:pic>
        <p:nvPicPr>
          <p:cNvPr id="14" name="Γραφικό 13" descr="Προειδοποίηση με συμπαγές γέμισμα">
            <a:extLst>
              <a:ext uri="{FF2B5EF4-FFF2-40B4-BE49-F238E27FC236}">
                <a16:creationId xmlns:a16="http://schemas.microsoft.com/office/drawing/2014/main" id="{3E075A27-858E-4B29-3A61-CD664DB2DB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473" y="1862262"/>
            <a:ext cx="445856" cy="4458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BEDAC9-C6B3-0CC6-D720-97FA7B7DAD63}"/>
              </a:ext>
            </a:extLst>
          </p:cNvPr>
          <p:cNvSpPr txBox="1"/>
          <p:nvPr/>
        </p:nvSpPr>
        <p:spPr>
          <a:xfrm>
            <a:off x="319188" y="2543237"/>
            <a:ext cx="53520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b="1" dirty="0"/>
              <a:t>Ανισορροπία Κλάσεων</a:t>
            </a:r>
            <a:r>
              <a:rPr lang="en-US" sz="1800" b="1" dirty="0"/>
              <a:t>:</a:t>
            </a:r>
            <a:r>
              <a:rPr lang="el-GR" sz="1800" b="1" dirty="0"/>
              <a:t> </a:t>
            </a:r>
            <a:r>
              <a:rPr lang="el-GR" sz="1800" dirty="0"/>
              <a:t>Υποβάθμιση Ομοσπονδιακών Συστημάτων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/>
              <a:t>Σπανιότητα Κλάσης Ενδιαφέροντος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b="1" dirty="0"/>
              <a:t>Περιορισμός Ομοσπονδιακής Μάθησης</a:t>
            </a:r>
            <a:r>
              <a:rPr lang="en-US" sz="1800" b="1" dirty="0"/>
              <a:t>: </a:t>
            </a:r>
            <a:r>
              <a:rPr lang="el-GR" sz="1800" dirty="0"/>
              <a:t>Αδυναμία Μεταφοράς Τεχνικών </a:t>
            </a:r>
            <a:r>
              <a:rPr lang="el-GR" sz="1800" dirty="0" err="1"/>
              <a:t>Υπερδειγματοληψίας</a:t>
            </a:r>
            <a:endParaRPr lang="el-GR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C04C11-D817-ED38-ED5E-427FD532B39E}"/>
              </a:ext>
            </a:extLst>
          </p:cNvPr>
          <p:cNvSpPr txBox="1"/>
          <p:nvPr/>
        </p:nvSpPr>
        <p:spPr>
          <a:xfrm>
            <a:off x="1221613" y="1921949"/>
            <a:ext cx="208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dirty="0"/>
              <a:t>Η Πρόκληση</a:t>
            </a:r>
          </a:p>
        </p:txBody>
      </p:sp>
      <p:sp>
        <p:nvSpPr>
          <p:cNvPr id="17" name="Ορθογώνιο: Στρογγύλεμα γωνιών 16">
            <a:extLst>
              <a:ext uri="{FF2B5EF4-FFF2-40B4-BE49-F238E27FC236}">
                <a16:creationId xmlns:a16="http://schemas.microsoft.com/office/drawing/2014/main" id="{8C37B28E-7D07-2024-1613-F56C9DA64ED2}"/>
              </a:ext>
            </a:extLst>
          </p:cNvPr>
          <p:cNvSpPr/>
          <p:nvPr/>
        </p:nvSpPr>
        <p:spPr>
          <a:xfrm>
            <a:off x="11223625" y="6353662"/>
            <a:ext cx="793750" cy="28575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/ 26</a:t>
            </a:r>
            <a:endParaRPr lang="el-GR" dirty="0"/>
          </a:p>
        </p:txBody>
      </p:sp>
      <p:pic>
        <p:nvPicPr>
          <p:cNvPr id="4" name="Γραφικό 3" descr="Ασπίδα με σημείο επιλογής με συμπαγές γέμισμα">
            <a:extLst>
              <a:ext uri="{FF2B5EF4-FFF2-40B4-BE49-F238E27FC236}">
                <a16:creationId xmlns:a16="http://schemas.microsoft.com/office/drawing/2014/main" id="{3C7545C1-3820-BCAC-ACD9-BDB76AA7F9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6226" y="1798017"/>
            <a:ext cx="510101" cy="5101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Ομοσ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πονδιακή Μάθηση (FL)</a:t>
            </a:r>
            <a:endParaRPr dirty="0">
              <a:latin typeface="+mj-lt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000125" y="2518618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Απ</a:t>
            </a: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οκεντρωμένη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Εκ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παίδευση: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Τα δεδομένα παραμένουν στις συσκευές.</a:t>
            </a:r>
            <a:endParaRPr dirty="0">
              <a:latin typeface="+mn-l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000125" y="3349079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Αντ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αλλαγή Μοντέλων: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Μόνο 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ενημερώσεις του μοντέλου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δι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ακινούνται στο δίκτυο.</a:t>
            </a:r>
            <a:endParaRPr dirty="0">
              <a:latin typeface="+mn-lt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000125" y="4179540"/>
            <a:ext cx="4905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FedAvg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Ο βα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σικός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α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λγόριθμος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συνάθροισης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 dirty="0">
              <a:latin typeface="+mn-lt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000125" y="4690020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1CAA0"/>
                </a:solidFill>
                <a:latin typeface="+mn-lt"/>
                <a:ea typeface="Lato"/>
                <a:cs typeface="Lato"/>
                <a:sym typeface="Lato"/>
              </a:rPr>
              <a:t>Πλεονέκτημ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+mn-lt"/>
                <a:ea typeface="Lato"/>
                <a:cs typeface="Lato"/>
                <a:sym typeface="Lato"/>
              </a:rPr>
              <a:t>α: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Privacy-by-design &amp; Συμμόρφωση με GDPR.</a:t>
            </a:r>
            <a:endParaRPr dirty="0">
              <a:latin typeface="+mn-lt"/>
            </a:endParaRPr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4559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5950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73426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3889" y="4823233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Εικόνα 2">
            <a:extLst>
              <a:ext uri="{FF2B5EF4-FFF2-40B4-BE49-F238E27FC236}">
                <a16:creationId xmlns:a16="http://schemas.microsoft.com/office/drawing/2014/main" id="{42EAF6E8-2E7C-EF0B-797B-7CB9555EA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331859"/>
            <a:ext cx="5791192" cy="3237276"/>
          </a:xfrm>
          <a:prstGeom prst="rect">
            <a:avLst/>
          </a:prstGeom>
        </p:spPr>
      </p:pic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E650E754-C46E-7E1D-8C93-D5BE180A2C36}"/>
              </a:ext>
            </a:extLst>
          </p:cNvPr>
          <p:cNvSpPr/>
          <p:nvPr/>
        </p:nvSpPr>
        <p:spPr>
          <a:xfrm>
            <a:off x="11223625" y="6353662"/>
            <a:ext cx="793750" cy="28575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/ 26</a:t>
            </a:r>
            <a:endParaRPr lang="el-G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Ανισορρο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πία Κλάσεων (Class Imbalance)</a:t>
            </a:r>
            <a:endParaRPr dirty="0">
              <a:latin typeface="+mj-lt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715125" y="2518618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Αριθμός Δειγμάτων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Η π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λειοψηφική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κλάση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κυρι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αρχεί αριθμητικά.</a:t>
            </a:r>
            <a:endParaRPr dirty="0">
              <a:latin typeface="+mn-lt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715125" y="3349079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Παράδοξο της Ακρίβειας 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Υψηλή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α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κρί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βεια αλλά πλήρης αποτυχία στη μειονοτική κλάση.</a:t>
            </a:r>
            <a:endParaRPr dirty="0">
              <a:latin typeface="+mn-lt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715125" y="4179540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Ομοσπονδιακό Περιβ</a:t>
            </a:r>
            <a:r>
              <a:rPr lang="el-GR" sz="1800" b="1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άλλον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Εμφ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ανίζεται ως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ενδο-κομβική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και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δια-κομβική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ανισορροπία.</a:t>
            </a:r>
            <a:endParaRPr dirty="0">
              <a:latin typeface="+mn-lt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715125" y="5010001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Οδηγεί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σ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το φαινόμενο της </a:t>
            </a:r>
            <a:r>
              <a:rPr lang="el-GR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Απόκλισης των Πελατών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 dirty="0">
              <a:latin typeface="+mn-lt"/>
            </a:endParaRPr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3083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45727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499" y="428371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1735" y="5110161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B7717DD9-B24D-E2DF-F89C-441222FBC911}"/>
              </a:ext>
            </a:extLst>
          </p:cNvPr>
          <p:cNvSpPr/>
          <p:nvPr/>
        </p:nvSpPr>
        <p:spPr>
          <a:xfrm>
            <a:off x="11223625" y="6353662"/>
            <a:ext cx="793750" cy="28575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 / 26</a:t>
            </a:r>
            <a:endParaRPr lang="el-GR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57033CE0-B829-0E0A-81C9-B7F2C4606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85" y="2002209"/>
            <a:ext cx="393700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Αλγόριθμος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 SMOTE</a:t>
            </a:r>
            <a:endParaRPr dirty="0">
              <a:latin typeface="+mj-lt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000125" y="1727895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Παρα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γωγή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συνθετικών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δειγμάτων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μέσω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γρ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αμμικής παρεμβολής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 dirty="0">
              <a:latin typeface="+mn-lt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1000124" y="3707430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Επ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εκτείνει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τα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όρι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 απόφασης της μειονοτικής κλάσης.</a:t>
            </a:r>
            <a:endParaRPr dirty="0">
              <a:latin typeface="+mn-lt"/>
            </a:endParaRPr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4785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791" y="293060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4" y="2888078"/>
            <a:ext cx="2468940" cy="291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2738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Εικόνα 2">
            <a:extLst>
              <a:ext uri="{FF2B5EF4-FFF2-40B4-BE49-F238E27FC236}">
                <a16:creationId xmlns:a16="http://schemas.microsoft.com/office/drawing/2014/main" id="{C2CEA8CE-8C20-171E-8EB6-502AD8D28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572" y="1920180"/>
            <a:ext cx="5729246" cy="3449326"/>
          </a:xfrm>
          <a:prstGeom prst="rect">
            <a:avLst/>
          </a:prstGeom>
        </p:spPr>
      </p:pic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5F6561B5-E774-1E7D-5BF8-8D1758AB58E4}"/>
              </a:ext>
            </a:extLst>
          </p:cNvPr>
          <p:cNvSpPr/>
          <p:nvPr/>
        </p:nvSpPr>
        <p:spPr>
          <a:xfrm>
            <a:off x="11223625" y="6353662"/>
            <a:ext cx="793750" cy="28575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/ 26</a:t>
            </a:r>
            <a:endParaRPr lang="el-G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3300" b="1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Πλήρως 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Ομομορφική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Κρυ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πτογράφηση (FHE)</a:t>
            </a:r>
            <a:endParaRPr dirty="0">
              <a:latin typeface="+mj-lt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6715125" y="2358628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Ιδιότητ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α: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Εκτέλεση πράξεων απευθείας σε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κρυπτογραφημένα δεδομένα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 dirty="0">
              <a:latin typeface="+mn-lt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715125" y="3189089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Σχήμ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α CKKS: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Υποστηρίζει προσεγγιστική αριθμητική κινητής υποδιαστολής.</a:t>
            </a:r>
            <a:endParaRPr dirty="0">
              <a:latin typeface="+mn-lt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6715125" y="4019550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Απαρα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ίτητο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γι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 τον πολλαπλασιασμό με το συντελεστή παρεμβολής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λ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 dirty="0">
              <a:latin typeface="+mn-lt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6715125" y="4850010"/>
            <a:ext cx="4905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Μηδενική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δι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αρροή πληροφορίας στον διακομιστή.</a:t>
            </a:r>
            <a:endParaRPr dirty="0">
              <a:latin typeface="+mn-lt"/>
            </a:endParaRPr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7769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30904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140398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97175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Εικόνα 2">
            <a:extLst>
              <a:ext uri="{FF2B5EF4-FFF2-40B4-BE49-F238E27FC236}">
                <a16:creationId xmlns:a16="http://schemas.microsoft.com/office/drawing/2014/main" id="{8587CAFC-514E-FCFC-E52D-C1758BB1D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539" y="2331974"/>
            <a:ext cx="5911561" cy="3413251"/>
          </a:xfrm>
          <a:prstGeom prst="rect">
            <a:avLst/>
          </a:prstGeom>
        </p:spPr>
      </p:pic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56AA95A4-B31A-C66B-4F96-53F4115A3AF4}"/>
              </a:ext>
            </a:extLst>
          </p:cNvPr>
          <p:cNvSpPr/>
          <p:nvPr/>
        </p:nvSpPr>
        <p:spPr>
          <a:xfrm>
            <a:off x="11223625" y="6353662"/>
            <a:ext cx="793750" cy="28575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 / 26</a:t>
            </a:r>
            <a:endParaRPr lang="el-G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8491"/>
            <a:ext cx="3555950" cy="296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458491"/>
            <a:ext cx="3555950" cy="296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399" y="2469058"/>
            <a:ext cx="3556099" cy="296971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Το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Πλ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αίσιο FedSMOTE</a:t>
            </a:r>
            <a:endParaRPr dirty="0">
              <a:latin typeface="+mj-lt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49363" y="2782341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782638" y="3449091"/>
            <a:ext cx="31336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+mj-lt"/>
                <a:ea typeface="Poppins"/>
                <a:cs typeface="Poppins"/>
                <a:sym typeface="Poppins"/>
              </a:rPr>
              <a:t>Client-Side SMOTE</a:t>
            </a:r>
            <a:endParaRPr sz="1800" dirty="0">
              <a:latin typeface="+mj-lt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857250" y="3953916"/>
            <a:ext cx="298445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Το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πική υπερδειγματοληψία σε κάθε κόμβο πριν την εκπαίδευση</a:t>
            </a:r>
            <a:endParaRPr dirty="0">
              <a:latin typeface="+mn-lt"/>
            </a:endParaRPr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5813" y="2782341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4529089" y="3449091"/>
            <a:ext cx="31336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+mj-lt"/>
                <a:ea typeface="Poppins"/>
                <a:cs typeface="Poppins"/>
                <a:sym typeface="Poppins"/>
              </a:rPr>
              <a:t>Trans-Client SMOTE</a:t>
            </a:r>
            <a:endParaRPr sz="1800" dirty="0">
              <a:latin typeface="+mj-lt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4603700" y="3953916"/>
            <a:ext cx="298445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Δια-κομβική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παραγωγή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δειγμάτων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στον Κρυπτογραφικό Χώρο</a:t>
            </a:r>
            <a:endParaRPr dirty="0">
              <a:latin typeface="+mn-lt"/>
            </a:endParaRPr>
          </a:p>
        </p:txBody>
      </p:sp>
      <p:pic>
        <p:nvPicPr>
          <p:cNvPr id="200" name="Google Shape;20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4325" y="2782341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8275535" y="3449091"/>
            <a:ext cx="31338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+mj-lt"/>
                <a:ea typeface="Poppins"/>
                <a:cs typeface="Poppins"/>
                <a:sym typeface="Poppins"/>
              </a:rPr>
              <a:t>Privacy Shield</a:t>
            </a:r>
            <a:endParaRPr sz="1800" dirty="0">
              <a:latin typeface="+mj-l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8350150" y="3953916"/>
            <a:ext cx="298459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Χρήση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σχήματος 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CKKS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γι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 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παρεμβολή στον 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ρυπτογραφικό 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Χ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ώρο</a:t>
            </a:r>
            <a:endParaRPr dirty="0">
              <a:latin typeface="+mn-lt"/>
            </a:endParaRPr>
          </a:p>
        </p:txBody>
      </p:sp>
      <p:sp>
        <p:nvSpPr>
          <p:cNvPr id="2" name="Ορθογώνιο: Στρογγύλεμα γωνιών 1">
            <a:extLst>
              <a:ext uri="{FF2B5EF4-FFF2-40B4-BE49-F238E27FC236}">
                <a16:creationId xmlns:a16="http://schemas.microsoft.com/office/drawing/2014/main" id="{C33084D2-B385-1A4B-19B5-09FDDB520F10}"/>
              </a:ext>
            </a:extLst>
          </p:cNvPr>
          <p:cNvSpPr/>
          <p:nvPr/>
        </p:nvSpPr>
        <p:spPr>
          <a:xfrm>
            <a:off x="11223625" y="6353662"/>
            <a:ext cx="793750" cy="28575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 / 26</a:t>
            </a:r>
            <a:endParaRPr lang="el-G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Client-Side SMOTE</a:t>
            </a:r>
            <a:r>
              <a:rPr lang="el-GR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 (1/2)</a:t>
            </a:r>
            <a:endParaRPr dirty="0">
              <a:latin typeface="+mj-lt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1000125" y="2762398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Λειτουργί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α: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Κάθε πελάτης εξισορροπεί το τοπικό του σύνολο αυτόνομα.</a:t>
            </a:r>
            <a:endParaRPr dirty="0">
              <a:latin typeface="+mn-lt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000125" y="3272879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Πλεονέκτημ</a:t>
            </a:r>
            <a:r>
              <a:rPr lang="en-US" sz="1800" b="1" i="0" u="none" strike="noStrike" cap="none" dirty="0">
                <a:solidFill>
                  <a:srgbClr val="005088"/>
                </a:solidFill>
                <a:latin typeface="+mn-lt"/>
                <a:ea typeface="Lato"/>
                <a:cs typeface="Lato"/>
                <a:sym typeface="Lato"/>
              </a:rPr>
              <a:t>α: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Μηδενικό επικοινωνιακό κόστος, απλή υλοποίηση.</a:t>
            </a:r>
            <a:endParaRPr dirty="0">
              <a:latin typeface="+mn-lt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000125" y="3783359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1CAA0"/>
                </a:solidFill>
                <a:latin typeface="+mn-lt"/>
                <a:ea typeface="Lato"/>
                <a:cs typeface="Lato"/>
                <a:sym typeface="Lato"/>
              </a:rPr>
              <a:t>Περιορισμός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+mn-lt"/>
                <a:ea typeface="Lato"/>
                <a:cs typeface="Lato"/>
                <a:sym typeface="Lato"/>
              </a:rPr>
              <a:t>: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Απ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οτυγχάνει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σε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κρ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αία ετερογένεια</a:t>
            </a:r>
            <a:r>
              <a:rPr lang="el-GR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 dirty="0">
              <a:latin typeface="+mn-lt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000124" y="422885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F0000"/>
                </a:solidFill>
                <a:latin typeface="+mn-lt"/>
                <a:ea typeface="Lato"/>
                <a:cs typeface="Lato"/>
                <a:sym typeface="Lato"/>
              </a:rPr>
              <a:t>Κίνδυνος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το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πικής υπερπροσαρμογής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 dirty="0">
              <a:latin typeface="+mn-lt"/>
            </a:endParaRPr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0023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2050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3098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41464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86D1ABB0-8914-AD05-E0F0-2CF1C13BAB2D}"/>
              </a:ext>
            </a:extLst>
          </p:cNvPr>
          <p:cNvSpPr/>
          <p:nvPr/>
        </p:nvSpPr>
        <p:spPr>
          <a:xfrm>
            <a:off x="11223625" y="6353662"/>
            <a:ext cx="793750" cy="28575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4921A4E6-F2FB-69AE-C5AC-8E8F319F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05DA4BEB-66B8-18FD-6978-7EDB48EBDF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>
            <a:extLst>
              <a:ext uri="{FF2B5EF4-FFF2-40B4-BE49-F238E27FC236}">
                <a16:creationId xmlns:a16="http://schemas.microsoft.com/office/drawing/2014/main" id="{56479D45-E4E1-6566-F6A4-79B86A4CC4EE}"/>
              </a:ext>
            </a:extLst>
          </p:cNvPr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Client-Side SMOTE</a:t>
            </a:r>
            <a:r>
              <a:rPr lang="el-GR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 (2/2)</a:t>
            </a:r>
            <a:endParaRPr dirty="0">
              <a:latin typeface="+mj-lt"/>
            </a:endParaRPr>
          </a:p>
        </p:txBody>
      </p:sp>
      <p:sp>
        <p:nvSpPr>
          <p:cNvPr id="210" name="Google Shape;210;p20">
            <a:extLst>
              <a:ext uri="{FF2B5EF4-FFF2-40B4-BE49-F238E27FC236}">
                <a16:creationId xmlns:a16="http://schemas.microsoft.com/office/drawing/2014/main" id="{7AD54BFD-5452-39A5-27ED-CCF90ED4C11E}"/>
              </a:ext>
            </a:extLst>
          </p:cNvPr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Ορθογώνιο: Στρογγύλεμα γωνιών 4">
            <a:extLst>
              <a:ext uri="{FF2B5EF4-FFF2-40B4-BE49-F238E27FC236}">
                <a16:creationId xmlns:a16="http://schemas.microsoft.com/office/drawing/2014/main" id="{0F327C6B-5CCE-3D29-B166-04987297556D}"/>
              </a:ext>
            </a:extLst>
          </p:cNvPr>
          <p:cNvSpPr/>
          <p:nvPr/>
        </p:nvSpPr>
        <p:spPr>
          <a:xfrm>
            <a:off x="11223625" y="6353662"/>
            <a:ext cx="793750" cy="28575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 / 26</a:t>
            </a:r>
            <a:endParaRPr lang="el-GR" dirty="0"/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7E8AB661-28BA-9E41-2EC0-8BAEF1C2B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289" y="1290749"/>
            <a:ext cx="8297872" cy="534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92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Trans-Client SMOTE</a:t>
            </a:r>
            <a:r>
              <a:rPr lang="el-GR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 (1/3)</a:t>
            </a:r>
            <a:endParaRPr dirty="0">
              <a:latin typeface="+mj-lt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71500" y="2369046"/>
            <a:ext cx="110490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64748B"/>
                </a:solidFill>
                <a:latin typeface="+mj-lt"/>
                <a:ea typeface="Lato"/>
                <a:cs typeface="Lato"/>
                <a:sym typeface="Lato"/>
              </a:rPr>
              <a:t>Συνεργ</a:t>
            </a:r>
            <a:r>
              <a:rPr lang="en-US" sz="2100" b="0" i="0" u="none" strike="noStrike" cap="none" dirty="0">
                <a:solidFill>
                  <a:srgbClr val="64748B"/>
                </a:solidFill>
                <a:latin typeface="+mj-lt"/>
                <a:ea typeface="Lato"/>
                <a:cs typeface="Lato"/>
                <a:sym typeface="Lato"/>
              </a:rPr>
              <a:t>ατική Υπερδειγματοληψία με Ασφάλεια</a:t>
            </a:r>
            <a:endParaRPr dirty="0">
              <a:latin typeface="+mj-lt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1000125" y="3180457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Οι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κόμ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βοι μοιράζονται την "κρυπτογραφημένη γνώση" της μειονοτικής κλάσης.</a:t>
            </a:r>
            <a:endParaRPr dirty="0">
              <a:latin typeface="+mn-lt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1000125" y="3690937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Ο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δι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ακομιστής δημιουργεί συνθετικά δείγματα παρεμβάλλοντας σημεία από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διαφορετικούς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πελάτες.</a:t>
            </a:r>
            <a:endParaRPr dirty="0">
              <a:latin typeface="+mn-lt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1000124" y="4201417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Δι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ασφαλίζεται η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παγκόσμια ποικιλομορφί</a:t>
            </a:r>
            <a:r>
              <a:rPr lang="el-GR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α.</a:t>
            </a:r>
            <a:endParaRPr dirty="0">
              <a:latin typeface="+mn-lt"/>
            </a:endParaRPr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004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387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3889" y="4295303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Ορθογώνιο: Στρογγύλεμα γωνιών 1">
            <a:extLst>
              <a:ext uri="{FF2B5EF4-FFF2-40B4-BE49-F238E27FC236}">
                <a16:creationId xmlns:a16="http://schemas.microsoft.com/office/drawing/2014/main" id="{537565B9-1FC1-124F-7105-AE764FA6B26A}"/>
              </a:ext>
            </a:extLst>
          </p:cNvPr>
          <p:cNvSpPr/>
          <p:nvPr/>
        </p:nvSpPr>
        <p:spPr>
          <a:xfrm>
            <a:off x="11163300" y="6353662"/>
            <a:ext cx="854075" cy="28575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 / 26</a:t>
            </a:r>
            <a:endParaRPr lang="el-G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B013DFD4-2D71-7476-12A0-06104FE2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1" descr="image.png">
            <a:extLst>
              <a:ext uri="{FF2B5EF4-FFF2-40B4-BE49-F238E27FC236}">
                <a16:creationId xmlns:a16="http://schemas.microsoft.com/office/drawing/2014/main" id="{6DB4CAD2-B70E-C8FA-9546-7F56978F5C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>
            <a:extLst>
              <a:ext uri="{FF2B5EF4-FFF2-40B4-BE49-F238E27FC236}">
                <a16:creationId xmlns:a16="http://schemas.microsoft.com/office/drawing/2014/main" id="{F7CF4A15-1F0F-F3AA-5492-9066ACBB1568}"/>
              </a:ext>
            </a:extLst>
          </p:cNvPr>
          <p:cNvSpPr txBox="1"/>
          <p:nvPr/>
        </p:nvSpPr>
        <p:spPr>
          <a:xfrm>
            <a:off x="571500" y="476250"/>
            <a:ext cx="11601450" cy="72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Trans-Client SMOTE</a:t>
            </a:r>
            <a:r>
              <a:rPr lang="el-GR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 (2/3)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j-lt"/>
            </a:endParaRPr>
          </a:p>
        </p:txBody>
      </p:sp>
      <p:sp>
        <p:nvSpPr>
          <p:cNvPr id="227" name="Google Shape;227;p21">
            <a:extLst>
              <a:ext uri="{FF2B5EF4-FFF2-40B4-BE49-F238E27FC236}">
                <a16:creationId xmlns:a16="http://schemas.microsoft.com/office/drawing/2014/main" id="{D8933C57-5FCD-D177-6D70-883A7F9B0F1C}"/>
              </a:ext>
            </a:extLst>
          </p:cNvPr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C322CCF6-3CA1-2822-490C-E0BDC7D156D2}"/>
              </a:ext>
            </a:extLst>
          </p:cNvPr>
          <p:cNvSpPr/>
          <p:nvPr/>
        </p:nvSpPr>
        <p:spPr>
          <a:xfrm>
            <a:off x="11183937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 / 26</a:t>
            </a:r>
            <a:endParaRPr lang="el-GR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1A8EC3DB-083F-2FEB-8197-8D8A6FD76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121" y="1266842"/>
            <a:ext cx="8337758" cy="537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2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8151308C-0128-172B-7305-811DE7F80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1" descr="image.png">
            <a:extLst>
              <a:ext uri="{FF2B5EF4-FFF2-40B4-BE49-F238E27FC236}">
                <a16:creationId xmlns:a16="http://schemas.microsoft.com/office/drawing/2014/main" id="{42F5BDC6-D470-C50C-60AC-5B1690C01F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>
            <a:extLst>
              <a:ext uri="{FF2B5EF4-FFF2-40B4-BE49-F238E27FC236}">
                <a16:creationId xmlns:a16="http://schemas.microsoft.com/office/drawing/2014/main" id="{545B0646-0517-895D-2F7F-12EC4D334539}"/>
              </a:ext>
            </a:extLst>
          </p:cNvPr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Trans-Client SMOTE</a:t>
            </a:r>
            <a:r>
              <a:rPr lang="el-GR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 (3/3)</a:t>
            </a:r>
            <a:endParaRPr dirty="0">
              <a:latin typeface="+mj-lt"/>
            </a:endParaRPr>
          </a:p>
        </p:txBody>
      </p:sp>
      <p:sp>
        <p:nvSpPr>
          <p:cNvPr id="227" name="Google Shape;227;p21">
            <a:extLst>
              <a:ext uri="{FF2B5EF4-FFF2-40B4-BE49-F238E27FC236}">
                <a16:creationId xmlns:a16="http://schemas.microsoft.com/office/drawing/2014/main" id="{F868C24E-DA96-E669-91BE-5DCBEC1558B4}"/>
              </a:ext>
            </a:extLst>
          </p:cNvPr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Ορθογώνιο: Στρογγύλεμα γωνιών 6">
            <a:extLst>
              <a:ext uri="{FF2B5EF4-FFF2-40B4-BE49-F238E27FC236}">
                <a16:creationId xmlns:a16="http://schemas.microsoft.com/office/drawing/2014/main" id="{1DD0938A-88AE-3E6B-3115-CFEA6D751EF3}"/>
              </a:ext>
            </a:extLst>
          </p:cNvPr>
          <p:cNvSpPr/>
          <p:nvPr/>
        </p:nvSpPr>
        <p:spPr>
          <a:xfrm>
            <a:off x="11183937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 / 26</a:t>
            </a:r>
            <a:endParaRPr lang="el-GR" dirty="0"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213ECC1E-9DDC-65A9-E5D6-0777DF3B5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1424936"/>
            <a:ext cx="10229850" cy="499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31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9891"/>
            <a:ext cx="5334000" cy="3426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229891"/>
            <a:ext cx="5334000" cy="34269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Σύνολα Δεδομένων</a:t>
            </a:r>
            <a:endParaRPr dirty="0">
              <a:latin typeface="+mj-lt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71800" y="2553741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738187" y="3220491"/>
            <a:ext cx="50006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+mj-lt"/>
                <a:ea typeface="Poppins"/>
                <a:cs typeface="Poppins"/>
                <a:sym typeface="Poppins"/>
              </a:rPr>
              <a:t>Credit Card Fraud</a:t>
            </a:r>
            <a:r>
              <a:rPr lang="el-GR" sz="1800" b="1" i="0" u="none" strike="noStrike" cap="none" dirty="0">
                <a:solidFill>
                  <a:srgbClr val="0F172A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+mj-lt"/>
                <a:ea typeface="Poppins"/>
                <a:cs typeface="Poppins"/>
                <a:sym typeface="Poppins"/>
              </a:rPr>
              <a:t>Detection</a:t>
            </a:r>
            <a:endParaRPr sz="1800" dirty="0">
              <a:latin typeface="+mj-lt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857250" y="3565326"/>
            <a:ext cx="47625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284,807 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Νόμιμες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Συν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αλλαγές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492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Απάτες </a:t>
            </a:r>
            <a:endParaRPr lang="en-US" sz="1800" dirty="0">
              <a:solidFill>
                <a:srgbClr val="334155"/>
              </a:solidFill>
              <a:latin typeface="+mn-lt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857249" y="4488090"/>
            <a:ext cx="4762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i="0" u="none" strike="noStrike" cap="none" dirty="0">
                <a:solidFill>
                  <a:srgbClr val="11CAA0"/>
                </a:solidFill>
                <a:latin typeface="+mn-lt"/>
                <a:ea typeface="Lato"/>
                <a:cs typeface="Lato"/>
                <a:sym typeface="Lato"/>
              </a:rPr>
              <a:t>Ποσοστό Μειοψηφικής Κλάσης 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+mn-lt"/>
                <a:ea typeface="Lato"/>
                <a:cs typeface="Lato"/>
                <a:sym typeface="Lato"/>
              </a:rPr>
              <a:t>: 0.17%</a:t>
            </a:r>
            <a:endParaRPr dirty="0">
              <a:latin typeface="+mn-lt"/>
            </a:endParaRPr>
          </a:p>
        </p:txBody>
      </p:sp>
      <p:sp>
        <p:nvSpPr>
          <p:cNvPr id="266" name="Google Shape;266;p23"/>
          <p:cNvSpPr txBox="1"/>
          <p:nvPr/>
        </p:nvSpPr>
        <p:spPr>
          <a:xfrm>
            <a:off x="857250" y="4822477"/>
            <a:ext cx="4762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IR ≈ 578:1</a:t>
            </a:r>
            <a:endParaRPr dirty="0">
              <a:latin typeface="+mn-lt"/>
            </a:endParaRPr>
          </a:p>
        </p:txBody>
      </p:sp>
      <p:pic>
        <p:nvPicPr>
          <p:cNvPr id="267" name="Google Shape;26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62" y="2553741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6453187" y="3220491"/>
            <a:ext cx="50006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+mj-lt"/>
                <a:ea typeface="Poppins"/>
                <a:cs typeface="Poppins"/>
                <a:sym typeface="Poppins"/>
              </a:rPr>
              <a:t>NSL-KDD (U2R)</a:t>
            </a:r>
            <a:endParaRPr sz="1800" dirty="0">
              <a:latin typeface="+mj-lt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6653212" y="3555551"/>
            <a:ext cx="47625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67,3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43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Δείγμ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ατα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Κανονικής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Κίνησης</a:t>
            </a:r>
            <a:endParaRPr lang="el-GR" sz="1800" b="0" i="0" u="none" strike="noStrike" cap="none" dirty="0">
              <a:solidFill>
                <a:srgbClr val="334155"/>
              </a:solidFill>
              <a:latin typeface="+mn-lt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 52 Δείγματα Επιθέσεων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6572250" y="4467718"/>
            <a:ext cx="4762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i="0" u="none" strike="noStrike" cap="none" dirty="0">
                <a:solidFill>
                  <a:srgbClr val="11CAA0"/>
                </a:solidFill>
                <a:latin typeface="+mn-lt"/>
                <a:ea typeface="Lato"/>
                <a:cs typeface="Lato"/>
                <a:sym typeface="Lato"/>
              </a:rPr>
              <a:t>Ποσοστό Μειοψηφικής Κλάσης </a:t>
            </a:r>
            <a:r>
              <a:rPr lang="en-US" sz="1800" b="1" i="0" u="none" strike="noStrike" cap="none" dirty="0">
                <a:solidFill>
                  <a:srgbClr val="11CAA0"/>
                </a:solidFill>
                <a:latin typeface="+mn-lt"/>
                <a:ea typeface="Lato"/>
                <a:cs typeface="Lato"/>
                <a:sym typeface="Lato"/>
              </a:rPr>
              <a:t>: 0.08%</a:t>
            </a:r>
            <a:endParaRPr dirty="0">
              <a:latin typeface="+mn-lt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6572250" y="4822477"/>
            <a:ext cx="4762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IR ≈ 1295:1</a:t>
            </a:r>
            <a:endParaRPr dirty="0">
              <a:latin typeface="+mn-lt"/>
            </a:endParaRPr>
          </a:p>
        </p:txBody>
      </p:sp>
      <p:sp>
        <p:nvSpPr>
          <p:cNvPr id="2" name="Ορθογώνιο: Στρογγύλεμα γωνιών 1">
            <a:extLst>
              <a:ext uri="{FF2B5EF4-FFF2-40B4-BE49-F238E27FC236}">
                <a16:creationId xmlns:a16="http://schemas.microsoft.com/office/drawing/2014/main" id="{04A59007-F710-567D-44CF-24F3D32211F7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 / 26</a:t>
            </a:r>
            <a:endParaRPr lang="el-G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>
          <a:extLst>
            <a:ext uri="{FF2B5EF4-FFF2-40B4-BE49-F238E27FC236}">
              <a16:creationId xmlns:a16="http://schemas.microsoft.com/office/drawing/2014/main" id="{A5DE0809-D195-25BC-88E5-7FE71FFF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 descr="image.png">
            <a:extLst>
              <a:ext uri="{FF2B5EF4-FFF2-40B4-BE49-F238E27FC236}">
                <a16:creationId xmlns:a16="http://schemas.microsoft.com/office/drawing/2014/main" id="{3408D1B3-DB4A-FC1C-A275-0547564B9F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>
            <a:extLst>
              <a:ext uri="{FF2B5EF4-FFF2-40B4-BE49-F238E27FC236}">
                <a16:creationId xmlns:a16="http://schemas.microsoft.com/office/drawing/2014/main" id="{69361765-4DFE-225D-7D97-2D5E7B21D4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9891"/>
            <a:ext cx="5334000" cy="3426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>
            <a:extLst>
              <a:ext uri="{FF2B5EF4-FFF2-40B4-BE49-F238E27FC236}">
                <a16:creationId xmlns:a16="http://schemas.microsoft.com/office/drawing/2014/main" id="{4A10C47F-9C49-0E24-CB5D-7022C1CB6AD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229891"/>
            <a:ext cx="5334000" cy="34269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>
            <a:extLst>
              <a:ext uri="{FF2B5EF4-FFF2-40B4-BE49-F238E27FC236}">
                <a16:creationId xmlns:a16="http://schemas.microsoft.com/office/drawing/2014/main" id="{844CA1BA-548D-542F-4EC9-5A43BE79230A}"/>
              </a:ext>
            </a:extLst>
          </p:cNvPr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Πειραματική Διαδικασία (1/2)</a:t>
            </a:r>
            <a:endParaRPr dirty="0">
              <a:latin typeface="+mj-lt"/>
            </a:endParaRPr>
          </a:p>
        </p:txBody>
      </p:sp>
      <p:sp>
        <p:nvSpPr>
          <p:cNvPr id="261" name="Google Shape;261;p23">
            <a:extLst>
              <a:ext uri="{FF2B5EF4-FFF2-40B4-BE49-F238E27FC236}">
                <a16:creationId xmlns:a16="http://schemas.microsoft.com/office/drawing/2014/main" id="{F7D9BFCB-54E0-F56E-33AD-F4C545911088}"/>
              </a:ext>
            </a:extLst>
          </p:cNvPr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>
            <a:extLst>
              <a:ext uri="{FF2B5EF4-FFF2-40B4-BE49-F238E27FC236}">
                <a16:creationId xmlns:a16="http://schemas.microsoft.com/office/drawing/2014/main" id="{73A79A37-DE78-241A-2970-26D13EE8E54C}"/>
              </a:ext>
            </a:extLst>
          </p:cNvPr>
          <p:cNvSpPr txBox="1"/>
          <p:nvPr/>
        </p:nvSpPr>
        <p:spPr>
          <a:xfrm>
            <a:off x="738186" y="2482110"/>
            <a:ext cx="50006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i="0" u="none" strike="noStrike" cap="none" dirty="0">
                <a:solidFill>
                  <a:srgbClr val="0F172A"/>
                </a:solidFill>
                <a:latin typeface="+mj-lt"/>
                <a:ea typeface="Poppins"/>
                <a:cs typeface="Poppins"/>
                <a:sym typeface="Poppins"/>
              </a:rPr>
              <a:t>Πειράματα σε </a:t>
            </a:r>
            <a:r>
              <a:rPr lang="el-GR" sz="1800" b="1" i="0" u="none" strike="noStrike" cap="none" dirty="0" err="1">
                <a:solidFill>
                  <a:srgbClr val="0F172A"/>
                </a:solidFill>
                <a:latin typeface="+mj-lt"/>
                <a:ea typeface="Poppins"/>
                <a:cs typeface="Poppins"/>
                <a:sym typeface="Poppins"/>
              </a:rPr>
              <a:t>Κεντρικοποιημένο</a:t>
            </a:r>
            <a:r>
              <a:rPr lang="el-GR" sz="1800" b="1" i="0" u="none" strike="noStrike" cap="none" dirty="0">
                <a:solidFill>
                  <a:srgbClr val="0F172A"/>
                </a:solidFill>
                <a:latin typeface="+mj-lt"/>
                <a:ea typeface="Poppins"/>
                <a:cs typeface="Poppins"/>
                <a:sym typeface="Poppins"/>
              </a:rPr>
              <a:t> Περιβάλλον</a:t>
            </a:r>
            <a:endParaRPr sz="1800" dirty="0">
              <a:latin typeface="+mj-lt"/>
            </a:endParaRPr>
          </a:p>
        </p:txBody>
      </p:sp>
      <p:sp>
        <p:nvSpPr>
          <p:cNvPr id="264" name="Google Shape;264;p23">
            <a:extLst>
              <a:ext uri="{FF2B5EF4-FFF2-40B4-BE49-F238E27FC236}">
                <a16:creationId xmlns:a16="http://schemas.microsoft.com/office/drawing/2014/main" id="{7E6F85A9-D86F-1551-44F3-63BBD2048EDB}"/>
              </a:ext>
            </a:extLst>
          </p:cNvPr>
          <p:cNvSpPr txBox="1"/>
          <p:nvPr/>
        </p:nvSpPr>
        <p:spPr>
          <a:xfrm>
            <a:off x="857250" y="3361651"/>
            <a:ext cx="47625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Logistic Regression, </a:t>
            </a:r>
            <a:r>
              <a:rPr lang="en-US" sz="1800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XGBoost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, </a:t>
            </a:r>
            <a:r>
              <a:rPr lang="en-US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MLP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και συνδυασμοί με </a:t>
            </a:r>
            <a:r>
              <a:rPr lang="en-US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SMOTE, ADASYN, Borderline-SMOTE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και </a:t>
            </a:r>
            <a:r>
              <a:rPr lang="en-US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GAN</a:t>
            </a:r>
            <a:endParaRPr lang="en-US" sz="1800" b="0" i="0" u="none" strike="noStrike" cap="none" dirty="0">
              <a:solidFill>
                <a:srgbClr val="334155"/>
              </a:solidFill>
              <a:latin typeface="+mn-lt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3">
            <a:extLst>
              <a:ext uri="{FF2B5EF4-FFF2-40B4-BE49-F238E27FC236}">
                <a16:creationId xmlns:a16="http://schemas.microsoft.com/office/drawing/2014/main" id="{98CE9E5D-BF82-E4B2-503A-BFAF90B0A881}"/>
              </a:ext>
            </a:extLst>
          </p:cNvPr>
          <p:cNvSpPr txBox="1"/>
          <p:nvPr/>
        </p:nvSpPr>
        <p:spPr>
          <a:xfrm>
            <a:off x="857250" y="4822477"/>
            <a:ext cx="47625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Ισχυρά Σημεία Αναφοράς</a:t>
            </a:r>
            <a:endParaRPr dirty="0">
              <a:latin typeface="+mn-lt"/>
            </a:endParaRPr>
          </a:p>
        </p:txBody>
      </p:sp>
      <p:sp>
        <p:nvSpPr>
          <p:cNvPr id="268" name="Google Shape;268;p23">
            <a:extLst>
              <a:ext uri="{FF2B5EF4-FFF2-40B4-BE49-F238E27FC236}">
                <a16:creationId xmlns:a16="http://schemas.microsoft.com/office/drawing/2014/main" id="{F7E082DD-BAD5-D913-505B-3991E5F757BB}"/>
              </a:ext>
            </a:extLst>
          </p:cNvPr>
          <p:cNvSpPr txBox="1"/>
          <p:nvPr/>
        </p:nvSpPr>
        <p:spPr>
          <a:xfrm>
            <a:off x="6453189" y="2482110"/>
            <a:ext cx="50006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i="0" u="none" strike="noStrike" cap="none" dirty="0">
                <a:solidFill>
                  <a:srgbClr val="0F172A"/>
                </a:solidFill>
                <a:latin typeface="+mj-lt"/>
                <a:ea typeface="Poppins"/>
                <a:cs typeface="Poppins"/>
                <a:sym typeface="Poppins"/>
              </a:rPr>
              <a:t>Πειράματα σε Ομοσπονδιακό Περιβάλλον</a:t>
            </a:r>
            <a:endParaRPr sz="1800" dirty="0">
              <a:latin typeface="+mj-lt"/>
            </a:endParaRPr>
          </a:p>
        </p:txBody>
      </p:sp>
      <p:sp>
        <p:nvSpPr>
          <p:cNvPr id="269" name="Google Shape;269;p23">
            <a:extLst>
              <a:ext uri="{FF2B5EF4-FFF2-40B4-BE49-F238E27FC236}">
                <a16:creationId xmlns:a16="http://schemas.microsoft.com/office/drawing/2014/main" id="{BB9515DB-5220-73D0-DF30-994C1703D0F8}"/>
              </a:ext>
            </a:extLst>
          </p:cNvPr>
          <p:cNvSpPr txBox="1"/>
          <p:nvPr/>
        </p:nvSpPr>
        <p:spPr>
          <a:xfrm>
            <a:off x="6572250" y="3048439"/>
            <a:ext cx="47625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Εκπαίδευση 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MLP 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σε Ομοσπονδιακό Περιβάλλον </a:t>
            </a:r>
            <a:r>
              <a:rPr lang="el-GR" sz="1800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υπο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Συνθήκες </a:t>
            </a:r>
            <a:r>
              <a:rPr lang="en-US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IID 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Κατανομής και Κλιμακούμενων </a:t>
            </a:r>
            <a:r>
              <a:rPr lang="el-GR" sz="1800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Σενάριων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Non-IID 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Κατανομής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271" name="Google Shape;271;p23">
            <a:extLst>
              <a:ext uri="{FF2B5EF4-FFF2-40B4-BE49-F238E27FC236}">
                <a16:creationId xmlns:a16="http://schemas.microsoft.com/office/drawing/2014/main" id="{B338AE71-A42B-462D-8119-6FF1746BA78D}"/>
              </a:ext>
            </a:extLst>
          </p:cNvPr>
          <p:cNvSpPr txBox="1"/>
          <p:nvPr/>
        </p:nvSpPr>
        <p:spPr>
          <a:xfrm>
            <a:off x="6477000" y="4434678"/>
            <a:ext cx="47625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Εφαρμογή Πλαισίου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FedSMOTE</a:t>
            </a:r>
            <a:endParaRPr lang="el-GR" sz="1800" dirty="0">
              <a:solidFill>
                <a:srgbClr val="334155"/>
              </a:solidFill>
              <a:latin typeface="+mn-lt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l-GR" sz="1800" dirty="0">
              <a:solidFill>
                <a:srgbClr val="334155"/>
              </a:solidFill>
              <a:latin typeface="+mn-lt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Ανάλυση Κόστους</a:t>
            </a:r>
            <a:endParaRPr lang="en-US" sz="1800" dirty="0">
              <a:solidFill>
                <a:srgbClr val="334155"/>
              </a:solidFill>
              <a:latin typeface="+mn-lt"/>
              <a:ea typeface="Lato"/>
              <a:cs typeface="Lato"/>
              <a:sym typeface="Lato"/>
            </a:endParaRPr>
          </a:p>
        </p:txBody>
      </p:sp>
      <p:sp>
        <p:nvSpPr>
          <p:cNvPr id="2" name="Ορθογώνιο: Στρογγύλεμα γωνιών 1">
            <a:extLst>
              <a:ext uri="{FF2B5EF4-FFF2-40B4-BE49-F238E27FC236}">
                <a16:creationId xmlns:a16="http://schemas.microsoft.com/office/drawing/2014/main" id="{C635EBB1-C30A-55DE-536A-2E6E32AF9131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 / 26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861464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Πειραματική Διαδικασία (2/2)</a:t>
            </a:r>
            <a:endParaRPr dirty="0">
              <a:latin typeface="+mj-lt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58;p23" descr="image.png">
            <a:extLst>
              <a:ext uri="{FF2B5EF4-FFF2-40B4-BE49-F238E27FC236}">
                <a16:creationId xmlns:a16="http://schemas.microsoft.com/office/drawing/2014/main" id="{4E95BFC9-681F-7B71-917D-AE5D704CD5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1592818"/>
            <a:ext cx="4062523" cy="209067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50EEF48-367F-DD72-CA35-12ACDF16C123}"/>
              </a:ext>
            </a:extLst>
          </p:cNvPr>
          <p:cNvSpPr txBox="1"/>
          <p:nvPr/>
        </p:nvSpPr>
        <p:spPr>
          <a:xfrm>
            <a:off x="1331811" y="1727407"/>
            <a:ext cx="2724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i="0" u="none" strike="noStrike" cap="none" dirty="0">
                <a:solidFill>
                  <a:srgbClr val="0F172A"/>
                </a:solidFill>
                <a:latin typeface="+mn-lt"/>
                <a:ea typeface="Poppins"/>
                <a:cs typeface="Poppins"/>
                <a:sym typeface="Poppins"/>
              </a:rPr>
              <a:t>Μετρικές Αξιολόγησης</a:t>
            </a:r>
            <a:endParaRPr lang="el-GR" sz="1800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4F973-9643-EDF3-1DDF-EF5BFB74F3CF}"/>
              </a:ext>
            </a:extLst>
          </p:cNvPr>
          <p:cNvSpPr txBox="1"/>
          <p:nvPr/>
        </p:nvSpPr>
        <p:spPr>
          <a:xfrm>
            <a:off x="571499" y="2330953"/>
            <a:ext cx="2960205" cy="1211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ROC-AUC</a:t>
            </a:r>
            <a:endParaRPr lang="el-GR" sz="1800" b="1" dirty="0">
              <a:solidFill>
                <a:srgbClr val="334155"/>
              </a:solidFill>
              <a:latin typeface="+mn-lt"/>
              <a:ea typeface="Lato"/>
              <a:cs typeface="Lato"/>
              <a:sym typeface="Lato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Average Precision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F1-Score</a:t>
            </a:r>
            <a:endParaRPr lang="en-US" sz="1800" dirty="0">
              <a:latin typeface="+mn-lt"/>
            </a:endParaRPr>
          </a:p>
        </p:txBody>
      </p:sp>
      <p:pic>
        <p:nvPicPr>
          <p:cNvPr id="18" name="Google Shape;258;p23" descr="image.png">
            <a:extLst>
              <a:ext uri="{FF2B5EF4-FFF2-40B4-BE49-F238E27FC236}">
                <a16:creationId xmlns:a16="http://schemas.microsoft.com/office/drawing/2014/main" id="{32BAD0D1-34F1-CA34-81E1-584AE74BF0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857" y="4106158"/>
            <a:ext cx="4062525" cy="238078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A976A0F-DD49-1588-8D05-494C889D3BE4}"/>
              </a:ext>
            </a:extLst>
          </p:cNvPr>
          <p:cNvSpPr txBox="1"/>
          <p:nvPr/>
        </p:nvSpPr>
        <p:spPr>
          <a:xfrm>
            <a:off x="1217016" y="4214668"/>
            <a:ext cx="2740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l-GR" sz="1800" b="1" dirty="0">
                <a:solidFill>
                  <a:srgbClr val="0F172A"/>
                </a:solidFill>
                <a:ea typeface="Poppins"/>
                <a:cs typeface="Poppins"/>
                <a:sym typeface="Poppins"/>
              </a:rPr>
              <a:t>Στατιστική Ετερογένεια</a:t>
            </a:r>
            <a:endParaRPr lang="el-GR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6C11C6-0205-166C-4C50-52D0E39E5A6E}"/>
              </a:ext>
            </a:extLst>
          </p:cNvPr>
          <p:cNvSpPr txBox="1"/>
          <p:nvPr/>
        </p:nvSpPr>
        <p:spPr>
          <a:xfrm>
            <a:off x="662893" y="4584000"/>
            <a:ext cx="4062523" cy="43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Κατανομή 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Dirichlet (</a:t>
            </a:r>
            <a:r>
              <a:rPr lang="el-GR" sz="180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Συντελεστής α):</a:t>
            </a:r>
            <a:endParaRPr lang="el-GR" sz="1800" dirty="0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FA0FFA-172F-CF15-550E-E939E0140D4D}"/>
              </a:ext>
            </a:extLst>
          </p:cNvPr>
          <p:cNvSpPr txBox="1"/>
          <p:nvPr/>
        </p:nvSpPr>
        <p:spPr>
          <a:xfrm>
            <a:off x="653576" y="5002880"/>
            <a:ext cx="3126850" cy="1211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800" b="1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Ήπια (α = 1.0)</a:t>
            </a:r>
            <a:endParaRPr lang="en-US" sz="1800" b="1" dirty="0">
              <a:solidFill>
                <a:srgbClr val="334155"/>
              </a:solidFill>
              <a:latin typeface="+mn-lt"/>
              <a:ea typeface="Lato"/>
              <a:cs typeface="Lato"/>
              <a:sym typeface="Lato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800" b="1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Υψηλή (α = 0.5)</a:t>
            </a: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800" b="1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Ακραία (α = 0.1)</a:t>
            </a:r>
            <a:endParaRPr lang="el-GR" sz="1800" dirty="0">
              <a:latin typeface="+mn-lt"/>
            </a:endParaRPr>
          </a:p>
        </p:txBody>
      </p:sp>
      <p:pic>
        <p:nvPicPr>
          <p:cNvPr id="26" name="Google Shape;258;p23" descr="image.png">
            <a:extLst>
              <a:ext uri="{FF2B5EF4-FFF2-40B4-BE49-F238E27FC236}">
                <a16:creationId xmlns:a16="http://schemas.microsoft.com/office/drawing/2014/main" id="{D72E2B99-3870-8EAB-D235-77DDE3AC4B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95806" y="1592818"/>
            <a:ext cx="4320941" cy="221881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906CBCB-6EA5-9E52-2483-371CAFA2ACED}"/>
              </a:ext>
            </a:extLst>
          </p:cNvPr>
          <p:cNvSpPr txBox="1"/>
          <p:nvPr/>
        </p:nvSpPr>
        <p:spPr>
          <a:xfrm>
            <a:off x="7356172" y="1718429"/>
            <a:ext cx="3203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i="0" u="none" strike="noStrike" cap="none" dirty="0">
                <a:solidFill>
                  <a:srgbClr val="0F172A"/>
                </a:solidFill>
                <a:latin typeface="+mn-lt"/>
                <a:ea typeface="Poppins"/>
                <a:cs typeface="Poppins"/>
                <a:sym typeface="Poppins"/>
              </a:rPr>
              <a:t>Ομοσπονδιακό Περιβάλλον</a:t>
            </a:r>
            <a:endParaRPr lang="el-GR" sz="1800" dirty="0">
              <a:latin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01CDDC-E1E4-AF46-E3E6-496EC04F2A85}"/>
              </a:ext>
            </a:extLst>
          </p:cNvPr>
          <p:cNvSpPr txBox="1"/>
          <p:nvPr/>
        </p:nvSpPr>
        <p:spPr>
          <a:xfrm>
            <a:off x="7095807" y="2075859"/>
            <a:ext cx="6096000" cy="1599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334155"/>
                </a:solidFill>
                <a:ea typeface="Lato"/>
                <a:cs typeface="Lato"/>
                <a:sym typeface="Lato"/>
              </a:rPr>
              <a:t>Cross-Silo </a:t>
            </a:r>
            <a:r>
              <a:rPr lang="el-GR" sz="1800" b="1" dirty="0">
                <a:solidFill>
                  <a:srgbClr val="334155"/>
                </a:solidFill>
                <a:ea typeface="Lato"/>
                <a:cs typeface="Lato"/>
                <a:sym typeface="Lato"/>
              </a:rPr>
              <a:t>Σενάριο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l-GR" sz="1800" b="1" dirty="0">
                <a:solidFill>
                  <a:srgbClr val="334155"/>
                </a:solidFill>
                <a:ea typeface="Lato"/>
                <a:cs typeface="Lato"/>
                <a:sym typeface="Lato"/>
              </a:rPr>
              <a:t>5 Κόμβοι-Πελάτες 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l-GR" sz="1800" b="1" dirty="0">
                <a:solidFill>
                  <a:srgbClr val="334155"/>
                </a:solidFill>
                <a:ea typeface="Lato"/>
                <a:cs typeface="Lato"/>
                <a:sym typeface="Lato"/>
              </a:rPr>
              <a:t>20 Γύροι Επικοινωνίας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rgbClr val="334155"/>
                </a:solidFill>
                <a:ea typeface="Lato"/>
                <a:cs typeface="Lato"/>
                <a:sym typeface="Lato"/>
              </a:rPr>
              <a:t>FedAvg</a:t>
            </a:r>
            <a:endParaRPr lang="el-GR" sz="1800" b="1" dirty="0">
              <a:solidFill>
                <a:srgbClr val="334155"/>
              </a:solidFill>
              <a:ea typeface="Lato"/>
              <a:cs typeface="Lato"/>
              <a:sym typeface="Lato"/>
            </a:endParaRPr>
          </a:p>
        </p:txBody>
      </p:sp>
      <p:pic>
        <p:nvPicPr>
          <p:cNvPr id="32" name="Google Shape;258;p23" descr="image.png">
            <a:extLst>
              <a:ext uri="{FF2B5EF4-FFF2-40B4-BE49-F238E27FC236}">
                <a16:creationId xmlns:a16="http://schemas.microsoft.com/office/drawing/2014/main" id="{C127DB1F-691C-3F6C-DD46-91577688B7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95806" y="4106158"/>
            <a:ext cx="4320941" cy="238078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FDEDA73-A8D4-D6C4-9BC5-AD5A72AD5FFA}"/>
              </a:ext>
            </a:extLst>
          </p:cNvPr>
          <p:cNvSpPr txBox="1"/>
          <p:nvPr/>
        </p:nvSpPr>
        <p:spPr>
          <a:xfrm>
            <a:off x="7225014" y="4214668"/>
            <a:ext cx="4062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dirty="0">
                <a:solidFill>
                  <a:srgbClr val="0F172A"/>
                </a:solidFill>
                <a:latin typeface="+mn-lt"/>
                <a:cs typeface="Poppins"/>
                <a:sym typeface="Poppins"/>
              </a:rPr>
              <a:t>Αρχιτεκτονική </a:t>
            </a:r>
            <a:r>
              <a:rPr lang="el-GR" sz="1800" b="1" dirty="0" err="1">
                <a:solidFill>
                  <a:srgbClr val="0F172A"/>
                </a:solidFill>
                <a:latin typeface="+mn-lt"/>
                <a:cs typeface="Poppins"/>
                <a:sym typeface="Poppins"/>
              </a:rPr>
              <a:t>Νευρωνικού</a:t>
            </a:r>
            <a:r>
              <a:rPr lang="el-GR" sz="1800" b="1" dirty="0">
                <a:solidFill>
                  <a:srgbClr val="0F172A"/>
                </a:solidFill>
                <a:latin typeface="+mn-lt"/>
                <a:cs typeface="Poppins"/>
                <a:sym typeface="Poppins"/>
              </a:rPr>
              <a:t> Δικτύου</a:t>
            </a:r>
            <a:endParaRPr lang="el-GR" sz="1800" dirty="0">
              <a:latin typeface="+mn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E929F6-3F6A-BD65-948F-88EE51A8F6A9}"/>
              </a:ext>
            </a:extLst>
          </p:cNvPr>
          <p:cNvSpPr txBox="1"/>
          <p:nvPr/>
        </p:nvSpPr>
        <p:spPr>
          <a:xfrm>
            <a:off x="7095806" y="4607980"/>
            <a:ext cx="4267933" cy="1599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rgbClr val="334155"/>
                </a:solidFill>
                <a:ea typeface="Lato"/>
                <a:cs typeface="Lato"/>
                <a:sym typeface="Lato"/>
              </a:rPr>
              <a:t>ReLU</a:t>
            </a:r>
            <a:r>
              <a:rPr lang="en-US" sz="1800" b="1" dirty="0">
                <a:solidFill>
                  <a:srgbClr val="334155"/>
                </a:solidFill>
                <a:ea typeface="Lato"/>
                <a:cs typeface="Lato"/>
                <a:sym typeface="Lato"/>
              </a:rPr>
              <a:t>, Batch Normalization, Dropout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rgbClr val="334155"/>
                </a:solidFill>
                <a:ea typeface="Lato"/>
                <a:cs typeface="Lato"/>
                <a:sym typeface="Lato"/>
              </a:rPr>
              <a:t>BCEWithLogitsLoss</a:t>
            </a:r>
            <a:r>
              <a:rPr lang="en-US" sz="1800" b="1" dirty="0">
                <a:solidFill>
                  <a:srgbClr val="334155"/>
                </a:solidFill>
                <a:ea typeface="Lato"/>
                <a:cs typeface="Lato"/>
                <a:sym typeface="Lato"/>
              </a:rPr>
              <a:t>, Adam</a:t>
            </a:r>
          </a:p>
          <a:p>
            <a:pPr marL="285750" lvl="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l-GR" sz="1800" b="1" dirty="0">
                <a:solidFill>
                  <a:srgbClr val="334155"/>
                </a:solidFill>
                <a:ea typeface="Lato"/>
                <a:cs typeface="Lato"/>
                <a:sym typeface="Lato"/>
              </a:rPr>
              <a:t>Αποθήκευση Βέλτιστου Μοντέλου</a:t>
            </a:r>
          </a:p>
        </p:txBody>
      </p:sp>
      <p:sp>
        <p:nvSpPr>
          <p:cNvPr id="37" name="Ορθογώνιο: Στρογγύλεμα γωνιών 36">
            <a:extLst>
              <a:ext uri="{FF2B5EF4-FFF2-40B4-BE49-F238E27FC236}">
                <a16:creationId xmlns:a16="http://schemas.microsoft.com/office/drawing/2014/main" id="{DD5E665C-539E-D0B7-EB7F-A47C5C3D1902}"/>
              </a:ext>
            </a:extLst>
          </p:cNvPr>
          <p:cNvSpPr/>
          <p:nvPr/>
        </p:nvSpPr>
        <p:spPr>
          <a:xfrm>
            <a:off x="11183937" y="6483497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 / 26</a:t>
            </a:r>
            <a:endParaRPr lang="el-G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Απ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οτελέσμ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ατα: Credit Card Fraud</a:t>
            </a:r>
            <a:r>
              <a:rPr lang="el-GR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Detection (1/2)</a:t>
            </a:r>
            <a:endParaRPr dirty="0">
              <a:latin typeface="+mj-lt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D2420229-8E2F-29EC-A280-87663E3E2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9" y="2036742"/>
            <a:ext cx="6842971" cy="35643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E9DE10-EFD3-7C21-1E00-BE844B516D76}"/>
              </a:ext>
            </a:extLst>
          </p:cNvPr>
          <p:cNvSpPr txBox="1"/>
          <p:nvPr/>
        </p:nvSpPr>
        <p:spPr>
          <a:xfrm>
            <a:off x="7706139" y="2036742"/>
            <a:ext cx="40551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/>
              <a:t>Ποικίλλει η συνεισφορά των Συνθετικών Δεδομένων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/>
              <a:t>Την καλύτερη επίδοση σημειώνει ο συνδυασμός </a:t>
            </a:r>
            <a:r>
              <a:rPr lang="en-US" sz="1800" dirty="0" err="1"/>
              <a:t>XGBoost</a:t>
            </a:r>
            <a:r>
              <a:rPr lang="en-US" sz="1800" dirty="0"/>
              <a:t> </a:t>
            </a:r>
            <a:r>
              <a:rPr lang="el-GR" sz="1800" dirty="0"/>
              <a:t>με Συνθετικά Δεδομένα παραγόμενα από </a:t>
            </a:r>
            <a:r>
              <a:rPr lang="en-US" sz="1800" dirty="0"/>
              <a:t>GAN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/>
              <a:t>Μέση Τιμή </a:t>
            </a:r>
            <a:r>
              <a:rPr lang="en-US" sz="1800" dirty="0"/>
              <a:t>F1-Score </a:t>
            </a:r>
            <a:r>
              <a:rPr lang="el-GR" sz="1800" dirty="0"/>
              <a:t>0,8662</a:t>
            </a:r>
          </a:p>
        </p:txBody>
      </p:sp>
      <p:sp>
        <p:nvSpPr>
          <p:cNvPr id="6" name="Ορθογώνιο: Στρογγύλεμα γωνιών 5">
            <a:extLst>
              <a:ext uri="{FF2B5EF4-FFF2-40B4-BE49-F238E27FC236}">
                <a16:creationId xmlns:a16="http://schemas.microsoft.com/office/drawing/2014/main" id="{7CD35731-C1E8-02AB-86D1-BDD87EDB924F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 / 26</a:t>
            </a:r>
            <a:endParaRPr lang="el-G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Απ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οτελέσμ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ατα: Credit Card Fraud Detection (2/2)</a:t>
            </a:r>
            <a:endParaRPr dirty="0">
              <a:latin typeface="+mj-lt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F57B1519-BF02-F3C7-FCAA-7FCF60A1C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177" y="1625755"/>
            <a:ext cx="7356757" cy="42351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F49360-BBE5-3C0B-0922-3F9854DE84E3}"/>
              </a:ext>
            </a:extLst>
          </p:cNvPr>
          <p:cNvSpPr txBox="1"/>
          <p:nvPr/>
        </p:nvSpPr>
        <p:spPr>
          <a:xfrm>
            <a:off x="8030817" y="1875183"/>
            <a:ext cx="34985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/>
              <a:t>Η Στατιστική Ετερογένεια ρίχνει την επίδοση του μοντέλου και παρουσιάζει υψηλά επίπεδα αστάθειας.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Client-Side SMOTE </a:t>
            </a:r>
            <a:r>
              <a:rPr lang="el-GR" sz="1800" dirty="0"/>
              <a:t>βοηθά, χωρίς να </a:t>
            </a:r>
            <a:r>
              <a:rPr lang="el-GR" sz="1800" dirty="0" err="1"/>
              <a:t>εξαλείφθει</a:t>
            </a:r>
            <a:r>
              <a:rPr lang="el-GR" sz="1800" dirty="0"/>
              <a:t> την αστάθεια σε υψηλή ετερογένεια.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Trans-Client SMOTE </a:t>
            </a:r>
            <a:r>
              <a:rPr lang="el-GR" sz="1800" dirty="0"/>
              <a:t>βέλτιστη μέθοδος, ακόμα και σε δύσκολα σενάρια.</a:t>
            </a:r>
          </a:p>
        </p:txBody>
      </p:sp>
      <p:sp>
        <p:nvSpPr>
          <p:cNvPr id="5" name="Ορθογώνιο: Στρογγύλεμα γωνιών 4">
            <a:extLst>
              <a:ext uri="{FF2B5EF4-FFF2-40B4-BE49-F238E27FC236}">
                <a16:creationId xmlns:a16="http://schemas.microsoft.com/office/drawing/2014/main" id="{45F30A41-31CC-7B45-7F70-4E9BEA53B9F4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 / 26</a:t>
            </a:r>
            <a:endParaRPr lang="el-G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7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Απ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οτελέσμ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ατα: NSL-KDD (1/2)</a:t>
            </a:r>
            <a:endParaRPr dirty="0">
              <a:latin typeface="+mj-lt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295C26C6-4A79-0446-0E76-D4CC3086B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65" y="1849040"/>
            <a:ext cx="7288696" cy="37885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598357-A9DC-13DE-4A68-5BD8B92BA08E}"/>
              </a:ext>
            </a:extLst>
          </p:cNvPr>
          <p:cNvSpPr txBox="1"/>
          <p:nvPr/>
        </p:nvSpPr>
        <p:spPr>
          <a:xfrm>
            <a:off x="8150087" y="2206487"/>
            <a:ext cx="34704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>
                <a:latin typeface="+mn-lt"/>
              </a:rPr>
              <a:t>Μεγαλύτερη σπανιότητα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>
                <a:latin typeface="+mn-lt"/>
              </a:rPr>
              <a:t>Μεγαλύτερη αστάθεια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8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1800" dirty="0">
                <a:latin typeface="+mn-lt"/>
              </a:rPr>
              <a:t>Συνθετικά Δεδομένα δεν συνεισφέρουν στην επίδοση</a:t>
            </a:r>
          </a:p>
        </p:txBody>
      </p:sp>
      <p:sp>
        <p:nvSpPr>
          <p:cNvPr id="5" name="Ορθογώνιο: Στρογγύλεμα γωνιών 4">
            <a:extLst>
              <a:ext uri="{FF2B5EF4-FFF2-40B4-BE49-F238E27FC236}">
                <a16:creationId xmlns:a16="http://schemas.microsoft.com/office/drawing/2014/main" id="{5395BB3B-EDDC-ABCD-99FD-D298B0A7A3FB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 / 26</a:t>
            </a:r>
            <a:endParaRPr lang="el-G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8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Απ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οτελέσμ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ατα: NSL-KDD (2/2)</a:t>
            </a:r>
            <a:endParaRPr dirty="0">
              <a:latin typeface="+mn-lt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6D10A7E9-DF4D-2CB3-A251-D05C1A1EB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485" y="1717637"/>
            <a:ext cx="6766176" cy="3889401"/>
          </a:xfrm>
          <a:prstGeom prst="rect">
            <a:avLst/>
          </a:prstGeom>
        </p:spPr>
      </p:pic>
      <p:pic>
        <p:nvPicPr>
          <p:cNvPr id="5" name="Google Shape;97;p14" descr="image.png">
            <a:extLst>
              <a:ext uri="{FF2B5EF4-FFF2-40B4-BE49-F238E27FC236}">
                <a16:creationId xmlns:a16="http://schemas.microsoft.com/office/drawing/2014/main" id="{EFFE80F2-2A7A-14F2-5676-2CA779F6423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01144" y="2372565"/>
            <a:ext cx="4019964" cy="23650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9F01D8-D94E-A772-DE7F-001BD1741EF1}"/>
              </a:ext>
            </a:extLst>
          </p:cNvPr>
          <p:cNvSpPr txBox="1"/>
          <p:nvPr/>
        </p:nvSpPr>
        <p:spPr>
          <a:xfrm>
            <a:off x="7673214" y="3398143"/>
            <a:ext cx="3675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b="1" dirty="0"/>
              <a:t>Υπεροχή της Αρχιτεκτονικής </a:t>
            </a:r>
            <a:r>
              <a:rPr lang="en-US" sz="2000" b="1" dirty="0"/>
              <a:t>Trans-Client SMOTE</a:t>
            </a:r>
            <a:endParaRPr lang="el-GR" sz="2000" b="1" dirty="0"/>
          </a:p>
        </p:txBody>
      </p:sp>
      <p:pic>
        <p:nvPicPr>
          <p:cNvPr id="7" name="Γραφικό 6" descr="Αναμμένα φώτα με συμπαγές γέμισμα">
            <a:extLst>
              <a:ext uri="{FF2B5EF4-FFF2-40B4-BE49-F238E27FC236}">
                <a16:creationId xmlns:a16="http://schemas.microsoft.com/office/drawing/2014/main" id="{B7745047-A917-1B5A-0136-A09A3A9CC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2861" y="2469386"/>
            <a:ext cx="636529" cy="636529"/>
          </a:xfrm>
          <a:prstGeom prst="rect">
            <a:avLst/>
          </a:prstGeom>
        </p:spPr>
      </p:pic>
      <p:sp>
        <p:nvSpPr>
          <p:cNvPr id="8" name="Ορθογώνιο: Στρογγύλεμα γωνιών 7">
            <a:extLst>
              <a:ext uri="{FF2B5EF4-FFF2-40B4-BE49-F238E27FC236}">
                <a16:creationId xmlns:a16="http://schemas.microsoft.com/office/drawing/2014/main" id="{7E149C3F-DD99-576A-3C21-90D4B9F69856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 / 26</a:t>
            </a:r>
            <a:endParaRPr lang="el-G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1307"/>
            <a:ext cx="3555950" cy="2329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361307"/>
            <a:ext cx="3555950" cy="2329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361307"/>
            <a:ext cx="3556099" cy="232975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9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Υπ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ολογιστικό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 &amp; Επ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ικοινωνι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ακό Κόστος</a:t>
            </a:r>
            <a:endParaRPr dirty="0">
              <a:latin typeface="+mn-lt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9"/>
          <p:cNvSpPr txBox="1"/>
          <p:nvPr/>
        </p:nvSpPr>
        <p:spPr>
          <a:xfrm>
            <a:off x="571500" y="4976812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Η επιβ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άρυνση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κρίνετ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αι 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αμελητέα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για Cross-Silo εφαρμογές.</a:t>
            </a:r>
            <a:endParaRPr dirty="0">
              <a:latin typeface="+mn-lt"/>
            </a:endParaRPr>
          </a:p>
        </p:txBody>
      </p:sp>
      <p:pic>
        <p:nvPicPr>
          <p:cNvPr id="380" name="Google Shape;380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1275" y="268515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9"/>
          <p:cNvSpPr txBox="1"/>
          <p:nvPr/>
        </p:nvSpPr>
        <p:spPr>
          <a:xfrm>
            <a:off x="782638" y="3351907"/>
            <a:ext cx="31336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+mn-lt"/>
                <a:ea typeface="Poppins"/>
                <a:cs typeface="Poppins"/>
                <a:sym typeface="Poppins"/>
              </a:rPr>
              <a:t>Μέγεθος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+mn-lt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+mn-lt"/>
                <a:ea typeface="Poppins"/>
                <a:cs typeface="Poppins"/>
                <a:sym typeface="Poppins"/>
              </a:rPr>
              <a:t>Μοντέλου</a:t>
            </a:r>
            <a:endParaRPr sz="1800" dirty="0">
              <a:latin typeface="+mn-lt"/>
            </a:endParaRPr>
          </a:p>
        </p:txBody>
      </p:sp>
      <p:sp>
        <p:nvSpPr>
          <p:cNvPr id="382" name="Google Shape;382;p29"/>
          <p:cNvSpPr txBox="1"/>
          <p:nvPr/>
        </p:nvSpPr>
        <p:spPr>
          <a:xfrm>
            <a:off x="857250" y="3856732"/>
            <a:ext cx="298445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0.02 - 0.03 MB</a:t>
            </a:r>
            <a:endParaRPr dirty="0">
              <a:latin typeface="+mn-lt"/>
            </a:endParaRPr>
          </a:p>
        </p:txBody>
      </p:sp>
      <p:pic>
        <p:nvPicPr>
          <p:cNvPr id="383" name="Google Shape;383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29151" y="2685157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9"/>
          <p:cNvSpPr txBox="1"/>
          <p:nvPr/>
        </p:nvSpPr>
        <p:spPr>
          <a:xfrm>
            <a:off x="4529089" y="3351907"/>
            <a:ext cx="31336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+mn-lt"/>
                <a:ea typeface="Poppins"/>
                <a:cs typeface="Poppins"/>
                <a:sym typeface="Poppins"/>
              </a:rPr>
              <a:t>Δικτυ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+mn-lt"/>
                <a:ea typeface="Poppins"/>
                <a:cs typeface="Poppins"/>
                <a:sym typeface="Poppins"/>
              </a:rPr>
              <a:t>ακή Κίνηση</a:t>
            </a:r>
            <a:endParaRPr sz="1800" dirty="0">
              <a:latin typeface="+mn-lt"/>
            </a:endParaRPr>
          </a:p>
        </p:txBody>
      </p:sp>
      <p:sp>
        <p:nvSpPr>
          <p:cNvPr id="385" name="Google Shape;385;p29"/>
          <p:cNvSpPr txBox="1"/>
          <p:nvPr/>
        </p:nvSpPr>
        <p:spPr>
          <a:xfrm>
            <a:off x="4603700" y="3856732"/>
            <a:ext cx="298445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3.81 - 5.96 MB (20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γύροι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)</a:t>
            </a:r>
            <a:endParaRPr dirty="0">
              <a:latin typeface="+mn-lt"/>
            </a:endParaRPr>
          </a:p>
        </p:txBody>
      </p:sp>
      <p:pic>
        <p:nvPicPr>
          <p:cNvPr id="386" name="Google Shape;386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4325" y="268515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8275535" y="3351907"/>
            <a:ext cx="31338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1" dirty="0">
                <a:latin typeface="+mn-lt"/>
              </a:rPr>
              <a:t>Χρονικό Κόστος</a:t>
            </a:r>
            <a:endParaRPr sz="1800" b="1" dirty="0">
              <a:latin typeface="+mn-lt"/>
            </a:endParaRPr>
          </a:p>
        </p:txBody>
      </p:sp>
      <p:sp>
        <p:nvSpPr>
          <p:cNvPr id="388" name="Google Shape;388;p29"/>
          <p:cNvSpPr txBox="1"/>
          <p:nvPr/>
        </p:nvSpPr>
        <p:spPr>
          <a:xfrm>
            <a:off x="8238228" y="3856732"/>
            <a:ext cx="3208442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~2.2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δευτερόλε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πτα (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Μέγιστο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)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endParaRPr lang="el-GR" sz="1800" b="1" i="0" u="none" strike="noStrike" cap="none" dirty="0">
              <a:solidFill>
                <a:srgbClr val="334155"/>
              </a:solidFill>
              <a:latin typeface="+mn-lt"/>
              <a:ea typeface="Lato"/>
              <a:cs typeface="Lato"/>
              <a:sym typeface="Lato"/>
            </a:endParaRPr>
          </a:p>
          <a:p>
            <a:pPr lvl="0" algn="ctr">
              <a:lnSpc>
                <a:spcPct val="140000"/>
              </a:lnSpc>
            </a:pP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0.24 δευτερόλεπτα (Ελάχιστο)</a:t>
            </a:r>
            <a:endParaRPr dirty="0">
              <a:latin typeface="+mn-lt"/>
            </a:endParaRPr>
          </a:p>
        </p:txBody>
      </p:sp>
      <p:sp>
        <p:nvSpPr>
          <p:cNvPr id="2" name="Ορθογώνιο: Στρογγύλεμα γωνιών 1">
            <a:extLst>
              <a:ext uri="{FF2B5EF4-FFF2-40B4-BE49-F238E27FC236}">
                <a16:creationId xmlns:a16="http://schemas.microsoft.com/office/drawing/2014/main" id="{8F3A5BEE-96F2-7897-8F4C-8191ACFD1B7A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 / 26</a:t>
            </a:r>
            <a:endParaRPr lang="el-G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0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Συμ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περάσματα</a:t>
            </a:r>
            <a:endParaRPr dirty="0">
              <a:latin typeface="+mn-lt"/>
            </a:endParaRPr>
          </a:p>
        </p:txBody>
      </p:sp>
      <p:sp>
        <p:nvSpPr>
          <p:cNvPr id="396" name="Google Shape;396;p30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0"/>
          <p:cNvSpPr txBox="1"/>
          <p:nvPr/>
        </p:nvSpPr>
        <p:spPr>
          <a:xfrm>
            <a:off x="1000124" y="2870073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dirty="0"/>
              <a:t>Ανισορροπία Κλάσεων + Στατιστική Ετερογένεια = Κατάρρευση Ομοσπονδιακών Συστημάτων</a:t>
            </a:r>
          </a:p>
        </p:txBody>
      </p:sp>
      <p:sp>
        <p:nvSpPr>
          <p:cNvPr id="398" name="Google Shape;398;p30"/>
          <p:cNvSpPr txBox="1"/>
          <p:nvPr/>
        </p:nvSpPr>
        <p:spPr>
          <a:xfrm>
            <a:off x="1000123" y="3386607"/>
            <a:ext cx="1062037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/>
              <a:t>FedSMOTE</a:t>
            </a:r>
            <a:r>
              <a:rPr lang="en-US" sz="1800" dirty="0"/>
              <a:t> = </a:t>
            </a:r>
            <a:r>
              <a:rPr lang="el-GR" sz="1800" dirty="0"/>
              <a:t>Ενσωμάτωση Συνθετικών Δεδομένων σε Ομοσπονδιακά Περιβάλλοντα με ουσιαστικό τρόπο</a:t>
            </a:r>
          </a:p>
        </p:txBody>
      </p:sp>
      <p:sp>
        <p:nvSpPr>
          <p:cNvPr id="399" name="Google Shape;399;p30"/>
          <p:cNvSpPr txBox="1"/>
          <p:nvPr/>
        </p:nvSpPr>
        <p:spPr>
          <a:xfrm>
            <a:off x="1000121" y="4282529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Trans-Client SMOTE </a:t>
            </a:r>
            <a:r>
              <a:rPr lang="el-GR" sz="1800" dirty="0"/>
              <a:t>εγγυάται τα Καλύτερα Αποτελέσματα, ακόμα και σε δύσκολα σενάρια</a:t>
            </a:r>
          </a:p>
        </p:txBody>
      </p:sp>
      <p:sp>
        <p:nvSpPr>
          <p:cNvPr id="400" name="Google Shape;400;p30"/>
          <p:cNvSpPr txBox="1"/>
          <p:nvPr/>
        </p:nvSpPr>
        <p:spPr>
          <a:xfrm>
            <a:off x="1000120" y="4800898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FHE + CKKS </a:t>
            </a:r>
            <a:r>
              <a:rPr lang="el-GR" sz="1800" dirty="0"/>
              <a:t>επιτρέπουν συνεργατική παραγωγή Συνθετικών Δεδομένων, χωρίς διαρροή πληροφορίας</a:t>
            </a:r>
          </a:p>
        </p:txBody>
      </p:sp>
      <p:pic>
        <p:nvPicPr>
          <p:cNvPr id="401" name="Google Shape;40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7001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8049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440248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8" y="4920853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Ορθογώνιο: Στρογγύλεμα γωνιών 1">
            <a:extLst>
              <a:ext uri="{FF2B5EF4-FFF2-40B4-BE49-F238E27FC236}">
                <a16:creationId xmlns:a16="http://schemas.microsoft.com/office/drawing/2014/main" id="{5F580AE5-749D-B6D2-D2EE-248A14ADFDB6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21 / 26</a:t>
            </a:r>
            <a:endParaRPr lang="el-G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1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Ανοιχτά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Ζητήμ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ατα</a:t>
            </a:r>
            <a:endParaRPr dirty="0">
              <a:latin typeface="+mn-lt"/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1"/>
          <p:cNvSpPr txBox="1"/>
          <p:nvPr/>
        </p:nvSpPr>
        <p:spPr>
          <a:xfrm>
            <a:off x="1000125" y="3131367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Τηλε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πικοινωνιακή επιβάρυνση σε 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μεγαλύτερα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μοντέλ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 dirty="0">
              <a:latin typeface="+mn-lt"/>
            </a:endParaRPr>
          </a:p>
        </p:txBody>
      </p:sp>
      <p:sp>
        <p:nvSpPr>
          <p:cNvPr id="414" name="Google Shape;414;p31"/>
          <p:cNvSpPr txBox="1"/>
          <p:nvPr/>
        </p:nvSpPr>
        <p:spPr>
          <a:xfrm>
            <a:off x="1000124" y="3641847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Περιορισμοί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του CKKS στη συνεχή τυχαία παρεμβολή.</a:t>
            </a:r>
            <a:endParaRPr dirty="0">
              <a:latin typeface="+mn-lt"/>
            </a:endParaRPr>
          </a:p>
        </p:txBody>
      </p:sp>
      <p:sp>
        <p:nvSpPr>
          <p:cNvPr id="415" name="Google Shape;415;p31"/>
          <p:cNvSpPr txBox="1"/>
          <p:nvPr/>
        </p:nvSpPr>
        <p:spPr>
          <a:xfrm>
            <a:off x="1000124" y="4152328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Προκλήσεις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σε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συσκευές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με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π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εριορισμένους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π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όρους</a:t>
            </a: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 dirty="0">
              <a:latin typeface="+mn-lt"/>
            </a:endParaRPr>
          </a:p>
        </p:txBody>
      </p:sp>
      <p:pic>
        <p:nvPicPr>
          <p:cNvPr id="416" name="Google Shape;41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2525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3573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46215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Ορθογώνιο: Στρογγύλεμα γωνιών 1">
            <a:extLst>
              <a:ext uri="{FF2B5EF4-FFF2-40B4-BE49-F238E27FC236}">
                <a16:creationId xmlns:a16="http://schemas.microsoft.com/office/drawing/2014/main" id="{29E37F0D-E439-88B5-CBF2-560923F3F2E0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22 / 26</a:t>
            </a:r>
            <a:endParaRPr lang="el-G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2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Μελλοντικές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 Επ</a:t>
            </a:r>
            <a:r>
              <a:rPr lang="en-US" sz="3300" b="1" i="0" u="none" strike="noStrike" cap="none" dirty="0" err="1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εκτάσεις</a:t>
            </a:r>
            <a:endParaRPr dirty="0">
              <a:latin typeface="+mn-lt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2"/>
          <p:cNvSpPr txBox="1"/>
          <p:nvPr/>
        </p:nvSpPr>
        <p:spPr>
          <a:xfrm>
            <a:off x="1000125" y="2876127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Ενσωμάτωση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Borderline-SMOTE</a:t>
            </a:r>
            <a:r>
              <a:rPr lang="el-GR" sz="180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και </a:t>
            </a:r>
            <a:r>
              <a:rPr lang="en-US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ADASYN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εξολοκλήρου σε κρυπτογραφημένο χώρο.</a:t>
            </a:r>
            <a:endParaRPr dirty="0">
              <a:latin typeface="+mn-lt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1000124" y="3420516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Υβ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ριδικά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μοντέλ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 ασφαλείας (FHE + Differential Privacy).</a:t>
            </a:r>
            <a:endParaRPr dirty="0">
              <a:latin typeface="+mn-lt"/>
            </a:endParaRPr>
          </a:p>
        </p:txBody>
      </p:sp>
      <p:sp>
        <p:nvSpPr>
          <p:cNvPr id="429" name="Google Shape;429;p32"/>
          <p:cNvSpPr txBox="1"/>
          <p:nvPr/>
        </p:nvSpPr>
        <p:spPr>
          <a:xfrm>
            <a:off x="1000124" y="3897088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Ασύγχρονη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Ομοσ</a:t>
            </a:r>
            <a:r>
              <a:rPr lang="en-US" sz="180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πονδιακή Μάθηση.</a:t>
            </a:r>
            <a:endParaRPr dirty="0">
              <a:latin typeface="+mn-lt"/>
            </a:endParaRPr>
          </a:p>
        </p:txBody>
      </p:sp>
      <p:sp>
        <p:nvSpPr>
          <p:cNvPr id="430" name="Google Shape;430;p32"/>
          <p:cNvSpPr txBox="1"/>
          <p:nvPr/>
        </p:nvSpPr>
        <p:spPr>
          <a:xfrm>
            <a:off x="1000124" y="4407568"/>
            <a:ext cx="1062037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Επ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ιτάχυνση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υλικο</a:t>
            </a:r>
            <a:r>
              <a:rPr lang="el-GR" sz="180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ύ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  <a:endParaRPr dirty="0">
              <a:latin typeface="+mn-lt"/>
            </a:endParaRPr>
          </a:p>
        </p:txBody>
      </p:sp>
      <p:pic>
        <p:nvPicPr>
          <p:cNvPr id="431" name="Google Shape;43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7001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8049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9097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01455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Ορθογώνιο: Στρογγύλεμα γωνιών 1">
            <a:extLst>
              <a:ext uri="{FF2B5EF4-FFF2-40B4-BE49-F238E27FC236}">
                <a16:creationId xmlns:a16="http://schemas.microsoft.com/office/drawing/2014/main" id="{4D0B9DEC-6D4C-C17D-B983-F07B316607F0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23 / 26</a:t>
            </a:r>
            <a:endParaRPr lang="el-G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3"/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Βι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βλιογραφία</a:t>
            </a:r>
            <a:endParaRPr dirty="0">
              <a:latin typeface="+mn-lt"/>
            </a:endParaRPr>
          </a:p>
        </p:txBody>
      </p:sp>
      <p:sp>
        <p:nvSpPr>
          <p:cNvPr id="442" name="Google Shape;442;p33"/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3"/>
          <p:cNvSpPr txBox="1"/>
          <p:nvPr/>
        </p:nvSpPr>
        <p:spPr>
          <a:xfrm>
            <a:off x="1000125" y="3079724"/>
            <a:ext cx="10620375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[18] McMahan et al., "Communication-Efficient Learning of Deep Networks from Decentralized Data", PMLR, 2017.</a:t>
            </a:r>
            <a:endParaRPr dirty="0">
              <a:latin typeface="+mn-lt"/>
            </a:endParaRPr>
          </a:p>
        </p:txBody>
      </p:sp>
      <p:sp>
        <p:nvSpPr>
          <p:cNvPr id="444" name="Google Shape;444;p33"/>
          <p:cNvSpPr txBox="1"/>
          <p:nvPr/>
        </p:nvSpPr>
        <p:spPr>
          <a:xfrm>
            <a:off x="1000125" y="3510899"/>
            <a:ext cx="10620375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[22] Chawla et al., "SMOTE: Synthetic Minority Over-sampling Technique", JAIR, 2002.</a:t>
            </a:r>
            <a:endParaRPr dirty="0">
              <a:latin typeface="+mn-lt"/>
            </a:endParaRPr>
          </a:p>
        </p:txBody>
      </p:sp>
      <p:sp>
        <p:nvSpPr>
          <p:cNvPr id="445" name="Google Shape;445;p33"/>
          <p:cNvSpPr txBox="1"/>
          <p:nvPr/>
        </p:nvSpPr>
        <p:spPr>
          <a:xfrm>
            <a:off x="1000125" y="3939271"/>
            <a:ext cx="10620375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[54] Gentry, "Fully Homomorphic Encryption using Ideal Lattices", STOC, 2009.</a:t>
            </a:r>
            <a:endParaRPr dirty="0">
              <a:latin typeface="+mn-lt"/>
            </a:endParaRPr>
          </a:p>
        </p:txBody>
      </p:sp>
      <p:sp>
        <p:nvSpPr>
          <p:cNvPr id="446" name="Google Shape;446;p33"/>
          <p:cNvSpPr txBox="1"/>
          <p:nvPr/>
        </p:nvSpPr>
        <p:spPr>
          <a:xfrm>
            <a:off x="1000125" y="4370446"/>
            <a:ext cx="10620375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[56] Cheon et al., "Homomorphic Encryption for Arithmetic of Approximate Numbers", ASIACRYPT, 2017.</a:t>
            </a:r>
            <a:endParaRPr dirty="0">
              <a:latin typeface="+mn-lt"/>
            </a:endParaRPr>
          </a:p>
        </p:txBody>
      </p:sp>
      <p:pic>
        <p:nvPicPr>
          <p:cNvPr id="447" name="Google Shape;447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0153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6056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9097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2138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450;p33" descr="image.png">
            <a:extLst>
              <a:ext uri="{FF2B5EF4-FFF2-40B4-BE49-F238E27FC236}">
                <a16:creationId xmlns:a16="http://schemas.microsoft.com/office/drawing/2014/main" id="{09D7200A-18DA-DDE6-B33C-CBC11889329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3645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450;p33" descr="image.png">
            <a:extLst>
              <a:ext uri="{FF2B5EF4-FFF2-40B4-BE49-F238E27FC236}">
                <a16:creationId xmlns:a16="http://schemas.microsoft.com/office/drawing/2014/main" id="{047BB88E-9688-8E00-2833-0FF61E7E34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251523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122BC7-CE7B-CA0D-6CF1-1E9D407692DC}"/>
              </a:ext>
            </a:extLst>
          </p:cNvPr>
          <p:cNvSpPr txBox="1"/>
          <p:nvPr/>
        </p:nvSpPr>
        <p:spPr>
          <a:xfrm>
            <a:off x="914400" y="4782066"/>
            <a:ext cx="7715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350" dirty="0">
                <a:solidFill>
                  <a:srgbClr val="334155"/>
                </a:solidFill>
              </a:rPr>
              <a:t>[21]</a:t>
            </a:r>
            <a:r>
              <a:rPr lang="en-US" sz="1350" dirty="0">
                <a:solidFill>
                  <a:srgbClr val="334155"/>
                </a:solidFill>
              </a:rPr>
              <a:t> Wang et al., </a:t>
            </a:r>
            <a:r>
              <a:rPr lang="en-US" sz="1350" dirty="0">
                <a:solidFill>
                  <a:srgbClr val="334155"/>
                </a:solidFill>
                <a:ea typeface="Lato"/>
                <a:cs typeface="Lato"/>
                <a:sym typeface="Lato"/>
              </a:rPr>
              <a:t>“Addressing class imbalance in federated learning", AAAI, 2021.</a:t>
            </a:r>
            <a:r>
              <a:rPr lang="en-US" sz="1350" dirty="0">
                <a:solidFill>
                  <a:srgbClr val="334155"/>
                </a:solidFill>
              </a:rPr>
              <a:t> </a:t>
            </a:r>
            <a:endParaRPr lang="el-GR" sz="1350" dirty="0">
              <a:solidFill>
                <a:srgbClr val="33415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4A594-8EF8-207D-0862-163523AE0369}"/>
              </a:ext>
            </a:extLst>
          </p:cNvPr>
          <p:cNvSpPr txBox="1"/>
          <p:nvPr/>
        </p:nvSpPr>
        <p:spPr>
          <a:xfrm>
            <a:off x="914400" y="5197646"/>
            <a:ext cx="808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rgbClr val="334155"/>
                </a:solidFill>
              </a:rPr>
              <a:t>[46] </a:t>
            </a:r>
            <a:r>
              <a:rPr lang="en-US" sz="1350" dirty="0" err="1">
                <a:solidFill>
                  <a:srgbClr val="334155"/>
                </a:solidFill>
              </a:rPr>
              <a:t>Japkowicz</a:t>
            </a:r>
            <a:r>
              <a:rPr lang="en-US" sz="1350" dirty="0">
                <a:solidFill>
                  <a:srgbClr val="334155"/>
                </a:solidFill>
              </a:rPr>
              <a:t>, Stephen, </a:t>
            </a:r>
            <a:r>
              <a:rPr lang="en-US" sz="1350" dirty="0">
                <a:solidFill>
                  <a:srgbClr val="334155"/>
                </a:solidFill>
                <a:ea typeface="Lato"/>
                <a:cs typeface="Lato"/>
                <a:sym typeface="Lato"/>
              </a:rPr>
              <a:t>“The class imbalance problem: A systematic study", IDA, 2002. </a:t>
            </a:r>
            <a:endParaRPr lang="el-GR" sz="1350" dirty="0"/>
          </a:p>
        </p:txBody>
      </p:sp>
      <p:sp>
        <p:nvSpPr>
          <p:cNvPr id="8" name="Ορθογώνιο: Στρογγύλεμα γωνιών 7">
            <a:extLst>
              <a:ext uri="{FF2B5EF4-FFF2-40B4-BE49-F238E27FC236}">
                <a16:creationId xmlns:a16="http://schemas.microsoft.com/office/drawing/2014/main" id="{B0A94880-52AE-E698-4476-F065EF881196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24 / 26</a:t>
            </a:r>
            <a:endParaRPr lang="el-G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9AE06368-ED99-FE7F-A8F0-D500FDD0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3" descr="image.png">
            <a:extLst>
              <a:ext uri="{FF2B5EF4-FFF2-40B4-BE49-F238E27FC236}">
                <a16:creationId xmlns:a16="http://schemas.microsoft.com/office/drawing/2014/main" id="{BDF230B9-E288-D22D-1062-39BE3319BE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3">
            <a:extLst>
              <a:ext uri="{FF2B5EF4-FFF2-40B4-BE49-F238E27FC236}">
                <a16:creationId xmlns:a16="http://schemas.microsoft.com/office/drawing/2014/main" id="{D9CFADC3-7219-FC7A-D70B-E2B5A39FEE70}"/>
              </a:ext>
            </a:extLst>
          </p:cNvPr>
          <p:cNvSpPr txBox="1"/>
          <p:nvPr/>
        </p:nvSpPr>
        <p:spPr>
          <a:xfrm>
            <a:off x="571500" y="47625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Βι</a:t>
            </a:r>
            <a:r>
              <a:rPr lang="en-US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βλιογραφία </a:t>
            </a:r>
            <a:r>
              <a:rPr lang="el-GR" sz="3300" b="1" i="0" u="none" strike="noStrike" cap="none" dirty="0">
                <a:solidFill>
                  <a:srgbClr val="005088"/>
                </a:solidFill>
                <a:latin typeface="+mn-lt"/>
                <a:ea typeface="Poppins"/>
                <a:cs typeface="Poppins"/>
                <a:sym typeface="Poppins"/>
              </a:rPr>
              <a:t>Εικόνων</a:t>
            </a:r>
            <a:endParaRPr dirty="0">
              <a:latin typeface="+mn-lt"/>
            </a:endParaRPr>
          </a:p>
        </p:txBody>
      </p:sp>
      <p:sp>
        <p:nvSpPr>
          <p:cNvPr id="442" name="Google Shape;442;p33">
            <a:extLst>
              <a:ext uri="{FF2B5EF4-FFF2-40B4-BE49-F238E27FC236}">
                <a16:creationId xmlns:a16="http://schemas.microsoft.com/office/drawing/2014/main" id="{EC276344-A377-A122-47A1-F7F65FE7297D}"/>
              </a:ext>
            </a:extLst>
          </p:cNvPr>
          <p:cNvSpPr/>
          <p:nvPr/>
        </p:nvSpPr>
        <p:spPr>
          <a:xfrm>
            <a:off x="571500" y="1190625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3">
            <a:extLst>
              <a:ext uri="{FF2B5EF4-FFF2-40B4-BE49-F238E27FC236}">
                <a16:creationId xmlns:a16="http://schemas.microsoft.com/office/drawing/2014/main" id="{4987165D-26BD-ABBE-1EC2-D144B5CBA748}"/>
              </a:ext>
            </a:extLst>
          </p:cNvPr>
          <p:cNvSpPr txBox="1"/>
          <p:nvPr/>
        </p:nvSpPr>
        <p:spPr>
          <a:xfrm>
            <a:off x="1000125" y="3079724"/>
            <a:ext cx="10620375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25"/>
              </a:lnSpc>
            </a:pPr>
            <a:r>
              <a:rPr lang="el-GR" sz="135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Ομοσπονδιακή Μάθηση - </a:t>
            </a:r>
            <a:r>
              <a:rPr lang="en-US" sz="135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https://blogs.nvidia.com/blog/what-is-federated-learning/</a:t>
            </a:r>
            <a:endParaRPr dirty="0">
              <a:latin typeface="+mn-lt"/>
            </a:endParaRPr>
          </a:p>
        </p:txBody>
      </p:sp>
      <p:sp>
        <p:nvSpPr>
          <p:cNvPr id="444" name="Google Shape;444;p33">
            <a:extLst>
              <a:ext uri="{FF2B5EF4-FFF2-40B4-BE49-F238E27FC236}">
                <a16:creationId xmlns:a16="http://schemas.microsoft.com/office/drawing/2014/main" id="{127BB4E9-6B95-3EDC-993A-AD7ABF6F67D4}"/>
              </a:ext>
            </a:extLst>
          </p:cNvPr>
          <p:cNvSpPr txBox="1"/>
          <p:nvPr/>
        </p:nvSpPr>
        <p:spPr>
          <a:xfrm>
            <a:off x="1000125" y="3510899"/>
            <a:ext cx="10620375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25"/>
              </a:lnSpc>
            </a:pPr>
            <a:r>
              <a:rPr lang="el-GR" sz="135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Αλγόριθμος </a:t>
            </a:r>
            <a:r>
              <a:rPr lang="en-US" sz="135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SMOTE - https://www.analyticsvidhya.com/blog/2020/10/overcoming-class-imbalance-using-smote-techniques/</a:t>
            </a:r>
            <a:endParaRPr dirty="0">
              <a:latin typeface="+mn-lt"/>
            </a:endParaRPr>
          </a:p>
        </p:txBody>
      </p:sp>
      <p:sp>
        <p:nvSpPr>
          <p:cNvPr id="445" name="Google Shape;445;p33">
            <a:extLst>
              <a:ext uri="{FF2B5EF4-FFF2-40B4-BE49-F238E27FC236}">
                <a16:creationId xmlns:a16="http://schemas.microsoft.com/office/drawing/2014/main" id="{2BC1A95E-C534-02B7-C5A0-6646A3326FD2}"/>
              </a:ext>
            </a:extLst>
          </p:cNvPr>
          <p:cNvSpPr txBox="1"/>
          <p:nvPr/>
        </p:nvSpPr>
        <p:spPr>
          <a:xfrm>
            <a:off x="1000125" y="3939271"/>
            <a:ext cx="10620375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25"/>
              </a:lnSpc>
            </a:pPr>
            <a:r>
              <a:rPr lang="el-GR" sz="135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Πλήρως </a:t>
            </a:r>
            <a:r>
              <a:rPr lang="el-GR" sz="1350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Ομομορφική</a:t>
            </a:r>
            <a:r>
              <a:rPr lang="el-GR" sz="135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Κρυπτογράφηση (</a:t>
            </a:r>
            <a:r>
              <a:rPr lang="en-US" sz="135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FHE) -</a:t>
            </a:r>
            <a:r>
              <a:rPr lang="el-GR" sz="135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135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https://www.linkedin.com/pulse/what-fully-homomorphic-encryption-gregory-boland-wi3ue/ </a:t>
            </a:r>
            <a:endParaRPr dirty="0">
              <a:latin typeface="+mn-lt"/>
            </a:endParaRPr>
          </a:p>
        </p:txBody>
      </p:sp>
      <p:sp>
        <p:nvSpPr>
          <p:cNvPr id="446" name="Google Shape;446;p33">
            <a:extLst>
              <a:ext uri="{FF2B5EF4-FFF2-40B4-BE49-F238E27FC236}">
                <a16:creationId xmlns:a16="http://schemas.microsoft.com/office/drawing/2014/main" id="{9BEA51BD-577B-A45C-60BF-6CEBF18ADCFD}"/>
              </a:ext>
            </a:extLst>
          </p:cNvPr>
          <p:cNvSpPr txBox="1"/>
          <p:nvPr/>
        </p:nvSpPr>
        <p:spPr>
          <a:xfrm>
            <a:off x="1000125" y="4370446"/>
            <a:ext cx="10620375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350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Όλες οι υπόλοιπες εικόνες και διαγράμματα αποτελούν προϊόν προσωπικής εργασίας ή/και προκύπτουν από την πειραματική διαδικασία.</a:t>
            </a:r>
            <a:endParaRPr dirty="0">
              <a:latin typeface="+mn-lt"/>
            </a:endParaRPr>
          </a:p>
        </p:txBody>
      </p:sp>
      <p:pic>
        <p:nvPicPr>
          <p:cNvPr id="447" name="Google Shape;447;p33" descr="image.png">
            <a:extLst>
              <a:ext uri="{FF2B5EF4-FFF2-40B4-BE49-F238E27FC236}">
                <a16:creationId xmlns:a16="http://schemas.microsoft.com/office/drawing/2014/main" id="{2CC0254E-226D-AB78-30AB-734F17918B6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0153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3" descr="image.png">
            <a:extLst>
              <a:ext uri="{FF2B5EF4-FFF2-40B4-BE49-F238E27FC236}">
                <a16:creationId xmlns:a16="http://schemas.microsoft.com/office/drawing/2014/main" id="{75A52B63-EFF0-26F6-6FDB-0C7D133262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6056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3" descr="image.png">
            <a:extLst>
              <a:ext uri="{FF2B5EF4-FFF2-40B4-BE49-F238E27FC236}">
                <a16:creationId xmlns:a16="http://schemas.microsoft.com/office/drawing/2014/main" id="{CA715435-B6E8-E49A-9E25-8DA73718F8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9097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33" descr="image.png">
            <a:extLst>
              <a:ext uri="{FF2B5EF4-FFF2-40B4-BE49-F238E27FC236}">
                <a16:creationId xmlns:a16="http://schemas.microsoft.com/office/drawing/2014/main" id="{5E6D91F5-9889-C2D8-E6DA-E98A64664E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21385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9A510D-5253-17E8-4306-A4F966D07B54}"/>
              </a:ext>
            </a:extLst>
          </p:cNvPr>
          <p:cNvSpPr txBox="1"/>
          <p:nvPr/>
        </p:nvSpPr>
        <p:spPr>
          <a:xfrm>
            <a:off x="914400" y="4782066"/>
            <a:ext cx="7715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l-GR" sz="1350" dirty="0">
              <a:solidFill>
                <a:srgbClr val="33415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2EED9-35DB-5782-3B26-292645555E8B}"/>
              </a:ext>
            </a:extLst>
          </p:cNvPr>
          <p:cNvSpPr txBox="1"/>
          <p:nvPr/>
        </p:nvSpPr>
        <p:spPr>
          <a:xfrm>
            <a:off x="914400" y="5197646"/>
            <a:ext cx="808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l-GR" sz="1350" dirty="0"/>
          </a:p>
        </p:txBody>
      </p:sp>
      <p:sp>
        <p:nvSpPr>
          <p:cNvPr id="8" name="Ορθογώνιο: Στρογγύλεμα γωνιών 7">
            <a:extLst>
              <a:ext uri="{FF2B5EF4-FFF2-40B4-BE49-F238E27FC236}">
                <a16:creationId xmlns:a16="http://schemas.microsoft.com/office/drawing/2014/main" id="{762E1D8D-2B11-4E5E-7DCC-13E96F291C76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 / 26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933104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4"/>
          <p:cNvSpPr txBox="1"/>
          <p:nvPr/>
        </p:nvSpPr>
        <p:spPr>
          <a:xfrm>
            <a:off x="295275" y="1095375"/>
            <a:ext cx="1160145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 err="1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Ευχ</a:t>
            </a:r>
            <a:r>
              <a:rPr lang="en-US" sz="5250" b="1" i="0" u="none" strike="noStrike" cap="none" dirty="0">
                <a:solidFill>
                  <a:srgbClr val="005088"/>
                </a:solidFill>
                <a:latin typeface="+mj-lt"/>
                <a:ea typeface="Poppins"/>
                <a:cs typeface="Poppins"/>
                <a:sym typeface="Poppins"/>
              </a:rPr>
              <a:t>αριστώ πολύ για την προσοχή σας!</a:t>
            </a:r>
            <a:endParaRPr dirty="0">
              <a:latin typeface="+mj-lt"/>
            </a:endParaRPr>
          </a:p>
        </p:txBody>
      </p:sp>
      <p:sp>
        <p:nvSpPr>
          <p:cNvPr id="458" name="Google Shape;458;p34"/>
          <p:cNvSpPr txBox="1"/>
          <p:nvPr/>
        </p:nvSpPr>
        <p:spPr>
          <a:xfrm>
            <a:off x="571500" y="3495675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Ερωτήσεις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;</a:t>
            </a:r>
            <a:endParaRPr dirty="0">
              <a:latin typeface="+mn-lt"/>
            </a:endParaRPr>
          </a:p>
        </p:txBody>
      </p:sp>
      <p:sp>
        <p:nvSpPr>
          <p:cNvPr id="459" name="Google Shape;459;p34"/>
          <p:cNvSpPr txBox="1"/>
          <p:nvPr/>
        </p:nvSpPr>
        <p:spPr>
          <a:xfrm>
            <a:off x="571500" y="4893915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Ραφα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ήλ-Ανέστης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Κωνστ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αντίνου</a:t>
            </a:r>
            <a:endParaRPr sz="2400" dirty="0">
              <a:latin typeface="+mn-lt"/>
            </a:endParaRPr>
          </a:p>
        </p:txBody>
      </p:sp>
      <p:sp>
        <p:nvSpPr>
          <p:cNvPr id="460" name="Google Shape;460;p34"/>
          <p:cNvSpPr txBox="1"/>
          <p:nvPr/>
        </p:nvSpPr>
        <p:spPr>
          <a:xfrm>
            <a:off x="571500" y="5593902"/>
            <a:ext cx="11049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Τμήμ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α Ηλεκτρολόγων Μηχανικών &amp; Μηχανικών Υπολογιστών Δ.Π.Θ.</a:t>
            </a:r>
            <a:endParaRPr sz="2000" dirty="0">
              <a:latin typeface="+mn-lt"/>
            </a:endParaRPr>
          </a:p>
        </p:txBody>
      </p:sp>
      <p:sp>
        <p:nvSpPr>
          <p:cNvPr id="2" name="Ορθογώνιο: Στρογγύλεμα γωνιών 1">
            <a:extLst>
              <a:ext uri="{FF2B5EF4-FFF2-40B4-BE49-F238E27FC236}">
                <a16:creationId xmlns:a16="http://schemas.microsoft.com/office/drawing/2014/main" id="{281D63FE-5B11-F25D-2678-5929EF7C399C}"/>
              </a:ext>
            </a:extLst>
          </p:cNvPr>
          <p:cNvSpPr/>
          <p:nvPr/>
        </p:nvSpPr>
        <p:spPr>
          <a:xfrm>
            <a:off x="11144250" y="6381750"/>
            <a:ext cx="873125" cy="25766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26 / 26</a:t>
            </a:r>
            <a:endParaRPr lang="el-G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1566</TotalTime>
  <Words>1031</Words>
  <Application>Microsoft Office PowerPoint</Application>
  <PresentationFormat>Ευρεία οθόνη</PresentationFormat>
  <Paragraphs>178</Paragraphs>
  <Slides>26</Slides>
  <Notes>26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26</vt:i4>
      </vt:variant>
    </vt:vector>
  </HeadingPairs>
  <TitlesOfParts>
    <vt:vector size="31" baseType="lpstr">
      <vt:lpstr>Arial</vt:lpstr>
      <vt:lpstr>Lato</vt:lpstr>
      <vt:lpstr>Calibri</vt:lpstr>
      <vt:lpstr>Poppins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raf</dc:creator>
  <cp:lastModifiedBy>ΗΛΙΑΣ ΚΩΝΣΤΑΝΤΙΝΟΥ</cp:lastModifiedBy>
  <cp:revision>6</cp:revision>
  <dcterms:modified xsi:type="dcterms:W3CDTF">2026-07-14T14:19:43Z</dcterms:modified>
</cp:coreProperties>
</file>